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pa.go.jp/bureau/cyber/pdf/R080312_access.pdf" TargetMode="External"/><Relationship Id="rId2" Type="http://schemas.openxmlformats.org/officeDocument/2006/relationships/hyperlink" Target="https://www.asahigroup-holdings.com/newsroom/detail/20260218-0101.html" TargetMode="External"/><Relationship Id="rId3" Type="http://schemas.openxmlformats.org/officeDocument/2006/relationships/hyperlink" Target="https://www.gh.opho.jp/incident/1.html" TargetMode="External"/><Relationship Id="rId4" Type="http://schemas.openxmlformats.org/officeDocument/2006/relationships/hyperlink" Target="https://www.mlit.go.jp/kowan/content/001879954.pdf" TargetMode="External"/><Relationship Id="rId5" Type="http://schemas.openxmlformats.org/officeDocument/2006/relationships/hyperlink" Target="https://www.ipa.go.jp/security/10threats/index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B3746"/>
          </a:solidFill>
          <a:ln w="12700">
            <a:solidFill>
              <a:srgbClr val="CB37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949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DBB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EXECUTIVE BRIEFING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1389888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サイバー攻撃は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「ITの問題」ではなく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「事業継続の問題」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86384" y="4818888"/>
            <a:ext cx="10003536" cy="0"/>
          </a:xfrm>
          <a:prstGeom prst="line">
            <a:avLst/>
          </a:prstGeom>
          <a:noFill/>
          <a:ln w="19050">
            <a:solidFill>
              <a:srgbClr val="6C8FAC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786384" y="506577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4E2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国内インシデントの教訓と、経営として備えるべき対策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6163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FC6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2026年10月｜経営層向け提言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THREAT TREND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不正アクセスの認知件数は、5年で約4.7倍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出典：警察庁「不正アクセス行為の発生状況」2026年3月12日、図1-1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4772222"/>
            <a:ext cx="1243584" cy="577018"/>
          </a:xfrm>
          <a:prstGeom prst="rect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34245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1,516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5486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89504" y="4511878"/>
            <a:ext cx="1243584" cy="837362"/>
          </a:xfrm>
          <a:prstGeom prst="rect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408211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2,200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9504" y="5486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18888" y="2946773"/>
            <a:ext cx="1243584" cy="2402467"/>
          </a:xfrm>
          <a:prstGeom prst="rect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517005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6,312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18888" y="5486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48272" y="3309883"/>
            <a:ext cx="1243584" cy="2039357"/>
          </a:xfrm>
          <a:prstGeom prst="rect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880115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5,358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48272" y="5486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77656" y="2612589"/>
            <a:ext cx="1243584" cy="2736651"/>
          </a:xfrm>
          <a:prstGeom prst="rect">
            <a:avLst/>
          </a:prstGeom>
          <a:solidFill>
            <a:srgbClr val="CB3746"/>
          </a:solidFill>
          <a:ln w="12700">
            <a:solidFill>
              <a:srgbClr val="CB374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77656" y="2182821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7,190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77656" y="5486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20848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約4.7倍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144000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 → 2025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3685032"/>
            <a:ext cx="2487168" cy="1033272"/>
          </a:xfrm>
          <a:prstGeom prst="roundRect">
            <a:avLst>
              <a:gd name="adj" fmla="val 1592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2872" y="382219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2025年は前年から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+34.2%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" y="605332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※警察が認知した不正アクセス行為の件数。全インシデントの総数ではない。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サイバー被害は、複数の経営機能を同時に止める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出典：企業公表資料・国土交通省公表資料（詳細は出典一覧）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176272"/>
            <a:ext cx="3127248" cy="603504"/>
          </a:xfrm>
          <a:prstGeom prst="roundRect">
            <a:avLst>
              <a:gd name="adj" fmla="val 27273"/>
            </a:avLst>
          </a:prstGeom>
          <a:solidFill>
            <a:srgbClr val="E6F1FC"/>
          </a:solidFill>
          <a:ln w="12700">
            <a:solidFill>
              <a:srgbClr val="E6F1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494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受注・出荷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029968" y="2971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売上機会の損失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50976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 → 出荷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8848" y="1901952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176272"/>
            <a:ext cx="3127248" cy="603504"/>
          </a:xfrm>
          <a:prstGeom prst="roundRect">
            <a:avLst>
              <a:gd name="adj" fmla="val 27273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22494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製造・診療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888736" y="2971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27448" y="39319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サービス停止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09744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基幹業務 → 停止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57616" y="1901952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67928" y="2176272"/>
            <a:ext cx="3127248" cy="603504"/>
          </a:xfrm>
          <a:prstGeom prst="roundRect">
            <a:avLst>
              <a:gd name="adj" fmla="val 27273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2494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顧客情報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747504" y="2971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586216" y="39319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信用・説明責任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68512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侵害 → 調査・公表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単一の侵入が、収益・サービス提供・信頼に波及する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DOMESTIC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アサヒグループ：侵入が受注・出荷を長期に制約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出典：アサヒグループHD 2026年2月18日発表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2788920" cy="36576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105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2025年9月29日 発生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318211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76148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ネットワーク侵入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1832" y="341071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ネットワーク機器を経由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32504" y="3163824"/>
            <a:ext cx="438912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97096" y="2514600"/>
            <a:ext cx="318211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76148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ランサム攻撃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61688" y="341071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システムを暗号化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52360" y="3163824"/>
            <a:ext cx="438912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16952" y="2514600"/>
            <a:ext cx="318211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1544" y="276148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業務に波及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81544" y="341071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受注・出荷を手作業で対応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828032"/>
            <a:ext cx="9966960" cy="758952"/>
          </a:xfrm>
          <a:prstGeom prst="roundRect">
            <a:avLst>
              <a:gd name="adj" fmla="val 21687"/>
            </a:avLst>
          </a:prstGeom>
          <a:solidFill>
            <a:srgbClr val="FCECEE"/>
          </a:solidFill>
          <a:ln w="12700">
            <a:solidFill>
              <a:srgbClr val="FC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9032" y="4974336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電子受注の再開：12月2〜3日／物流業務の正常化：2026年2月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5760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※段階的復旧。上記日付はシステムごとに異なる。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DOMESTIC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大阪の医療機関：全面復旧まで73日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出典：大阪急性期・総合医療センター 調査委員会報告書／厚労省研修資料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3273552" cy="196596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945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73日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77824" y="3172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診療システムの全面復旧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53128" y="1920240"/>
            <a:ext cx="3273552" cy="196596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1945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約2,200台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81144" y="3172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PCに不正アクセスの痕跡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1920240"/>
            <a:ext cx="3273552" cy="196596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1945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3893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数億円以上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284464" y="3172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調査・復旧費用（当時の公表）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425696"/>
            <a:ext cx="10405872" cy="1133856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27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電子カルテ停止 → 診療制限 → 復旧対応と逸失利益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50976" y="58978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発生：2022年10月31日／事例の数値は報告当時の公表値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DOMESTIC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名古屋港：物流の停止は、周辺企業へ連鎖する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出典：国土交通省「港湾における事例」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" y="1764792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922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2023年7月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" y="2423160"/>
            <a:ext cx="3657600" cy="196596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約3日間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60120" y="367588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コンテナ搬入・搬出停止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56048" y="2487168"/>
            <a:ext cx="20299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8163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港湾システム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7488" y="34015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稼働停止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04304" y="3090672"/>
            <a:ext cx="210312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487168"/>
            <a:ext cx="20299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8163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4015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搬出入停止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72016" y="3090672"/>
            <a:ext cx="210312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2487168"/>
            <a:ext cx="20299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28163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荷主・運送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2912" y="34015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物流への影響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5010912"/>
            <a:ext cx="10488168" cy="685800"/>
          </a:xfrm>
          <a:prstGeom prst="roundRect">
            <a:avLst>
              <a:gd name="adj" fmla="val 24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129784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自社だけでなく、取引先・物流・顧客を含む「連鎖リスク」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LESSONS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被害の大きさは「侵入後の備え」で変わる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出典：事例をもとにした一般的なリスク整理（提案者による分析）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2240280"/>
            <a:ext cx="3584448" cy="2862072"/>
          </a:xfrm>
          <a:prstGeom prst="roundRect">
            <a:avLst>
              <a:gd name="adj" fmla="val 543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36776" y="24688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6504" y="2496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3099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侵入を減らす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52144" y="3813048"/>
            <a:ext cx="2788920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3" name="Text 11"/>
          <p:cNvSpPr/>
          <p:nvPr/>
        </p:nvSpPr>
        <p:spPr>
          <a:xfrm>
            <a:off x="941832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MFA・資産管理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36008" y="2240280"/>
            <a:ext cx="3584448" cy="2862072"/>
          </a:xfrm>
          <a:prstGeom prst="roundRect">
            <a:avLst>
              <a:gd name="adj" fmla="val 543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3832" y="24688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496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3099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拡大を防ぐ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0" y="3813048"/>
            <a:ext cx="2788920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9" name="Text 17"/>
          <p:cNvSpPr/>
          <p:nvPr/>
        </p:nvSpPr>
        <p:spPr>
          <a:xfrm>
            <a:off x="4818888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権限・分離・検知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13064" y="2240280"/>
            <a:ext cx="3584448" cy="2862072"/>
          </a:xfrm>
          <a:prstGeom prst="roundRect">
            <a:avLst>
              <a:gd name="adj" fmla="val 543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90888" y="24688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2496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41664" y="3099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早く復旧する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906256" y="3813048"/>
            <a:ext cx="2788920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25" name="Text 23"/>
          <p:cNvSpPr/>
          <p:nvPr/>
        </p:nvSpPr>
        <p:spPr>
          <a:xfrm>
            <a:off x="8695944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バックアップ・訓練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ゼロリスクではなく、「起きても止まり続けない」状態へ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THE INSURANCE ANALOGY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セキュリティ対策は、事業を守る「保険」に近い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出典：概念図：一般的なリスクマネジメントに基づく説明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865376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4264" y="1865376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121408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健康診断・予防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806440" y="2121408"/>
            <a:ext cx="512064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2121408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脆弱性診断・MFA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41248" y="3182112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84264" y="3182112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3438144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早期発見・初期治療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06440" y="3438144"/>
            <a:ext cx="512064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3438144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監視・インシデント対応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41248" y="4498848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84264" y="4498848"/>
            <a:ext cx="4681728" cy="978408"/>
          </a:xfrm>
          <a:prstGeom prst="roundRect">
            <a:avLst>
              <a:gd name="adj" fmla="val 1401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475488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入院への備え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806440" y="4754880"/>
            <a:ext cx="512064" cy="493776"/>
          </a:xfrm>
          <a:prstGeom prst="chevron">
            <a:avLst/>
          </a:prstGeom>
          <a:solidFill>
            <a:srgbClr val="2762A5"/>
          </a:solidFill>
          <a:ln w="12700">
            <a:solidFill>
              <a:srgbClr val="2762A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475488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バックアップ・復旧訓練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203704" y="1527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人の備え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1527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企業の備え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6126480"/>
            <a:ext cx="10268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対策は損失を必ずゼロにするものではなく、発生確率と被害を小さくする投資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INVESTMENT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「保険」だけでなく、事業を継続する仕組みを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出典：提案者による整理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3685032" cy="325526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350008"/>
            <a:ext cx="3182112" cy="603504"/>
          </a:xfrm>
          <a:prstGeom prst="roundRect">
            <a:avLst>
              <a:gd name="adj" fmla="val 2727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45973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起こりにくくする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096512"/>
            <a:ext cx="27706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3" name="Text 11"/>
          <p:cNvSpPr/>
          <p:nvPr/>
        </p:nvSpPr>
        <p:spPr>
          <a:xfrm>
            <a:off x="978408" y="43708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MFA／更新／教育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2029968"/>
            <a:ext cx="3685032" cy="325526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3752" y="2350008"/>
            <a:ext cx="3182112" cy="603504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45973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検知・封じ込め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326440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広がりを抑える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74920" y="4096512"/>
            <a:ext cx="27706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9" name="Text 17"/>
          <p:cNvSpPr/>
          <p:nvPr/>
        </p:nvSpPr>
        <p:spPr>
          <a:xfrm>
            <a:off x="4910328" y="43708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監視／権限管理／分離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49640" y="2029968"/>
            <a:ext cx="3685032" cy="325526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05672" y="2350008"/>
            <a:ext cx="3182112" cy="603504"/>
          </a:xfrm>
          <a:prstGeom prst="roundRect">
            <a:avLst>
              <a:gd name="adj" fmla="val 27273"/>
            </a:avLst>
          </a:prstGeom>
          <a:solidFill>
            <a:srgbClr val="FCECEE"/>
          </a:solidFill>
          <a:ln w="12700">
            <a:solidFill>
              <a:srgbClr val="FC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9408" y="245973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78240" y="326440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0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止まる時間を短くする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06840" y="4096512"/>
            <a:ext cx="27706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25" name="Text 23"/>
          <p:cNvSpPr/>
          <p:nvPr/>
        </p:nvSpPr>
        <p:spPr>
          <a:xfrm>
            <a:off x="8842248" y="43708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バックアップ／BCP訓練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81558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※サイバー保険は金銭的補償を担う場合があるが、予防・復旧体制の代わりにはならない。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RECOMMENDED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改善は「優先順位と期限」を決めて実行する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出典：提案者による推奨ロードマップ（自社の現状評価により調整）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093976"/>
            <a:ext cx="3685032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340864"/>
            <a:ext cx="3236976" cy="521208"/>
          </a:xfrm>
          <a:prstGeom prst="roundRect">
            <a:avLst>
              <a:gd name="adj" fmla="val 31579"/>
            </a:avLst>
          </a:prstGeom>
          <a:solidFill>
            <a:srgbClr val="FCECEE"/>
          </a:solidFill>
          <a:ln w="12700">
            <a:solidFill>
              <a:srgbClr val="FCEC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0〜30日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136392"/>
            <a:ext cx="33192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最重要資産の把握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52144" y="4050792"/>
            <a:ext cx="2798064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3" name="Text 11"/>
          <p:cNvSpPr/>
          <p:nvPr/>
        </p:nvSpPr>
        <p:spPr>
          <a:xfrm>
            <a:off x="923544" y="4279392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管理者MFA／バックアップ確認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36008" y="2093976"/>
            <a:ext cx="3685032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2340864"/>
            <a:ext cx="3236976" cy="521208"/>
          </a:xfrm>
          <a:prstGeom prst="roundRect">
            <a:avLst>
              <a:gd name="adj" fmla="val 3157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1〜3か月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18888" y="3136392"/>
            <a:ext cx="33192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横展開と検知の強化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74920" y="4050792"/>
            <a:ext cx="2798064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19" name="Text 17"/>
          <p:cNvSpPr/>
          <p:nvPr/>
        </p:nvSpPr>
        <p:spPr>
          <a:xfrm>
            <a:off x="4846320" y="4279392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権限棚卸し／EDR／ログ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58784" y="2093976"/>
            <a:ext cx="3685032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87384" y="2340864"/>
            <a:ext cx="3236976" cy="521208"/>
          </a:xfrm>
          <a:prstGeom prst="roundRect">
            <a:avLst>
              <a:gd name="adj" fmla="val 31579"/>
            </a:avLst>
          </a:prstGeom>
          <a:solidFill>
            <a:srgbClr val="E5F4F1"/>
          </a:solidFill>
          <a:ln w="12700">
            <a:solidFill>
              <a:srgbClr val="E5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0264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3〜6か月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41664" y="3136392"/>
            <a:ext cx="33192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復旧力を実証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97696" y="4050792"/>
            <a:ext cx="2798064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25" name="Text 23"/>
          <p:cNvSpPr/>
          <p:nvPr/>
        </p:nvSpPr>
        <p:spPr>
          <a:xfrm>
            <a:off x="8769096" y="4279392"/>
            <a:ext cx="3264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復旧テスト／机上演習／委託先確認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788152"/>
            <a:ext cx="10515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経営が追う指標：MFA適用率 ／ 重要資産把握率 ／ 復旧テスト達成率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DECISION REQUEST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経営判断：守るべき業務と、許容停止時間を決める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出典：提案者による改善提言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865376"/>
            <a:ext cx="10515600" cy="996696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2039112"/>
            <a:ext cx="612648" cy="621792"/>
          </a:xfrm>
          <a:prstGeom prst="roundRect">
            <a:avLst>
              <a:gd name="adj" fmla="val 1940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2130552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65376" y="2075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重要業務を指定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2093976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停止すると売上・顧客影響が大きい業務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3163824"/>
            <a:ext cx="10515600" cy="996696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3337560"/>
            <a:ext cx="612648" cy="621792"/>
          </a:xfrm>
          <a:prstGeom prst="roundRect">
            <a:avLst>
              <a:gd name="adj" fmla="val 1940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3429000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65376" y="3374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復旧目標を承認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339242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許容停止時間・復旧優先順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" y="4462272"/>
            <a:ext cx="10515600" cy="996696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4636008"/>
            <a:ext cx="612648" cy="621792"/>
          </a:xfrm>
          <a:prstGeom prst="roundRect">
            <a:avLst>
              <a:gd name="adj" fmla="val 19403"/>
            </a:avLst>
          </a:prstGeom>
          <a:solidFill>
            <a:srgbClr val="FCECEE"/>
          </a:solidFill>
          <a:ln w="12700">
            <a:solidFill>
              <a:srgbClr val="FCE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7864" y="4727448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865376" y="4672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改善投資を承認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4690872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責任者・期限・訓練予算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93445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37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決めるべきことは「事故をゼロにする予算」ではなく「止まっても耐えられる経営体制」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67512"/>
            <a:ext cx="11018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出典一覧｜一次資料・公的資料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0232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03504" y="647395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出典：各リンクは2026年10月時点の参照先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109960" y="6455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1783080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6537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警察庁｜不正アクセス行為の発生状況（2025年）</a:t>
            </a:r>
            <a:endParaRPr lang="en-US" sz="1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78408" y="2148840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https://www.npa.go.jp/bureau/cyber/pdf/R080312_access.pdf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" y="2642616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72491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アサヒグループHD｜原因・復旧・再発防止（2026年2月）</a:t>
            </a:r>
            <a:endParaRPr lang="en-US" sz="14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78408" y="3008376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https://www.asahigroup-holdings.com/newsroom/detail/20260218-0101.html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" y="3502152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58444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大阪急性期・総合医療センター｜インシデント報告</a:t>
            </a:r>
            <a:endParaRPr lang="en-US" sz="140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78408" y="3867912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https://www.gh.opho.jp/incident/1.html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" y="4361688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44398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国土交通省｜名古屋港のランサムウェア被害</a:t>
            </a:r>
            <a:endParaRPr lang="en-US" sz="140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78408" y="4727448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https://www.mlit.go.jp/kowan/content/001879954.pdf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" y="5221224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303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IPA｜情報セキュリティ10大脅威</a:t>
            </a:r>
            <a:endParaRPr lang="en-US" sz="1400" dirty="0"/>
          </a:p>
        </p:txBody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78408" y="5586984"/>
            <a:ext cx="9875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2762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https://www.ipa.go.jp/security/10threats/index.html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628192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4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注意：事例ごとに復旧対象・影響範囲が異なるため、単純な期間比較はしない。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サイバーインシデントと事業継続への提言</dc:title>
  <dc:subject>経営層向けサイバーセキュリティ提言</dc:subject>
  <dc:creator>OpenAI</dc:creator>
  <cp:lastModifiedBy>OpenAI</cp:lastModifiedBy>
  <cp:revision>1</cp:revision>
  <dcterms:created xsi:type="dcterms:W3CDTF">2026-10-21T22:07:43Z</dcterms:created>
  <dcterms:modified xsi:type="dcterms:W3CDTF">2026-10-21T22:07:43Z</dcterms:modified>
</cp:coreProperties>
</file>