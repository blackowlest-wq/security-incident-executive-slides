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77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pa.go.jp/security/10threats/index.html" TargetMode="External"/><Relationship Id="rId3" Type="http://schemas.openxmlformats.org/officeDocument/2006/relationships/image" Target="../media/image8.jpg"/><Relationship Id="rId7" Type="http://schemas.openxmlformats.org/officeDocument/2006/relationships/hyperlink" Target="https://www.mlit.go.jp/kowan/content/001879954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h.opho.jp/incident/1.html" TargetMode="External"/><Relationship Id="rId5" Type="http://schemas.openxmlformats.org/officeDocument/2006/relationships/hyperlink" Target="https://www.asahigroup-holdings.com/newsroom/detail/20260218-0101.html" TargetMode="External"/><Relationship Id="rId4" Type="http://schemas.openxmlformats.org/officeDocument/2006/relationships/hyperlink" Target="https://www.npa.go.jp/bureau/cyber/pdf/R080312_acces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2293315" cy="329184"/>
          </a:xfrm>
          <a:prstGeom prst="roundRect">
            <a:avLst>
              <a:gd name="adj" fmla="val 19444"/>
            </a:avLst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2092147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00  /  CYBER CHAOS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 rot="780000">
            <a:off x="8458200" y="1371600"/>
            <a:ext cx="3337560" cy="3337560"/>
          </a:xfrm>
          <a:prstGeom prst="star12">
            <a:avLst/>
          </a:prstGeom>
          <a:solidFill>
            <a:srgbClr val="FF1DA6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 rot="1260000">
            <a:off x="8842248" y="1764792"/>
            <a:ext cx="2560320" cy="2560320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 rot="720000">
            <a:off x="7927848" y="1097280"/>
            <a:ext cx="4297680" cy="4297680"/>
          </a:xfrm>
          <a:prstGeom prst="arc">
            <a:avLst/>
          </a:prstGeom>
          <a:solidFill>
            <a:srgbClr val="13F3FF">
              <a:alpha val="0"/>
            </a:srgbClr>
          </a:solidFill>
          <a:ln w="3937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dow_0.7609342081501254"/>
          <p:cNvSpPr/>
          <p:nvPr/>
        </p:nvSpPr>
        <p:spPr>
          <a:xfrm>
            <a:off x="617220" y="1074420"/>
            <a:ext cx="7589520" cy="11521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サイバー攻撃</a:t>
            </a:r>
            <a:endParaRPr lang="en-US" sz="5400" dirty="0"/>
          </a:p>
        </p:txBody>
      </p:sp>
      <p:sp>
        <p:nvSpPr>
          <p:cNvPr id="15" name="FX-zoom-1-hero"/>
          <p:cNvSpPr/>
          <p:nvPr/>
        </p:nvSpPr>
        <p:spPr>
          <a:xfrm>
            <a:off x="566928" y="1024128"/>
            <a:ext cx="7589520" cy="11521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サイバー攻撃</a:t>
            </a:r>
            <a:endParaRPr lang="en-US" sz="5400" dirty="0"/>
          </a:p>
        </p:txBody>
      </p:sp>
      <p:sp>
        <p:nvSpPr>
          <p:cNvPr id="16" name="shadow_0.2868124898406246"/>
          <p:cNvSpPr/>
          <p:nvPr/>
        </p:nvSpPr>
        <p:spPr>
          <a:xfrm>
            <a:off x="653796" y="2290572"/>
            <a:ext cx="7708392" cy="1115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もう他人事じゃない!!</a:t>
            </a:r>
            <a:endParaRPr lang="en-US" sz="4100" dirty="0"/>
          </a:p>
        </p:txBody>
      </p:sp>
      <p:sp>
        <p:nvSpPr>
          <p:cNvPr id="17" name="FX-fly-1-tag"/>
          <p:cNvSpPr/>
          <p:nvPr/>
        </p:nvSpPr>
        <p:spPr>
          <a:xfrm>
            <a:off x="603504" y="2240280"/>
            <a:ext cx="7708392" cy="1115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もう他人事じゃない!!</a:t>
            </a:r>
            <a:endParaRPr lang="en-US" sz="4100" dirty="0"/>
          </a:p>
        </p:txBody>
      </p:sp>
      <p:sp>
        <p:nvSpPr>
          <p:cNvPr id="18" name="Shape 15"/>
          <p:cNvSpPr/>
          <p:nvPr/>
        </p:nvSpPr>
        <p:spPr>
          <a:xfrm>
            <a:off x="685800" y="3721608"/>
            <a:ext cx="2478024" cy="329184"/>
          </a:xfrm>
          <a:prstGeom prst="roundRect">
            <a:avLst>
              <a:gd name="adj" fmla="val 19444"/>
            </a:avLst>
          </a:prstGeom>
          <a:solidFill>
            <a:srgbClr val="FF1DA6"/>
          </a:solidFill>
          <a:ln w="25400">
            <a:solidFill>
              <a:srgbClr val="FF1D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86384" y="3744468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警告レベル：MAX</a:t>
            </a:r>
            <a:endParaRPr lang="en-US" sz="1100" dirty="0"/>
          </a:p>
        </p:txBody>
      </p:sp>
      <p:sp>
        <p:nvSpPr>
          <p:cNvPr id="20" name="FX-fade-1-message"/>
          <p:cNvSpPr/>
          <p:nvPr/>
        </p:nvSpPr>
        <p:spPr>
          <a:xfrm>
            <a:off x="713232" y="4206240"/>
            <a:ext cx="7040880" cy="10424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「ITだけの話」じゃない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「仕事ぜんぶが止まるかも」</a:t>
            </a:r>
            <a:endParaRPr lang="en-US" sz="2500" dirty="0"/>
          </a:p>
        </p:txBody>
      </p:sp>
      <p:sp>
        <p:nvSpPr>
          <p:cNvPr id="21" name="FX-zoom-1-number"/>
          <p:cNvSpPr/>
          <p:nvPr/>
        </p:nvSpPr>
        <p:spPr>
          <a:xfrm>
            <a:off x="8697076" y="2432304"/>
            <a:ext cx="2706624" cy="1252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ja-JP" altLang="en-US" sz="40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みんな</a:t>
            </a:r>
            <a:endParaRPr lang="en-US" altLang="ja-JP" sz="4000" b="1" dirty="0">
              <a:solidFill>
                <a:srgbClr val="110C34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  <a:p>
            <a:pPr marL="0" indent="0" algn="ctr">
              <a:buNone/>
            </a:pPr>
            <a:r>
              <a:rPr lang="en-US" sz="4000" b="1" dirty="0" err="1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いっぱい</a:t>
            </a:r>
            <a:endParaRPr lang="en-US" sz="4000" b="1" dirty="0">
              <a:solidFill>
                <a:srgbClr val="110C34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  <a:p>
            <a:pPr algn="ctr"/>
            <a:r>
              <a:rPr lang="en-US" altLang="ja-JP" sz="4000" b="1" dirty="0" err="1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いっぱい</a:t>
            </a:r>
            <a:endParaRPr lang="en-US" altLang="ja-JP" sz="4000" b="1" dirty="0">
              <a:solidFill>
                <a:srgbClr val="110C34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785533" y="2916936"/>
            <a:ext cx="603504" cy="8778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！</a:t>
            </a:r>
            <a:endParaRPr lang="en-US" sz="4500" dirty="0"/>
          </a:p>
        </p:txBody>
      </p:sp>
      <p:sp>
        <p:nvSpPr>
          <p:cNvPr id="23" name="Text 20"/>
          <p:cNvSpPr/>
          <p:nvPr/>
        </p:nvSpPr>
        <p:spPr>
          <a:xfrm>
            <a:off x="731520" y="5797296"/>
            <a:ext cx="1037844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06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日本のほんとの事例でわかる</a:t>
            </a:r>
            <a:r>
              <a:rPr lang="en-US" sz="1900" b="1" dirty="0">
                <a:solidFill>
                  <a:srgbClr val="006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！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 rot="-1020000">
            <a:off x="7799832" y="4169664"/>
            <a:ext cx="585216" cy="1033272"/>
          </a:xfrm>
          <a:prstGeom prst="lightningBolt">
            <a:avLst/>
          </a:prstGeom>
          <a:solidFill>
            <a:srgbClr val="FFE6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 rot="840000">
            <a:off x="11173968" y="4425696"/>
            <a:ext cx="493776" cy="777240"/>
          </a:xfrm>
          <a:prstGeom prst="lightningBolt">
            <a:avLst/>
          </a:prstGeom>
          <a:solidFill>
            <a:srgbClr val="13F3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493776" y="6519672"/>
            <a:ext cx="10744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2026.10  /  EXECUTIVE BRIEFING  RE:DESIGNED</a:t>
            </a:r>
            <a:endParaRPr lang="en-US" sz="9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" prLst="from(b)">
                                <p:cBhvr>
                                  <p:cTn id="10" dur="6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8" dur="6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1997050" cy="329184"/>
          </a:xfrm>
          <a:prstGeom prst="roundRect">
            <a:avLst>
              <a:gd name="adj" fmla="val 19444"/>
            </a:avLst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179588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  /  LEVEL UP</a:t>
            </a:r>
            <a:endParaRPr lang="en-US" sz="1100" dirty="0"/>
          </a:p>
        </p:txBody>
      </p:sp>
      <p:sp>
        <p:nvSpPr>
          <p:cNvPr id="10" name="FX-zoom-2-title"/>
          <p:cNvSpPr/>
          <p:nvPr/>
        </p:nvSpPr>
        <p:spPr>
          <a:xfrm>
            <a:off x="502920" y="722376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不正アクセス、見つかった数が
5年でいっぱい増えた！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484632" y="651967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出典：警察庁「不正アクセス行為の発生状況」2026年3月12日 図1-1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177393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6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見つかった数</a:t>
            </a:r>
            <a:endParaRPr lang="en-US" sz="1400" dirty="0"/>
          </a:p>
        </p:txBody>
      </p:sp>
      <p:sp>
        <p:nvSpPr>
          <p:cNvPr id="14" name="FX-fly-2-bar0"/>
          <p:cNvSpPr/>
          <p:nvPr/>
        </p:nvSpPr>
        <p:spPr>
          <a:xfrm>
            <a:off x="804672" y="5081031"/>
            <a:ext cx="1124712" cy="633969"/>
          </a:xfrm>
          <a:prstGeom prst="roundRect">
            <a:avLst/>
          </a:prstGeom>
          <a:solidFill>
            <a:srgbClr val="AE6E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FX-fade-2-label0"/>
          <p:cNvSpPr/>
          <p:nvPr/>
        </p:nvSpPr>
        <p:spPr>
          <a:xfrm>
            <a:off x="713232" y="4660407"/>
            <a:ext cx="13075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1,516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4672" y="5879592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2021</a:t>
            </a:r>
            <a:endParaRPr lang="en-US" sz="1500" dirty="0"/>
          </a:p>
        </p:txBody>
      </p:sp>
      <p:sp>
        <p:nvSpPr>
          <p:cNvPr id="17" name="FX-fly-2-bar1"/>
          <p:cNvSpPr/>
          <p:nvPr/>
        </p:nvSpPr>
        <p:spPr>
          <a:xfrm>
            <a:off x="2386584" y="4794992"/>
            <a:ext cx="1124712" cy="920008"/>
          </a:xfrm>
          <a:prstGeom prst="roundRect">
            <a:avLst/>
          </a:prstGeom>
          <a:solidFill>
            <a:srgbClr val="13F3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FX-fade-2-label1"/>
          <p:cNvSpPr/>
          <p:nvPr/>
        </p:nvSpPr>
        <p:spPr>
          <a:xfrm>
            <a:off x="2295144" y="4374368"/>
            <a:ext cx="13075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2,200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386584" y="5879592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2022</a:t>
            </a:r>
            <a:endParaRPr lang="en-US" sz="1500" dirty="0"/>
          </a:p>
        </p:txBody>
      </p:sp>
      <p:sp>
        <p:nvSpPr>
          <p:cNvPr id="20" name="FX-fly-2-bar2"/>
          <p:cNvSpPr/>
          <p:nvPr/>
        </p:nvSpPr>
        <p:spPr>
          <a:xfrm>
            <a:off x="3968496" y="3075412"/>
            <a:ext cx="1124712" cy="2639588"/>
          </a:xfrm>
          <a:prstGeom prst="roundRect">
            <a:avLst/>
          </a:prstGeom>
          <a:solidFill>
            <a:srgbClr val="FF4FD8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FX-fade-2-label2"/>
          <p:cNvSpPr/>
          <p:nvPr/>
        </p:nvSpPr>
        <p:spPr>
          <a:xfrm>
            <a:off x="3877056" y="2654788"/>
            <a:ext cx="13075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6,312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968496" y="5879592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2023</a:t>
            </a:r>
            <a:endParaRPr lang="en-US" sz="1500" dirty="0"/>
          </a:p>
        </p:txBody>
      </p:sp>
      <p:sp>
        <p:nvSpPr>
          <p:cNvPr id="23" name="FX-fly-2-bar3"/>
          <p:cNvSpPr/>
          <p:nvPr/>
        </p:nvSpPr>
        <p:spPr>
          <a:xfrm>
            <a:off x="5550408" y="3474362"/>
            <a:ext cx="1124712" cy="2240638"/>
          </a:xfrm>
          <a:prstGeom prst="roundRect">
            <a:avLst/>
          </a:prstGeom>
          <a:solidFill>
            <a:srgbClr val="FFE64C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FX-fade-2-label3"/>
          <p:cNvSpPr/>
          <p:nvPr/>
        </p:nvSpPr>
        <p:spPr>
          <a:xfrm>
            <a:off x="5458968" y="3053738"/>
            <a:ext cx="13075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5,358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550408" y="5879592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2024</a:t>
            </a:r>
            <a:endParaRPr lang="en-US" sz="1500" dirty="0"/>
          </a:p>
        </p:txBody>
      </p:sp>
      <p:sp>
        <p:nvSpPr>
          <p:cNvPr id="26" name="FX-fly-2-bar4"/>
          <p:cNvSpPr/>
          <p:nvPr/>
        </p:nvSpPr>
        <p:spPr>
          <a:xfrm>
            <a:off x="7132320" y="2708246"/>
            <a:ext cx="1124712" cy="3006754"/>
          </a:xfrm>
          <a:prstGeom prst="roundRect">
            <a:avLst/>
          </a:prstGeom>
          <a:solidFill>
            <a:srgbClr val="36FFC9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FX-fade-2-label4"/>
          <p:cNvSpPr/>
          <p:nvPr/>
        </p:nvSpPr>
        <p:spPr>
          <a:xfrm>
            <a:off x="7040880" y="2287622"/>
            <a:ext cx="13075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7,190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132320" y="5879592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2025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 rot="540000">
            <a:off x="8732520" y="1856232"/>
            <a:ext cx="2615184" cy="2615184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FX-zoom-2-super"/>
          <p:cNvSpPr/>
          <p:nvPr/>
        </p:nvSpPr>
        <p:spPr>
          <a:xfrm>
            <a:off x="8933688" y="2560320"/>
            <a:ext cx="2240280" cy="1069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いっぱい</a:t>
            </a:r>
            <a:endParaRPr lang="en-US" sz="4900" dirty="0"/>
          </a:p>
        </p:txBody>
      </p:sp>
      <p:sp>
        <p:nvSpPr>
          <p:cNvPr id="31" name="Text 28"/>
          <p:cNvSpPr/>
          <p:nvPr/>
        </p:nvSpPr>
        <p:spPr>
          <a:xfrm>
            <a:off x="9509760" y="3429000"/>
            <a:ext cx="13334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増えた！</a:t>
            </a:r>
            <a:endParaRPr lang="en-US" sz="2500" dirty="0"/>
          </a:p>
        </p:txBody>
      </p:sp>
      <p:sp>
        <p:nvSpPr>
          <p:cNvPr id="32" name="Shape 29"/>
          <p:cNvSpPr/>
          <p:nvPr/>
        </p:nvSpPr>
        <p:spPr>
          <a:xfrm>
            <a:off x="8613648" y="4617720"/>
            <a:ext cx="3090672" cy="941832"/>
          </a:xfrm>
          <a:prstGeom prst="roundRect">
            <a:avLst>
              <a:gd name="adj" fmla="val 19417"/>
            </a:avLst>
          </a:prstGeom>
          <a:solidFill>
            <a:srgbClr val="FFF7FC">
              <a:alpha val="98000"/>
            </a:srgbClr>
          </a:solidFill>
          <a:ln w="33020">
            <a:solidFill>
              <a:srgbClr val="FF1DA6"/>
            </a:solidFill>
            <a:prstDash val="solid"/>
          </a:ln>
          <a:effectLst>
            <a:outerShdw blurRad="38100" dist="50800" dir="16200000" algn="bl" rotWithShape="0">
              <a:srgbClr val="FF1DA6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FX-zoom-2-yoy"/>
          <p:cNvSpPr/>
          <p:nvPr/>
        </p:nvSpPr>
        <p:spPr>
          <a:xfrm>
            <a:off x="8823960" y="4882896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去年より もっと増えた！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795528" y="6217920"/>
            <a:ext cx="10698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※警察が見つけた数。
日本で起きた全部の件数ではないよ。</a:t>
            </a:r>
            <a:endParaRPr lang="en-US" sz="1000" dirty="0"/>
          </a:p>
        </p:txBody>
      </p:sp>
    </p:spTree>
  </p:cSld>
  <p:clrMapOvr>
    <a:masterClrMapping/>
  </p:clrMapOvr>
  <p:transition spd="med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" prLst="from(b)">
                                <p:cBhvr>
                                  <p:cTn id="10" dur="6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" prLst="from(b)">
                                <p:cBhvr>
                                  <p:cTn id="18" dur="6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" prLst="from(b)">
                                <p:cBhvr>
                                  <p:cTn id="26" dur="6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" prLst="from(b)">
                                <p:cBhvr>
                                  <p:cTn id="34" dur="6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" prLst="from(b)">
                                <p:cBhvr>
                                  <p:cTn id="42" dur="6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50" dur="6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54" dur="6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2194560" cy="329184"/>
          </a:xfrm>
          <a:prstGeom prst="roundRect">
            <a:avLst>
              <a:gd name="adj" fmla="val 19444"/>
            </a:avLst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  /  TRIPLE HIT</a:t>
            </a:r>
            <a:endParaRPr lang="en-US" sz="1100" dirty="0"/>
          </a:p>
        </p:txBody>
      </p:sp>
      <p:sp>
        <p:nvSpPr>
          <p:cNvPr id="10" name="FX-zoom-3-title"/>
          <p:cNvSpPr/>
          <p:nvPr/>
        </p:nvSpPr>
        <p:spPr>
          <a:xfrm>
            <a:off x="502920" y="722376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1回やられるだけで
お金・仕事・信用がいっぺんにヤバい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484632" y="651967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出典：企業公表資料・国土交通省公表資料（詳細は最終ページ）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" y="2066544"/>
            <a:ext cx="3438144" cy="3227832"/>
          </a:xfrm>
          <a:prstGeom prst="roundRect">
            <a:avLst>
              <a:gd name="adj" fmla="val 5666"/>
            </a:avLst>
          </a:prstGeom>
          <a:solidFill>
            <a:srgbClr val="FFF2FB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722376" y="2340864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22960" y="2363724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売上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3986784"/>
            <a:ext cx="2926080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78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売れるチャンスがへる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31520" y="480974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注文→出荷が止まる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014216" y="3392424"/>
            <a:ext cx="338328" cy="429768"/>
          </a:xfrm>
          <a:prstGeom prst="chevron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370832" y="2066544"/>
            <a:ext cx="3438144" cy="3227832"/>
          </a:xfrm>
          <a:prstGeom prst="roundRect">
            <a:avLst>
              <a:gd name="adj" fmla="val 5666"/>
            </a:avLst>
          </a:prstGeom>
          <a:solidFill>
            <a:srgbClr val="F7FFEA">
              <a:alpha val="98000"/>
            </a:srgbClr>
          </a:solidFill>
          <a:ln w="33020">
            <a:solidFill>
              <a:srgbClr val="FFE64C"/>
            </a:solidFill>
            <a:prstDash val="solid"/>
          </a:ln>
          <a:effectLst>
            <a:outerShdw blurRad="38100" dist="50800" dir="16200000" algn="bl" rotWithShape="0">
              <a:srgbClr val="FFE64C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4617720" y="2340864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4718304" y="2363724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サービス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26864" y="3986784"/>
            <a:ext cx="2926080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大事な仕事が止まる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626864" y="480974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現場がまわらない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909560" y="3392424"/>
            <a:ext cx="338328" cy="429768"/>
          </a:xfrm>
          <a:prstGeom prst="chevron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8266176" y="2066544"/>
            <a:ext cx="3438144" cy="3227832"/>
          </a:xfrm>
          <a:prstGeom prst="roundRect">
            <a:avLst>
              <a:gd name="adj" fmla="val 5666"/>
            </a:avLst>
          </a:prstGeom>
          <a:solidFill>
            <a:srgbClr val="F1F7FF">
              <a:alpha val="98000"/>
            </a:srgbClr>
          </a:solidFill>
          <a:ln w="33020">
            <a:solidFill>
              <a:srgbClr val="FF4FD8"/>
            </a:solidFill>
            <a:prstDash val="solid"/>
          </a:ln>
          <a:effectLst>
            <a:outerShdw blurRad="38100" dist="50800" dir="16200000" algn="bl" rotWithShape="0">
              <a:srgbClr val="FF4FD8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8513064" y="2340864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8613648" y="2363724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信用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22208" y="3986784"/>
            <a:ext cx="2926080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説明しないといけない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8522208" y="480974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調べる・発表する・お客さん対応</a:t>
            </a:r>
            <a:endParaRPr lang="en-US" sz="1100" dirty="0"/>
          </a:p>
        </p:txBody>
      </p:sp>
      <p:sp>
        <p:nvSpPr>
          <p:cNvPr id="33" name="FX-zoom-3-last"/>
          <p:cNvSpPr/>
          <p:nvPr/>
        </p:nvSpPr>
        <p:spPr>
          <a:xfrm>
            <a:off x="1124712" y="5632704"/>
            <a:ext cx="10067544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ITだけでは終わらない！
会社ぜんぶにひびく！</a:t>
            </a:r>
            <a:endParaRPr lang="en-US" sz="28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DCB0FE2C-9020-78DA-632D-4CDED7F73E2E}"/>
              </a:ext>
            </a:extLst>
          </p:cNvPr>
          <p:cNvSpPr/>
          <p:nvPr/>
        </p:nvSpPr>
        <p:spPr>
          <a:xfrm rot="540000">
            <a:off x="1169123" y="2687777"/>
            <a:ext cx="2142315" cy="1443866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altLang="ja-JP" dirty="0"/>
          </a:p>
          <a:p>
            <a:r>
              <a:rPr lang="ja-JP" altLang="en-US" dirty="0"/>
              <a:t>ヤバい！</a:t>
            </a:r>
            <a:endParaRPr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46DF47FD-5B01-DB70-E08D-24A39C51498B}"/>
              </a:ext>
            </a:extLst>
          </p:cNvPr>
          <p:cNvSpPr/>
          <p:nvPr/>
        </p:nvSpPr>
        <p:spPr>
          <a:xfrm rot="540000">
            <a:off x="4981225" y="2715211"/>
            <a:ext cx="2142315" cy="1443866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altLang="ja-JP" dirty="0"/>
          </a:p>
          <a:p>
            <a:r>
              <a:rPr lang="ja-JP" altLang="en-US" dirty="0"/>
              <a:t>ヤバい！</a:t>
            </a:r>
            <a:endParaRPr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A4A11828-226B-E244-DA92-CAB88B32CCC8}"/>
              </a:ext>
            </a:extLst>
          </p:cNvPr>
          <p:cNvSpPr/>
          <p:nvPr/>
        </p:nvSpPr>
        <p:spPr>
          <a:xfrm rot="540000">
            <a:off x="9032490" y="2715209"/>
            <a:ext cx="2142315" cy="1443866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altLang="ja-JP" dirty="0"/>
          </a:p>
          <a:p>
            <a:r>
              <a:rPr lang="ja-JP" altLang="en-US" dirty="0"/>
              <a:t>ヤバい！</a:t>
            </a:r>
            <a:endParaRPr dirty="0"/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650"/>
                      </p:stCondLst>
                      <p:childTnLst>
                        <p:par>
                          <p:cTn id="8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0" dur="6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2688336" cy="329184"/>
          </a:xfrm>
          <a:prstGeom prst="roundRect">
            <a:avLst>
              <a:gd name="adj" fmla="val 19444"/>
            </a:avLst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  /  CASE 01 : ASAHI</a:t>
            </a:r>
            <a:endParaRPr lang="en-US" sz="1100" dirty="0"/>
          </a:p>
        </p:txBody>
      </p:sp>
      <p:sp>
        <p:nvSpPr>
          <p:cNvPr id="10" name="FX-zoom-4-title"/>
          <p:cNvSpPr/>
          <p:nvPr/>
        </p:nvSpPr>
        <p:spPr>
          <a:xfrm>
            <a:off x="502920" y="722376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アサヒグループ：やられて注文も出荷もグラグラ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484632" y="651967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出典：アサヒグループHD 2026年2月18日発表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" y="1664208"/>
            <a:ext cx="3017520" cy="329184"/>
          </a:xfrm>
          <a:prstGeom prst="roundRect">
            <a:avLst>
              <a:gd name="adj" fmla="val 19444"/>
            </a:avLst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85800" y="168706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発生  2025.09.29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" y="2276856"/>
            <a:ext cx="3246120" cy="2240280"/>
          </a:xfrm>
          <a:prstGeom prst="roundRect">
            <a:avLst>
              <a:gd name="adj" fmla="val 8163"/>
            </a:avLst>
          </a:prstGeom>
          <a:solidFill>
            <a:srgbClr val="FFFCF4">
              <a:alpha val="98000"/>
            </a:srgbClr>
          </a:solidFill>
          <a:ln w="33020">
            <a:solidFill>
              <a:srgbClr val="FF4FD8"/>
            </a:solidFill>
            <a:prstDash val="solid"/>
          </a:ln>
          <a:effectLst>
            <a:outerShdw blurRad="38100" dist="50800" dir="16200000" algn="bl" rotWithShape="0">
              <a:srgbClr val="FF4FD8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49808" y="1984248"/>
            <a:ext cx="658368" cy="658368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950976" y="21671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FX-zoom-4-step0"/>
          <p:cNvSpPr/>
          <p:nvPr/>
        </p:nvSpPr>
        <p:spPr>
          <a:xfrm>
            <a:off x="822960" y="2788920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入りこまれた</a:t>
            </a:r>
            <a:endParaRPr lang="en-US" sz="3500" dirty="0"/>
          </a:p>
        </p:txBody>
      </p:sp>
      <p:sp>
        <p:nvSpPr>
          <p:cNvPr id="19" name="Text 16"/>
          <p:cNvSpPr/>
          <p:nvPr/>
        </p:nvSpPr>
        <p:spPr>
          <a:xfrm>
            <a:off x="758952" y="3803904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ネットワーク機器から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922776" y="3200400"/>
            <a:ext cx="411480" cy="429768"/>
          </a:xfrm>
          <a:prstGeom prst="chevron">
            <a:avLst/>
          </a:prstGeom>
          <a:solidFill>
            <a:srgbClr val="36FFC9"/>
          </a:solidFill>
          <a:ln w="12700">
            <a:solidFill>
              <a:srgbClr val="36FFC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4489704" y="2276856"/>
            <a:ext cx="3246120" cy="2240280"/>
          </a:xfrm>
          <a:prstGeom prst="roundRect">
            <a:avLst>
              <a:gd name="adj" fmla="val 8163"/>
            </a:avLst>
          </a:prstGeom>
          <a:solidFill>
            <a:srgbClr val="F2FFFC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 rot="600000">
            <a:off x="4654296" y="1984248"/>
            <a:ext cx="658368" cy="658368"/>
          </a:xfrm>
          <a:prstGeom prst="star12">
            <a:avLst/>
          </a:prstGeom>
          <a:solidFill>
            <a:srgbClr val="FF4FD8"/>
          </a:solidFill>
          <a:ln w="1397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4855464" y="21671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FX-zoom-4-step1"/>
          <p:cNvSpPr/>
          <p:nvPr/>
        </p:nvSpPr>
        <p:spPr>
          <a:xfrm>
            <a:off x="4727448" y="2788920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ファイルをロック</a:t>
            </a:r>
            <a:endParaRPr lang="en-US" sz="3500" dirty="0"/>
          </a:p>
        </p:txBody>
      </p:sp>
      <p:sp>
        <p:nvSpPr>
          <p:cNvPr id="25" name="Text 22"/>
          <p:cNvSpPr/>
          <p:nvPr/>
        </p:nvSpPr>
        <p:spPr>
          <a:xfrm>
            <a:off x="4663440" y="3803904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ランサム攻撃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827264" y="3200400"/>
            <a:ext cx="411480" cy="429768"/>
          </a:xfrm>
          <a:prstGeom prst="chevron">
            <a:avLst/>
          </a:prstGeom>
          <a:solidFill>
            <a:srgbClr val="36FFC9"/>
          </a:solidFill>
          <a:ln w="12700">
            <a:solidFill>
              <a:srgbClr val="36FFC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8385048" y="2276856"/>
            <a:ext cx="3246120" cy="2240280"/>
          </a:xfrm>
          <a:prstGeom prst="roundRect">
            <a:avLst>
              <a:gd name="adj" fmla="val 8163"/>
            </a:avLst>
          </a:prstGeom>
          <a:solidFill>
            <a:srgbClr val="FFF3FA">
              <a:alpha val="98000"/>
            </a:srgbClr>
          </a:solidFill>
          <a:ln w="33020">
            <a:solidFill>
              <a:srgbClr val="FFE64C"/>
            </a:solidFill>
            <a:prstDash val="solid"/>
          </a:ln>
          <a:effectLst>
            <a:outerShdw blurRad="38100" dist="50800" dir="16200000" algn="bl" rotWithShape="0">
              <a:srgbClr val="FFE64C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 rot="1200000">
            <a:off x="8549640" y="1984248"/>
            <a:ext cx="658368" cy="658368"/>
          </a:xfrm>
          <a:prstGeom prst="star12">
            <a:avLst/>
          </a:prstGeom>
          <a:solidFill>
            <a:srgbClr val="13F3FF"/>
          </a:solidFill>
          <a:ln w="1397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8750808" y="21671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FX-zoom-4-step2"/>
          <p:cNvSpPr/>
          <p:nvPr/>
        </p:nvSpPr>
        <p:spPr>
          <a:xfrm>
            <a:off x="8622792" y="2788920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仕事が止まる</a:t>
            </a:r>
            <a:endParaRPr lang="en-US" sz="3500" dirty="0"/>
          </a:p>
        </p:txBody>
      </p:sp>
      <p:sp>
        <p:nvSpPr>
          <p:cNvPr id="31" name="Text 28"/>
          <p:cNvSpPr/>
          <p:nvPr/>
        </p:nvSpPr>
        <p:spPr>
          <a:xfrm>
            <a:off x="8558784" y="3803904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注文・出荷を手で対応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5216" y="4937760"/>
            <a:ext cx="11018520" cy="914400"/>
          </a:xfrm>
          <a:prstGeom prst="roundRect">
            <a:avLst>
              <a:gd name="adj" fmla="val 20000"/>
            </a:avLst>
          </a:prstGeom>
          <a:solidFill>
            <a:srgbClr val="FFFCF4">
              <a:alpha val="98000"/>
            </a:srgbClr>
          </a:solidFill>
          <a:ln w="33020">
            <a:solidFill>
              <a:srgbClr val="36FFC9"/>
            </a:solidFill>
            <a:prstDash val="solid"/>
          </a:ln>
          <a:effectLst>
            <a:outerShdw blurRad="38100" dist="50800" dir="16200000" algn="bl" rotWithShape="0">
              <a:srgbClr val="36FFC9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33" name="FX-fade-4-recovery"/>
          <p:cNvSpPr/>
          <p:nvPr/>
        </p:nvSpPr>
        <p:spPr>
          <a:xfrm>
            <a:off x="905256" y="5184648"/>
            <a:ext cx="10469880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ネット注文は12/2〜3に再開
物流は2026年2月ごろ落ち着いた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13232" y="6044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※少しずつ元にもどった。
システムごとに時期はちがう。</a:t>
            </a:r>
            <a:endParaRPr lang="en-US" sz="11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0" dur="6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4" dur="6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8" dur="6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2984602" cy="329184"/>
          </a:xfrm>
          <a:prstGeom prst="roundRect">
            <a:avLst>
              <a:gd name="adj" fmla="val 19444"/>
            </a:avLst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278343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  /  CASE 02 : HOSPITAL</a:t>
            </a:r>
            <a:endParaRPr lang="en-US" sz="1100" dirty="0"/>
          </a:p>
        </p:txBody>
      </p:sp>
      <p:sp>
        <p:nvSpPr>
          <p:cNvPr id="10" name="FX-zoom-5-title"/>
          <p:cNvSpPr/>
          <p:nvPr/>
        </p:nvSpPr>
        <p:spPr>
          <a:xfrm>
            <a:off x="502920" y="722376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病院が止まった。
元にもどるまで「73日」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484632" y="651967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出典：大阪急性期・総合医療センター 調査委員会報告書／厚労省研修資料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rot="420000">
            <a:off x="868680" y="1691640"/>
            <a:ext cx="3886200" cy="3886200"/>
          </a:xfrm>
          <a:prstGeom prst="star12">
            <a:avLst/>
          </a:prstGeom>
          <a:solidFill>
            <a:srgbClr val="FF1DA6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 rot="1320000">
            <a:off x="1353312" y="2103120"/>
            <a:ext cx="2916936" cy="2916936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FX-zoom-5-days"/>
          <p:cNvSpPr/>
          <p:nvPr/>
        </p:nvSpPr>
        <p:spPr>
          <a:xfrm>
            <a:off x="1572768" y="2660904"/>
            <a:ext cx="2386584" cy="9875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73</a:t>
            </a:r>
            <a:endParaRPr lang="en-US" sz="6800" dirty="0"/>
          </a:p>
        </p:txBody>
      </p:sp>
      <p:sp>
        <p:nvSpPr>
          <p:cNvPr id="16" name="Text 13"/>
          <p:cNvSpPr/>
          <p:nvPr/>
        </p:nvSpPr>
        <p:spPr>
          <a:xfrm>
            <a:off x="1600200" y="3657600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DAYS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586984" y="1920240"/>
            <a:ext cx="5715000" cy="1417320"/>
          </a:xfrm>
          <a:prstGeom prst="roundRect">
            <a:avLst>
              <a:gd name="adj" fmla="val 12903"/>
            </a:avLst>
          </a:prstGeom>
          <a:solidFill>
            <a:srgbClr val="FFF7FC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FX-zoom-5-pc"/>
          <p:cNvSpPr/>
          <p:nvPr/>
        </p:nvSpPr>
        <p:spPr>
          <a:xfrm>
            <a:off x="5989320" y="2194560"/>
            <a:ext cx="4846320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6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約2,200台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6016752" y="288036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パソコンに入りこまれた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586984" y="3611880"/>
            <a:ext cx="5715000" cy="1417320"/>
          </a:xfrm>
          <a:prstGeom prst="roundRect">
            <a:avLst>
              <a:gd name="adj" fmla="val 12903"/>
            </a:avLst>
          </a:prstGeom>
          <a:solidFill>
            <a:srgbClr val="FAFFF2">
              <a:alpha val="98000"/>
            </a:srgbClr>
          </a:solidFill>
          <a:ln w="33020">
            <a:solidFill>
              <a:srgbClr val="FFE64C"/>
            </a:solidFill>
            <a:prstDash val="solid"/>
          </a:ln>
          <a:effectLst>
            <a:outerShdw blurRad="38100" dist="50800" dir="16200000" algn="bl" rotWithShape="0">
              <a:srgbClr val="FFE64C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FX-zoom-5-cost"/>
          <p:cNvSpPr/>
          <p:nvPr/>
        </p:nvSpPr>
        <p:spPr>
          <a:xfrm>
            <a:off x="5989320" y="3886200"/>
            <a:ext cx="4846320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数億円以上</a:t>
            </a:r>
            <a:endParaRPr lang="en-US" sz="3700" dirty="0"/>
          </a:p>
        </p:txBody>
      </p:sp>
      <p:sp>
        <p:nvSpPr>
          <p:cNvPr id="22" name="Text 19"/>
          <p:cNvSpPr/>
          <p:nvPr/>
        </p:nvSpPr>
        <p:spPr>
          <a:xfrm>
            <a:off x="6016752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なおすのにお金がかかった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1248" y="5687568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カルテ停止 → </a:t>
            </a:r>
            <a:r>
              <a:rPr lang="en-US" sz="2100" b="1" dirty="0" err="1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診療しにくい</a:t>
            </a:r>
            <a:r>
              <a:rPr lang="en-US" sz="2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なおすのも大変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630936" y="6172200"/>
            <a:ext cx="10789920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発生：2022年10月31日
数字は当時の公表値</a:t>
            </a:r>
            <a:endParaRPr lang="en-US" sz="1000" dirty="0"/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0" dur="6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4" dur="6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8" dur="6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2688336" cy="329184"/>
          </a:xfrm>
          <a:prstGeom prst="roundRect">
            <a:avLst>
              <a:gd name="adj" fmla="val 19444"/>
            </a:avLst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  /  INSURANCE POWER</a:t>
            </a:r>
            <a:endParaRPr lang="en-US" sz="1100" dirty="0"/>
          </a:p>
        </p:txBody>
      </p:sp>
      <p:sp>
        <p:nvSpPr>
          <p:cNvPr id="10" name="FX-zoom-8-title"/>
          <p:cNvSpPr/>
          <p:nvPr/>
        </p:nvSpPr>
        <p:spPr>
          <a:xfrm>
            <a:off x="502920" y="722376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セキュリティ対策は、
人でいう「保険」みたいなもの！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484632" y="651967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出典：一般的なリスクマネジメントに基づく概念的な比喩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" y="1627632"/>
            <a:ext cx="2267712" cy="329184"/>
          </a:xfrm>
          <a:prstGeom prst="roundRect">
            <a:avLst>
              <a:gd name="adj" fmla="val 19444"/>
            </a:avLst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22376" y="1650492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人のそなえ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1627632"/>
            <a:ext cx="2267712" cy="329184"/>
          </a:xfrm>
          <a:prstGeom prst="roundRect">
            <a:avLst>
              <a:gd name="adj" fmla="val 19444"/>
            </a:avLst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781544" y="1650492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会社のそなえ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2194560"/>
            <a:ext cx="4718304" cy="832104"/>
          </a:xfrm>
          <a:prstGeom prst="roundRect">
            <a:avLst>
              <a:gd name="adj" fmla="val 21978"/>
            </a:avLst>
          </a:prstGeom>
          <a:solidFill>
            <a:srgbClr val="FFF3FC">
              <a:alpha val="98000"/>
            </a:srgbClr>
          </a:solidFill>
          <a:ln w="33020">
            <a:solidFill>
              <a:srgbClr val="FFE64C"/>
            </a:solidFill>
            <a:prstDash val="solid"/>
          </a:ln>
          <a:effectLst>
            <a:outerShdw blurRad="38100" dist="50800" dir="16200000" algn="bl" rotWithShape="0">
              <a:srgbClr val="FFE64C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739128" y="2194560"/>
            <a:ext cx="4754880" cy="832104"/>
          </a:xfrm>
          <a:prstGeom prst="roundRect">
            <a:avLst>
              <a:gd name="adj" fmla="val 21978"/>
            </a:avLst>
          </a:prstGeom>
          <a:solidFill>
            <a:srgbClr val="F0FFFF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FX-fade-8-human0"/>
          <p:cNvSpPr/>
          <p:nvPr/>
        </p:nvSpPr>
        <p:spPr>
          <a:xfrm>
            <a:off x="868680" y="2395728"/>
            <a:ext cx="432511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健康チェック・予防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5568696" y="2322576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⇔</a:t>
            </a:r>
            <a:endParaRPr lang="en-US" sz="3000" dirty="0"/>
          </a:p>
        </p:txBody>
      </p:sp>
      <p:sp>
        <p:nvSpPr>
          <p:cNvPr id="21" name="FX-fade-8-company0"/>
          <p:cNvSpPr/>
          <p:nvPr/>
        </p:nvSpPr>
        <p:spPr>
          <a:xfrm>
            <a:off x="6931152" y="2395728"/>
            <a:ext cx="43799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弱いところチェック・2段階ログイン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58368" y="3291840"/>
            <a:ext cx="4718304" cy="832104"/>
          </a:xfrm>
          <a:prstGeom prst="roundRect">
            <a:avLst>
              <a:gd name="adj" fmla="val 21978"/>
            </a:avLst>
          </a:prstGeom>
          <a:solidFill>
            <a:srgbClr val="FFFBEC">
              <a:alpha val="98000"/>
            </a:srgbClr>
          </a:solidFill>
          <a:ln w="33020">
            <a:solidFill>
              <a:srgbClr val="FFE64C"/>
            </a:solidFill>
            <a:prstDash val="solid"/>
          </a:ln>
          <a:effectLst>
            <a:outerShdw blurRad="38100" dist="50800" dir="16200000" algn="bl" rotWithShape="0">
              <a:srgbClr val="FFE64C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6739128" y="3291840"/>
            <a:ext cx="4754880" cy="832104"/>
          </a:xfrm>
          <a:prstGeom prst="roundRect">
            <a:avLst>
              <a:gd name="adj" fmla="val 21978"/>
            </a:avLst>
          </a:prstGeom>
          <a:solidFill>
            <a:srgbClr val="FFF3FC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FX-fade-8-human1"/>
          <p:cNvSpPr/>
          <p:nvPr/>
        </p:nvSpPr>
        <p:spPr>
          <a:xfrm>
            <a:off x="868680" y="3493008"/>
            <a:ext cx="432511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早く見つける・早くなおす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5568696" y="3419856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⇔</a:t>
            </a:r>
            <a:endParaRPr lang="en-US" sz="3000" dirty="0"/>
          </a:p>
        </p:txBody>
      </p:sp>
      <p:sp>
        <p:nvSpPr>
          <p:cNvPr id="26" name="FX-fade-8-company1"/>
          <p:cNvSpPr/>
          <p:nvPr/>
        </p:nvSpPr>
        <p:spPr>
          <a:xfrm>
            <a:off x="6931152" y="3493008"/>
            <a:ext cx="43799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見張り・すぐ対応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58368" y="4389120"/>
            <a:ext cx="4718304" cy="832104"/>
          </a:xfrm>
          <a:prstGeom prst="roundRect">
            <a:avLst>
              <a:gd name="adj" fmla="val 21978"/>
            </a:avLst>
          </a:prstGeom>
          <a:solidFill>
            <a:srgbClr val="F0FFFF">
              <a:alpha val="98000"/>
            </a:srgbClr>
          </a:solidFill>
          <a:ln w="33020">
            <a:solidFill>
              <a:srgbClr val="FFE64C"/>
            </a:solidFill>
            <a:prstDash val="solid"/>
          </a:ln>
          <a:effectLst>
            <a:outerShdw blurRad="38100" dist="50800" dir="16200000" algn="bl" rotWithShape="0">
              <a:srgbClr val="FFE64C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6739128" y="4389120"/>
            <a:ext cx="4754880" cy="832104"/>
          </a:xfrm>
          <a:prstGeom prst="roundRect">
            <a:avLst>
              <a:gd name="adj" fmla="val 21978"/>
            </a:avLst>
          </a:prstGeom>
          <a:solidFill>
            <a:srgbClr val="FFFBEC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FX-fade-8-human2"/>
          <p:cNvSpPr/>
          <p:nvPr/>
        </p:nvSpPr>
        <p:spPr>
          <a:xfrm>
            <a:off x="868680" y="4590288"/>
            <a:ext cx="432511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大けがへのそなえ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5568696" y="4517136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⇔</a:t>
            </a:r>
            <a:endParaRPr lang="en-US" sz="3000" dirty="0"/>
          </a:p>
        </p:txBody>
      </p:sp>
      <p:sp>
        <p:nvSpPr>
          <p:cNvPr id="31" name="FX-fade-8-company2"/>
          <p:cNvSpPr/>
          <p:nvPr/>
        </p:nvSpPr>
        <p:spPr>
          <a:xfrm>
            <a:off x="6931152" y="4590288"/>
            <a:ext cx="43799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データのコピー・もどす練習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 rot="-120000">
            <a:off x="2167128" y="5760720"/>
            <a:ext cx="7754112" cy="429768"/>
          </a:xfrm>
          <a:prstGeom prst="roundRect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2276856" y="5801868"/>
            <a:ext cx="753465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全部は防げなくても、
ダメージは減らせる！</a:t>
            </a:r>
            <a:endParaRPr lang="en-US" sz="1500" dirty="0"/>
          </a:p>
        </p:txBody>
      </p:sp>
    </p:spTree>
  </p:cSld>
  <p:clrMapOvr>
    <a:masterClrMapping/>
  </p:clrMapOvr>
  <p:transition spd="med">
    <p:wheel spokes="6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2490826" cy="329184"/>
          </a:xfrm>
          <a:prstGeom prst="roundRect">
            <a:avLst>
              <a:gd name="adj" fmla="val 19444"/>
            </a:avLst>
          </a:prstGeom>
          <a:solidFill>
            <a:srgbClr val="13F3FF"/>
          </a:solidFill>
          <a:ln w="25400">
            <a:solidFill>
              <a:srgbClr val="13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228965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 /  BOSS DECISION</a:t>
            </a:r>
            <a:endParaRPr lang="en-US" sz="1100" dirty="0"/>
          </a:p>
        </p:txBody>
      </p:sp>
      <p:sp>
        <p:nvSpPr>
          <p:cNvPr id="10" name="FX-zoom-11-title"/>
          <p:cNvSpPr/>
          <p:nvPr/>
        </p:nvSpPr>
        <p:spPr>
          <a:xfrm>
            <a:off x="502920" y="722376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えらい人が決めることは、
たったの3つ！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484632" y="651967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出典：提案者による改善提言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1865376"/>
            <a:ext cx="3410712" cy="3163824"/>
          </a:xfrm>
          <a:prstGeom prst="roundRect">
            <a:avLst>
              <a:gd name="adj" fmla="val 5780"/>
            </a:avLst>
          </a:prstGeom>
          <a:solidFill>
            <a:srgbClr val="FFF1FA">
              <a:alpha val="98000"/>
            </a:srgbClr>
          </a:solidFill>
          <a:ln w="33020">
            <a:solidFill>
              <a:srgbClr val="FF4FD8"/>
            </a:solidFill>
            <a:prstDash val="solid"/>
          </a:ln>
          <a:effectLst>
            <a:outerShdw blurRad="38100" dist="50800" dir="16200000" algn="bl" rotWithShape="0">
              <a:srgbClr val="FF4FD8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795528" y="2185416"/>
            <a:ext cx="1088136" cy="1088136"/>
          </a:xfrm>
          <a:prstGeom prst="star12">
            <a:avLst/>
          </a:prstGeom>
          <a:solidFill>
            <a:srgbClr val="FF4FD8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FX-zoom-11-stamp0"/>
          <p:cNvSpPr/>
          <p:nvPr/>
        </p:nvSpPr>
        <p:spPr>
          <a:xfrm>
            <a:off x="1078992" y="24414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704088" y="3346704"/>
            <a:ext cx="2990088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大事な仕事を決める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713232" y="4178808"/>
            <a:ext cx="297180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943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止まると困る仕事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07408" y="1865376"/>
            <a:ext cx="3410712" cy="3163824"/>
          </a:xfrm>
          <a:prstGeom prst="roundRect">
            <a:avLst>
              <a:gd name="adj" fmla="val 5780"/>
            </a:avLst>
          </a:prstGeom>
          <a:solidFill>
            <a:srgbClr val="F2FFFA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 rot="1140000">
            <a:off x="4700016" y="2185416"/>
            <a:ext cx="1088136" cy="1088136"/>
          </a:xfrm>
          <a:prstGeom prst="star12">
            <a:avLst/>
          </a:prstGeom>
          <a:solidFill>
            <a:srgbClr val="13F3FF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FX-zoom-11-stamp1"/>
          <p:cNvSpPr/>
          <p:nvPr/>
        </p:nvSpPr>
        <p:spPr>
          <a:xfrm>
            <a:off x="4983480" y="24414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</a:t>
            </a:r>
            <a:endParaRPr lang="en-US" sz="3100" dirty="0"/>
          </a:p>
        </p:txBody>
      </p:sp>
      <p:sp>
        <p:nvSpPr>
          <p:cNvPr id="21" name="Text 18"/>
          <p:cNvSpPr/>
          <p:nvPr/>
        </p:nvSpPr>
        <p:spPr>
          <a:xfrm>
            <a:off x="4608576" y="3346704"/>
            <a:ext cx="2990088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ja-JP" altLang="en-US" sz="2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おきたら</a:t>
            </a:r>
            <a:r>
              <a:rPr lang="en-US" sz="2100" b="1" dirty="0" err="1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もどす</a:t>
            </a:r>
            <a:r>
              <a:rPr lang="en-US" sz="2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？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4617720" y="4178808"/>
            <a:ext cx="297180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943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どれくらい止まるとアウトか
どれから先にもどすか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311896" y="1865376"/>
            <a:ext cx="3410712" cy="3163824"/>
          </a:xfrm>
          <a:prstGeom prst="roundRect">
            <a:avLst>
              <a:gd name="adj" fmla="val 5780"/>
            </a:avLst>
          </a:prstGeom>
          <a:solidFill>
            <a:srgbClr val="FFFCEC">
              <a:alpha val="98000"/>
            </a:srgbClr>
          </a:solidFill>
          <a:ln w="33020">
            <a:solidFill>
              <a:srgbClr val="FFE64C"/>
            </a:solidFill>
            <a:prstDash val="solid"/>
          </a:ln>
          <a:effectLst>
            <a:outerShdw blurRad="38100" dist="50800" dir="16200000" algn="bl" rotWithShape="0">
              <a:srgbClr val="FFE64C">
                <a:alpha val="2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 rot="2280000">
            <a:off x="8604504" y="2185416"/>
            <a:ext cx="1088136" cy="1088136"/>
          </a:xfrm>
          <a:prstGeom prst="star12">
            <a:avLst/>
          </a:prstGeom>
          <a:solidFill>
            <a:srgbClr val="FFE64C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FX-zoom-11-stamp2"/>
          <p:cNvSpPr/>
          <p:nvPr/>
        </p:nvSpPr>
        <p:spPr>
          <a:xfrm>
            <a:off x="8887968" y="24414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</a:t>
            </a:r>
            <a:endParaRPr lang="en-US" sz="3100" dirty="0"/>
          </a:p>
        </p:txBody>
      </p:sp>
      <p:sp>
        <p:nvSpPr>
          <p:cNvPr id="26" name="Text 23"/>
          <p:cNvSpPr/>
          <p:nvPr/>
        </p:nvSpPr>
        <p:spPr>
          <a:xfrm>
            <a:off x="8513064" y="3346704"/>
            <a:ext cx="2990088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守るお金を決める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8522208" y="4178808"/>
            <a:ext cx="297180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943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だれがやるか・いつまでか・練習のお金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 rot="-120000">
            <a:off x="640080" y="5623560"/>
            <a:ext cx="10936224" cy="429768"/>
          </a:xfrm>
          <a:prstGeom prst="roundRect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749808" y="5664708"/>
            <a:ext cx="10716768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目標は「ゼロ事故」より
「止まっても立て直せる会社」</a:t>
            </a:r>
            <a:endParaRPr lang="en-US" sz="1500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0" dur="6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4" dur="6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18" dur="6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on_security_work/bg_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61320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 rot="1320000">
            <a:off x="10872216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 rot="2640000">
            <a:off x="11183112" y="137160"/>
            <a:ext cx="118872" cy="118872"/>
          </a:xfrm>
          <a:prstGeom prst="star8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 rot="3960000">
            <a:off x="11494008" y="274320"/>
            <a:ext cx="192024" cy="192024"/>
          </a:xfrm>
          <a:prstGeom prst="star8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11480" y="6400800"/>
            <a:ext cx="11384280" cy="32918"/>
          </a:xfrm>
          <a:prstGeom prst="rect">
            <a:avLst/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66344" y="228600"/>
            <a:ext cx="2194560" cy="329184"/>
          </a:xfrm>
          <a:prstGeom prst="roundRect">
            <a:avLst>
              <a:gd name="adj" fmla="val 19444"/>
            </a:avLst>
          </a:prstGeom>
          <a:solidFill>
            <a:srgbClr val="FF4FD8"/>
          </a:solidFill>
          <a:ln w="25400">
            <a:solidFill>
              <a:srgbClr val="FF4F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6928" y="25146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  /  FACT CHECK</a:t>
            </a:r>
            <a:endParaRPr lang="en-US" sz="1100" dirty="0"/>
          </a:p>
        </p:txBody>
      </p:sp>
      <p:sp>
        <p:nvSpPr>
          <p:cNvPr id="10" name="FX-zoom-12-title"/>
          <p:cNvSpPr/>
          <p:nvPr/>
        </p:nvSpPr>
        <p:spPr>
          <a:xfrm>
            <a:off x="502920" y="722376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出典もあるよ！
数字のもとを見てみよう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484632" y="651967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出典：各公開資料の参照先（2026年10月）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11219688" y="650138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47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1773936"/>
            <a:ext cx="11082528" cy="621792"/>
          </a:xfrm>
          <a:prstGeom prst="roundRect">
            <a:avLst>
              <a:gd name="adj" fmla="val 29412"/>
            </a:avLst>
          </a:prstGeom>
          <a:solidFill>
            <a:srgbClr val="FFFFFF">
              <a:alpha val="98000"/>
            </a:srgbClr>
          </a:solidFill>
          <a:ln w="33020">
            <a:solidFill>
              <a:srgbClr val="FF4FD8"/>
            </a:solidFill>
            <a:prstDash val="solid"/>
          </a:ln>
          <a:effectLst>
            <a:outerShdw blurRad="38100" dist="50800" dir="16200000" algn="bl" rotWithShape="0">
              <a:srgbClr val="FF4FD8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68096" y="1938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FX-fade-12-ref0"/>
          <p:cNvSpPr/>
          <p:nvPr/>
        </p:nvSpPr>
        <p:spPr>
          <a:xfrm>
            <a:off x="1389888" y="182422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警察庁｜不正アクセスの
見つかった数（2025年）</a:t>
            </a:r>
            <a:endParaRPr lang="en-US" sz="1500" dirty="0"/>
          </a:p>
        </p:txBody>
      </p:sp>
      <p:sp>
        <p:nvSpPr>
          <p:cNvPr id="16" name="Text 13">
            <a:hlinkClick r:id="rId4"/>
          </p:cNvPr>
          <p:cNvSpPr/>
          <p:nvPr/>
        </p:nvSpPr>
        <p:spPr>
          <a:xfrm>
            <a:off x="1389888" y="2093976"/>
            <a:ext cx="98023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u="sng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https://www.npa.go.jp/bureau/cyber/pdf/R080312_access.pdf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523744"/>
            <a:ext cx="11082528" cy="621792"/>
          </a:xfrm>
          <a:prstGeom prst="roundRect">
            <a:avLst>
              <a:gd name="adj" fmla="val 29412"/>
            </a:avLst>
          </a:prstGeom>
          <a:solidFill>
            <a:srgbClr val="FFF7FB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768096" y="268833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6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FX-fade-12-ref1"/>
          <p:cNvSpPr/>
          <p:nvPr/>
        </p:nvSpPr>
        <p:spPr>
          <a:xfrm>
            <a:off x="1389888" y="2574036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アサヒグループHD｜入りこまれた原因・
元にもどす流れ（2026年2月）</a:t>
            </a:r>
            <a:endParaRPr lang="en-US" sz="1500" dirty="0"/>
          </a:p>
        </p:txBody>
      </p:sp>
      <p:sp>
        <p:nvSpPr>
          <p:cNvPr id="20" name="Text 17">
            <a:hlinkClick r:id="rId5"/>
          </p:cNvPr>
          <p:cNvSpPr/>
          <p:nvPr/>
        </p:nvSpPr>
        <p:spPr>
          <a:xfrm>
            <a:off x="1389888" y="2843784"/>
            <a:ext cx="98023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u="sng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https://www.asahigroup-holdings.com/newsroom/detail/20260218-0101.html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273552"/>
            <a:ext cx="11082528" cy="621792"/>
          </a:xfrm>
          <a:prstGeom prst="roundRect">
            <a:avLst>
              <a:gd name="adj" fmla="val 29412"/>
            </a:avLst>
          </a:prstGeom>
          <a:solidFill>
            <a:srgbClr val="F3FFFB">
              <a:alpha val="98000"/>
            </a:srgbClr>
          </a:solidFill>
          <a:ln w="33020">
            <a:solidFill>
              <a:srgbClr val="FF4FD8"/>
            </a:solidFill>
            <a:prstDash val="solid"/>
          </a:ln>
          <a:effectLst>
            <a:outerShdw blurRad="38100" dist="50800" dir="16200000" algn="bl" rotWithShape="0">
              <a:srgbClr val="FF4FD8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68096" y="3438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FX-fade-12-ref2"/>
          <p:cNvSpPr/>
          <p:nvPr/>
        </p:nvSpPr>
        <p:spPr>
          <a:xfrm>
            <a:off x="1389888" y="3323844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大阪急性期・総合医療センター｜報告資料</a:t>
            </a:r>
            <a:endParaRPr lang="en-US" sz="150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1389888" y="3593592"/>
            <a:ext cx="98023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u="sng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https://www.gh.opho.jp/incident/1.html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4023360"/>
            <a:ext cx="11082528" cy="621792"/>
          </a:xfrm>
          <a:prstGeom prst="roundRect">
            <a:avLst>
              <a:gd name="adj" fmla="val 29412"/>
            </a:avLst>
          </a:prstGeom>
          <a:solidFill>
            <a:srgbClr val="FFFFFF">
              <a:alpha val="98000"/>
            </a:srgbClr>
          </a:solidFill>
          <a:ln w="33020">
            <a:solidFill>
              <a:srgbClr val="13F3FF"/>
            </a:solidFill>
            <a:prstDash val="solid"/>
          </a:ln>
          <a:effectLst>
            <a:outerShdw blurRad="38100" dist="50800" dir="16200000" algn="bl" rotWithShape="0">
              <a:srgbClr val="13F3FF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768096" y="4187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6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FX-fade-12-ref3"/>
          <p:cNvSpPr/>
          <p:nvPr/>
        </p:nvSpPr>
        <p:spPr>
          <a:xfrm>
            <a:off x="1389888" y="4073652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国土交通省｜名古屋港のランサムウェア被害</a:t>
            </a:r>
            <a:endParaRPr lang="en-US" sz="1500" dirty="0"/>
          </a:p>
        </p:txBody>
      </p:sp>
      <p:sp>
        <p:nvSpPr>
          <p:cNvPr id="28" name="Text 25">
            <a:hlinkClick r:id="rId7"/>
          </p:cNvPr>
          <p:cNvSpPr/>
          <p:nvPr/>
        </p:nvSpPr>
        <p:spPr>
          <a:xfrm>
            <a:off x="1389888" y="4343400"/>
            <a:ext cx="98023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u="sng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https://www.mlit.go.jp/kowan/content/001879954.pdf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4773168"/>
            <a:ext cx="11082528" cy="621792"/>
          </a:xfrm>
          <a:prstGeom prst="roundRect">
            <a:avLst>
              <a:gd name="adj" fmla="val 29412"/>
            </a:avLst>
          </a:prstGeom>
          <a:solidFill>
            <a:srgbClr val="FFF7FB">
              <a:alpha val="98000"/>
            </a:srgbClr>
          </a:solidFill>
          <a:ln w="33020">
            <a:solidFill>
              <a:srgbClr val="FF4FD8"/>
            </a:solidFill>
            <a:prstDash val="solid"/>
          </a:ln>
          <a:effectLst>
            <a:outerShdw blurRad="38100" dist="50800" dir="16200000" algn="bl" rotWithShape="0">
              <a:srgbClr val="FF4FD8">
                <a:alpha val="27000"/>
              </a:srgb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768096" y="49377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30F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FX-fade-12-ref4"/>
          <p:cNvSpPr/>
          <p:nvPr/>
        </p:nvSpPr>
        <p:spPr>
          <a:xfrm>
            <a:off x="1389888" y="4823460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80E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IPA｜情報セキュリティ10大脅威</a:t>
            </a:r>
            <a:endParaRPr lang="en-US" sz="1500" dirty="0"/>
          </a:p>
        </p:txBody>
      </p:sp>
      <p:sp>
        <p:nvSpPr>
          <p:cNvPr id="32" name="Text 29">
            <a:hlinkClick r:id="rId8"/>
          </p:cNvPr>
          <p:cNvSpPr/>
          <p:nvPr/>
        </p:nvSpPr>
        <p:spPr>
          <a:xfrm>
            <a:off x="1389888" y="5093208"/>
            <a:ext cx="98023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u="sng" dirty="0">
                <a:solidFill>
                  <a:srgbClr val="4B33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https://www.ipa.go.jp/security/10threats/index.html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9808" y="5852160"/>
            <a:ext cx="10607040" cy="475488"/>
          </a:xfrm>
          <a:prstGeom prst="roundRect">
            <a:avLst/>
          </a:prstGeom>
          <a:solidFill>
            <a:srgbClr val="FFE64C"/>
          </a:solidFill>
          <a:ln w="25400">
            <a:solidFill>
              <a:srgbClr val="FFE64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941832" y="5952744"/>
            <a:ext cx="10222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</a:t>
            </a:r>
            <a:r>
              <a:rPr lang="en-US" sz="1300" b="1" dirty="0" err="1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直した範囲や仕事の広さは事例ごとにちがうので、単純くらべはしないよ</a:t>
            </a:r>
            <a:r>
              <a:rPr lang="en-US" sz="1300" b="1" dirty="0">
                <a:solidFill>
                  <a:srgbClr val="110C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 prLst="in">
                                <p:cBhvr>
                                  <p:cTn id="6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470</Words>
  <Application>Microsoft Office PowerPoint</Application>
  <PresentationFormat>ワイド画面</PresentationFormat>
  <Paragraphs>140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Noto Sans CJK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サイバー攻撃！ド派手エディション</dc:title>
  <dc:subject>国内セキュリティインシデント：ネオンゲーム風</dc:subject>
  <dc:creator>OpenAI</dc:creator>
  <cp:lastModifiedBy>良基 牛島</cp:lastModifiedBy>
  <cp:revision>2</cp:revision>
  <dcterms:created xsi:type="dcterms:W3CDTF">2026-10-21T23:38:25Z</dcterms:created>
  <dcterms:modified xsi:type="dcterms:W3CDTF">2026-10-22T20:49:04Z</dcterms:modified>
</cp:coreProperties>
</file>