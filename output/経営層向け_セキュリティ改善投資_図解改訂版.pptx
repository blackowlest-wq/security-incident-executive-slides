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6" r:id="rId8"/>
    <p:sldId id="265" r:id="rId9"/>
    <p:sldId id="270" r:id="rId10"/>
    <p:sldId id="271" r:id="rId11"/>
    <p:sldId id="272" r:id="rId12"/>
    <p:sldId id="273" r:id="rId1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66" d="100"/>
          <a:sy n="66" d="100"/>
        </p:scale>
        <p:origin x="644" y="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1"/>
  <c:style val="2"/>
  <c:chart>
    <c:autoTitleDeleted val="1"/>
    <c:plotArea>
      <c:layout/>
      <c:barChart>
        <c:barDir val="col"/>
        <c:grouping val="clustered"/>
        <c:varyColors val="0"/>
        <c:ser>
          <c:idx val="0"/>
          <c:order val="0"/>
          <c:tx>
            <c:strRef>
              <c:f>Sheet1!$B$1</c:f>
              <c:strCache>
                <c:ptCount val="1"/>
                <c:pt idx="0">
                  <c:v>不正アクセスの認知</c:v>
                </c:pt>
              </c:strCache>
            </c:strRef>
          </c:tx>
          <c:spPr>
            <a:solidFill>
              <a:srgbClr val="13263D"/>
            </a:solidFill>
            <a:effectLst/>
          </c:spPr>
          <c:invertIfNegative val="0"/>
          <c:dLbls>
            <c:numFmt formatCode="#,##0" sourceLinked="0"/>
            <c:spPr>
              <a:noFill/>
              <a:ln>
                <a:noFill/>
              </a:ln>
              <a:effectLst/>
            </c:spPr>
            <c:txPr>
              <a:bodyPr/>
              <a:lstStyle/>
              <a:p>
                <a:pPr>
                  <a:defRPr sz="1700" b="0" i="0" u="none" strike="noStrike">
                    <a:solidFill>
                      <a:srgbClr val="13263D"/>
                    </a:solidFill>
                    <a:latin typeface="Yu Gothic"/>
                  </a:defRPr>
                </a:pPr>
                <a:endParaRPr lang="ja-JP"/>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2021</c:v>
                </c:pt>
                <c:pt idx="1">
                  <c:v>2022</c:v>
                </c:pt>
                <c:pt idx="2">
                  <c:v>2023</c:v>
                </c:pt>
                <c:pt idx="3">
                  <c:v>2024</c:v>
                </c:pt>
                <c:pt idx="4">
                  <c:v>2025</c:v>
                </c:pt>
              </c:strCache>
            </c:strRef>
          </c:cat>
          <c:val>
            <c:numRef>
              <c:f>Sheet1!$B$2:$B$6</c:f>
              <c:numCache>
                <c:formatCode>General</c:formatCode>
                <c:ptCount val="5"/>
                <c:pt idx="0">
                  <c:v>1516</c:v>
                </c:pt>
                <c:pt idx="1">
                  <c:v>2200</c:v>
                </c:pt>
                <c:pt idx="2">
                  <c:v>6312</c:v>
                </c:pt>
                <c:pt idx="3">
                  <c:v>5358</c:v>
                </c:pt>
                <c:pt idx="4">
                  <c:v>7190</c:v>
                </c:pt>
              </c:numCache>
            </c:numRef>
          </c:val>
          <c:extLst>
            <c:ext xmlns:c16="http://schemas.microsoft.com/office/drawing/2014/chart" uri="{C3380CC4-5D6E-409C-BE32-E72D297353CC}">
              <c16:uniqueId val="{00000000-8416-4D77-BB50-C89C593024A1}"/>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none"/>
        <c:minorTickMark val="none"/>
        <c:tickLblPos val="low"/>
        <c:spPr>
          <a:ln w="12700" cap="flat">
            <a:solidFill>
              <a:srgbClr val="D4DCE4"/>
            </a:solidFill>
            <a:prstDash val="solid"/>
            <a:round/>
          </a:ln>
        </c:spPr>
        <c:txPr>
          <a:bodyPr/>
          <a:lstStyle/>
          <a:p>
            <a:pPr>
              <a:defRPr sz="1600" b="0" i="0" u="none" strike="noStrike">
                <a:solidFill>
                  <a:srgbClr val="526174"/>
                </a:solidFill>
                <a:latin typeface="Yu Gothic"/>
              </a:defRPr>
            </a:pPr>
            <a:endParaRPr lang="en-US"/>
          </a:p>
        </c:txPr>
        <c:crossAx val="2094734552"/>
        <c:crosses val="autoZero"/>
        <c:auto val="1"/>
        <c:lblAlgn val="ctr"/>
        <c:lblOffset val="100"/>
        <c:noMultiLvlLbl val="1"/>
      </c:catAx>
      <c:valAx>
        <c:axId val="2094734552"/>
        <c:scaling>
          <c:orientation val="minMax"/>
          <c:max val="8000"/>
          <c:min val="0"/>
        </c:scaling>
        <c:delete val="0"/>
        <c:axPos val="l"/>
        <c:majorGridlines>
          <c:spPr>
            <a:ln w="12700" cap="flat">
              <a:solidFill>
                <a:srgbClr val="D4DCE4"/>
              </a:solidFill>
              <a:prstDash val="solid"/>
              <a:round/>
            </a:ln>
          </c:spPr>
        </c:majorGridlines>
        <c:numFmt formatCode="General" sourceLinked="0"/>
        <c:majorTickMark val="none"/>
        <c:minorTickMark val="none"/>
        <c:tickLblPos val="nextTo"/>
        <c:spPr>
          <a:ln w="12700" cap="flat">
            <a:noFill/>
            <a:prstDash val="solid"/>
            <a:round/>
          </a:ln>
        </c:spPr>
        <c:txPr>
          <a:bodyPr/>
          <a:lstStyle/>
          <a:p>
            <a:pPr>
              <a:defRPr sz="1200" b="0" i="0" u="none" strike="noStrike">
                <a:solidFill>
                  <a:srgbClr val="526174"/>
                </a:solidFill>
                <a:latin typeface="Yu Gothic"/>
              </a:defRPr>
            </a:pPr>
            <a:endParaRPr lang="en-US"/>
          </a:p>
        </c:txPr>
        <c:crossAx val="2094734554"/>
        <c:crosses val="autoZero"/>
        <c:crossBetween val="between"/>
        <c:majorUnit val="2000"/>
      </c:valAx>
      <c:spPr>
        <a:solidFill>
          <a:srgbClr val="FFFFFF"/>
        </a:solidFill>
        <a:ln w="12700" cap="flat">
          <a:solidFill>
            <a:srgbClr val="FFFFFF"/>
          </a:solidFill>
        </a:ln>
        <a:effectLst/>
      </c:spPr>
    </c:plotArea>
    <c:plotVisOnly val="1"/>
    <c:dispBlanksAs val="span"/>
    <c:showDLblsOverMax val="1"/>
  </c:chart>
  <c:spPr>
    <a:solidFill>
      <a:srgbClr val="FFFFFF"/>
    </a:solidFill>
    <a:ln w="12700" cap="flat">
      <a:solidFill>
        <a:srgbClr val="FFFFFF"/>
      </a:solid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1"/>
  <c:style val="2"/>
  <c:chart>
    <c:autoTitleDeleted val="1"/>
    <c:plotArea>
      <c:layout/>
      <c:barChart>
        <c:barDir val="col"/>
        <c:grouping val="clustered"/>
        <c:varyColors val="0"/>
        <c:ser>
          <c:idx val="0"/>
          <c:order val="0"/>
          <c:tx>
            <c:strRef>
              <c:f>Sheet1!$B$1</c:f>
              <c:strCache>
                <c:ptCount val="1"/>
                <c:pt idx="0">
                  <c:v>幅広いインシデントの報告</c:v>
                </c:pt>
              </c:strCache>
            </c:strRef>
          </c:tx>
          <c:spPr>
            <a:solidFill>
              <a:srgbClr val="006B68"/>
            </a:solidFill>
            <a:effectLst/>
          </c:spPr>
          <c:invertIfNegative val="0"/>
          <c:dLbls>
            <c:numFmt formatCode="#,##0" sourceLinked="0"/>
            <c:spPr>
              <a:noFill/>
              <a:ln>
                <a:noFill/>
              </a:ln>
              <a:effectLst/>
            </c:spPr>
            <c:txPr>
              <a:bodyPr/>
              <a:lstStyle/>
              <a:p>
                <a:pPr>
                  <a:defRPr sz="1700" b="0" i="0" u="none" strike="noStrike">
                    <a:solidFill>
                      <a:srgbClr val="13263D"/>
                    </a:solidFill>
                    <a:latin typeface="Yu Gothic"/>
                  </a:defRPr>
                </a:pPr>
                <a:endParaRPr lang="ja-JP"/>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2025年
4～6月</c:v>
                </c:pt>
                <c:pt idx="1">
                  <c:v>2026年
4～6月</c:v>
                </c:pt>
              </c:strCache>
            </c:strRef>
          </c:cat>
          <c:val>
            <c:numRef>
              <c:f>Sheet1!$B$2:$B$3</c:f>
              <c:numCache>
                <c:formatCode>General</c:formatCode>
                <c:ptCount val="2"/>
                <c:pt idx="0">
                  <c:v>14558</c:v>
                </c:pt>
                <c:pt idx="1">
                  <c:v>14056</c:v>
                </c:pt>
              </c:numCache>
            </c:numRef>
          </c:val>
          <c:extLst>
            <c:ext xmlns:c16="http://schemas.microsoft.com/office/drawing/2014/chart" uri="{C3380CC4-5D6E-409C-BE32-E72D297353CC}">
              <c16:uniqueId val="{00000000-0923-40F8-89C6-9000517834EE}"/>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none"/>
        <c:minorTickMark val="none"/>
        <c:tickLblPos val="low"/>
        <c:spPr>
          <a:ln w="12700" cap="flat">
            <a:solidFill>
              <a:srgbClr val="D4DCE4"/>
            </a:solidFill>
            <a:prstDash val="solid"/>
            <a:round/>
          </a:ln>
        </c:spPr>
        <c:txPr>
          <a:bodyPr/>
          <a:lstStyle/>
          <a:p>
            <a:pPr>
              <a:defRPr sz="1600" b="0" i="0" u="none" strike="noStrike">
                <a:solidFill>
                  <a:srgbClr val="526174"/>
                </a:solidFill>
                <a:latin typeface="Yu Gothic"/>
              </a:defRPr>
            </a:pPr>
            <a:endParaRPr lang="en-US"/>
          </a:p>
        </c:txPr>
        <c:crossAx val="2094734552"/>
        <c:crosses val="autoZero"/>
        <c:auto val="1"/>
        <c:lblAlgn val="ctr"/>
        <c:lblOffset val="100"/>
        <c:noMultiLvlLbl val="1"/>
      </c:catAx>
      <c:valAx>
        <c:axId val="2094734552"/>
        <c:scaling>
          <c:orientation val="minMax"/>
          <c:max val="16000"/>
          <c:min val="0"/>
        </c:scaling>
        <c:delete val="0"/>
        <c:axPos val="l"/>
        <c:majorGridlines>
          <c:spPr>
            <a:ln w="12700" cap="flat">
              <a:solidFill>
                <a:srgbClr val="D4DCE4"/>
              </a:solidFill>
              <a:prstDash val="solid"/>
              <a:round/>
            </a:ln>
          </c:spPr>
        </c:majorGridlines>
        <c:numFmt formatCode="General" sourceLinked="0"/>
        <c:majorTickMark val="none"/>
        <c:minorTickMark val="none"/>
        <c:tickLblPos val="nextTo"/>
        <c:spPr>
          <a:ln w="12700" cap="flat">
            <a:noFill/>
            <a:prstDash val="solid"/>
            <a:round/>
          </a:ln>
        </c:spPr>
        <c:txPr>
          <a:bodyPr/>
          <a:lstStyle/>
          <a:p>
            <a:pPr>
              <a:defRPr sz="1200" b="0" i="0" u="none" strike="noStrike">
                <a:solidFill>
                  <a:srgbClr val="526174"/>
                </a:solidFill>
                <a:latin typeface="Yu Gothic"/>
              </a:defRPr>
            </a:pPr>
            <a:endParaRPr lang="en-US"/>
          </a:p>
        </c:txPr>
        <c:crossAx val="2094734554"/>
        <c:crosses val="autoZero"/>
        <c:crossBetween val="between"/>
        <c:majorUnit val="4000"/>
      </c:valAx>
      <c:spPr>
        <a:solidFill>
          <a:srgbClr val="FFFFFF"/>
        </a:solidFill>
        <a:ln w="12700" cap="flat">
          <a:solidFill>
            <a:srgbClr val="FFFFFF"/>
          </a:solidFill>
        </a:ln>
        <a:effectLst/>
      </c:spPr>
    </c:plotArea>
    <c:plotVisOnly val="1"/>
    <c:dispBlanksAs val="span"/>
    <c:showDLblsOverMax val="1"/>
  </c:chart>
  <c:spPr>
    <a:solidFill>
      <a:srgbClr val="FFFFFF"/>
    </a:solidFill>
    <a:ln w="12700" cap="flat">
      <a:solidFill>
        <a:srgbClr val="FFFFFF"/>
      </a:solid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86015993"/>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a:t>要点：重要業務の継続と復旧を目的に、改善投資を検討する。
説明の補助：対象は国内</a:t>
            </a:r>
            <a:r>
              <a:rPr lang="en-US" altLang="ja-JP"/>
              <a:t>3</a:t>
            </a:r>
            <a:r>
              <a:rPr lang="ja-JP" altLang="en-US"/>
              <a:t>事例と</a:t>
            </a:r>
            <a:r>
              <a:rPr lang="en-US" altLang="ja-JP"/>
              <a:t>PHP</a:t>
            </a:r>
            <a:r>
              <a:rPr lang="ja-JP" altLang="en-US"/>
              <a:t>開発元の最新公表。自社の被害報告ではなく、経営層向けの外部事例分析と投資提案。
情報基準日：</a:t>
            </a:r>
            <a:r>
              <a:rPr lang="en-US" altLang="ja-JP"/>
              <a:t>2026-10-22</a:t>
            </a:r>
            <a:r>
              <a:rPr lang="ja-JP" altLang="en-US"/>
              <a:t>（日本時間）
出典：
作成者の分析・提案。自社の実績・予算・効果を示すものではありません。
</a:t>
            </a:r>
            <a:r>
              <a:rPr lang="en-US" altLang="ja-JP"/>
              <a:t>1
</a:t>
            </a:r>
            <a:r>
              <a:rPr lang="ja-JP" altLang="en-US"/>
              <a:t>出典・補足：
調査基準日：</a:t>
            </a:r>
            <a:r>
              <a:rPr lang="en-US" altLang="ja-JP"/>
              <a:t>2026</a:t>
            </a:r>
            <a:r>
              <a:rPr lang="ja-JP" altLang="en-US"/>
              <a:t>年</a:t>
            </a:r>
            <a:r>
              <a:rPr lang="en-US" altLang="ja-JP"/>
              <a:t>10</a:t>
            </a:r>
            <a:r>
              <a:rPr lang="ja-JP" altLang="en-US"/>
              <a:t>月</a:t>
            </a:r>
            <a:r>
              <a:rPr lang="en-US" altLang="ja-JP"/>
              <a:t>22</a:t>
            </a:r>
            <a:r>
              <a:rPr lang="ja-JP" altLang="en-US"/>
              <a:t>日（日本時間）</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要点：不正アクセスが近年増加する一方、幅広いインシデント報告も継続している。
左は不正アクセス禁止法の犯罪構成要件に該当する行為の認知件数。2024年に減少したことも省略しない。被害企業数ではない。右は国内外からWebフォーム・メールで寄せられた報告の総数で、被害総数・攻撃回数・重複除去済みのインシデント件数とは異なる。2026年4～6月は14,056件で前年同期14,558件より減少している。すべての種類が単調増加しているとは主張しない。異なる母集団と期間のため、左右の値を合算・直接比較しない。2026年4～6月の重複をまとめたインシデント件数は9,305件だが、報告件数のグラフへ混在させない。
出典・補足：
S13 国家公安委員会・総務省・経済産業省
不正アクセス行為の発生状況及びアクセス制御機能に関する技術の研究開発の状況
2026-03-12
本文1頁 図1-1（PDF2頁）
https://www.npa.go.jp/bureau/cyber/pdf/R080312_access.pdf
不正アクセス行為の認知件数：2021年1,516件、2022年2,200件、2023年6,312件、2024年5,358件、2025年7,190件。犯罪構成要件に該当する行為数であり、被害企業数ではない。
S14 JPCERT/CC
四半期レポート［2026年4月1日～6月30日］
2026-07-16
本文6頁 表1.1・注2、8頁 表1.2（PDF7・9頁）
https://www.jpcert.or.jp/qr/2026/QR_FY2026-Q1.pdf
2026年4～6月の報告件数14,056件、前年同期14,558件。フィッシング、Web改ざん、マルウェア、DoS/DDoS等を含む。報告件数とインシデント件数は異なり、国内外の報告を受け付けている。直近は前年同期より減少しており、全指標が一方向に増加しているとは示さない。
調査基準日：2026年10月22日（日本時間）</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a:t>要点：サービス停止は、直接の復旧費用を超えて収益に波及する。
本編では営業利益への影響</a:t>
            </a:r>
            <a:r>
              <a:rPr lang="en-US" altLang="ja-JP"/>
              <a:t>47</a:t>
            </a:r>
            <a:r>
              <a:rPr lang="ja-JP" altLang="en-US"/>
              <a:t>億円に焦点を絞る。売上高影響</a:t>
            </a:r>
            <a:r>
              <a:rPr lang="en-US" altLang="ja-JP"/>
              <a:t>83</a:t>
            </a:r>
            <a:r>
              <a:rPr lang="ja-JP" altLang="en-US"/>
              <a:t>億円、特別損失</a:t>
            </a:r>
            <a:r>
              <a:rPr lang="en-US" altLang="ja-JP"/>
              <a:t>24</a:t>
            </a:r>
            <a:r>
              <a:rPr lang="ja-JP" altLang="en-US"/>
              <a:t>億円、個人情報</a:t>
            </a:r>
            <a:r>
              <a:rPr lang="en-US" altLang="ja-JP"/>
              <a:t>254,241</a:t>
            </a:r>
            <a:r>
              <a:rPr lang="ja-JP" altLang="en-US"/>
              <a:t>人、日付差</a:t>
            </a:r>
            <a:r>
              <a:rPr lang="en-US" altLang="ja-JP"/>
              <a:t>58</a:t>
            </a:r>
            <a:r>
              <a:rPr lang="ja-JP" altLang="en-US"/>
              <a:t>日と原因推測の詳細は以下の補足として保持する。これらを単純加算しない。
説明の補助：売上影響</a:t>
            </a:r>
            <a:r>
              <a:rPr lang="en-US" altLang="ja-JP"/>
              <a:t>83</a:t>
            </a:r>
            <a:r>
              <a:rPr lang="ja-JP" altLang="en-US"/>
              <a:t>億円と営業利益影響</a:t>
            </a:r>
            <a:r>
              <a:rPr lang="en-US" altLang="ja-JP"/>
              <a:t>47</a:t>
            </a:r>
            <a:r>
              <a:rPr lang="ja-JP" altLang="en-US"/>
              <a:t>億円は会社試算。特別損失</a:t>
            </a:r>
            <a:r>
              <a:rPr lang="en-US" altLang="ja-JP"/>
              <a:t>24</a:t>
            </a:r>
            <a:r>
              <a:rPr lang="ja-JP" altLang="en-US"/>
              <a:t>億円は会社公表の実績。</a:t>
            </a:r>
            <a:r>
              <a:rPr lang="en-US" altLang="ja-JP"/>
              <a:t>3</a:t>
            </a:r>
            <a:r>
              <a:rPr lang="ja-JP" altLang="en-US"/>
              <a:t>数値を合算しない。サービス順次再開までの日付差は</a:t>
            </a:r>
            <a:r>
              <a:rPr lang="en-US" altLang="ja-JP"/>
              <a:t>2024-08-05 − 2024-06-08 = 58</a:t>
            </a:r>
            <a:r>
              <a:rPr lang="ja-JP" altLang="en-US"/>
              <a:t>日。完全復旧を意味しない。</a:t>
            </a:r>
            <a:r>
              <a:rPr lang="en-US" altLang="ja-JP"/>
              <a:t>254,241</a:t>
            </a:r>
            <a:r>
              <a:rPr lang="ja-JP" altLang="en-US"/>
              <a:t>人は</a:t>
            </a:r>
            <a:r>
              <a:rPr lang="en-US" altLang="ja-JP"/>
              <a:t>2024-08-05</a:t>
            </a:r>
            <a:r>
              <a:rPr lang="ja-JP" altLang="en-US"/>
              <a:t>発表時点の漏洩確認人数。窃取手法をフィッシングと断定しない。再発防止策の詳細は採用した発表の記載範囲に限定。
情報基準日：</a:t>
            </a:r>
            <a:r>
              <a:rPr lang="en-US" altLang="ja-JP"/>
              <a:t>2026-10-22</a:t>
            </a:r>
            <a:r>
              <a:rPr lang="ja-JP" altLang="en-US"/>
              <a:t>（日本時間）
出典：
</a:t>
            </a:r>
            <a:r>
              <a:rPr lang="en-US" altLang="ja-JP"/>
              <a:t>S02 KADOKAWA / 2025</a:t>
            </a:r>
            <a:r>
              <a:rPr lang="ja-JP" altLang="en-US"/>
              <a:t>年</a:t>
            </a:r>
            <a:r>
              <a:rPr lang="en-US" altLang="ja-JP"/>
              <a:t>3</a:t>
            </a:r>
            <a:r>
              <a:rPr lang="ja-JP" altLang="en-US"/>
              <a:t>月期 通期決算を発表
公表日：</a:t>
            </a:r>
            <a:r>
              <a:rPr lang="en-US" altLang="ja-JP"/>
              <a:t>2025-05-08
</a:t>
            </a:r>
            <a:r>
              <a:rPr lang="ja-JP" altLang="en-US"/>
              <a:t>該当箇所：通期連結決算サマリ・純利益に関する説明
</a:t>
            </a:r>
            <a:r>
              <a:rPr lang="en-US" altLang="ja-JP"/>
              <a:t>URL</a:t>
            </a:r>
            <a:r>
              <a:rPr lang="ja-JP" altLang="en-US"/>
              <a:t>：</a:t>
            </a:r>
            <a:r>
              <a:rPr lang="en-US" altLang="ja-JP"/>
              <a:t>https://www.kadokawa.co.jp/topics/13832/
</a:t>
            </a:r>
            <a:r>
              <a:rPr lang="ja-JP" altLang="en-US"/>
              <a:t>採用内容：サイバー攻撃による減収影響</a:t>
            </a:r>
            <a:r>
              <a:rPr lang="en-US" altLang="ja-JP"/>
              <a:t>83</a:t>
            </a:r>
            <a:r>
              <a:rPr lang="ja-JP" altLang="en-US"/>
              <a:t>億円、営業利益への減益影響</a:t>
            </a:r>
            <a:r>
              <a:rPr lang="en-US" altLang="ja-JP"/>
              <a:t>47</a:t>
            </a:r>
            <a:r>
              <a:rPr lang="ja-JP" altLang="en-US"/>
              <a:t>億円（会社試算）。特別損失</a:t>
            </a:r>
            <a:r>
              <a:rPr lang="en-US" altLang="ja-JP"/>
              <a:t>24</a:t>
            </a:r>
            <a:r>
              <a:rPr lang="ja-JP" altLang="en-US"/>
              <a:t>億円。
</a:t>
            </a:r>
            <a:r>
              <a:rPr lang="en-US" altLang="ja-JP"/>
              <a:t>S03 </a:t>
            </a:r>
            <a:r>
              <a:rPr lang="ja-JP" altLang="en-US"/>
              <a:t>ドワンゴ </a:t>
            </a:r>
            <a:r>
              <a:rPr lang="en-US" altLang="ja-JP"/>
              <a:t>/ 8</a:t>
            </a:r>
            <a:r>
              <a:rPr lang="ja-JP" altLang="en-US"/>
              <a:t>月</a:t>
            </a:r>
            <a:r>
              <a:rPr lang="en-US" altLang="ja-JP"/>
              <a:t>5</a:t>
            </a:r>
            <a:r>
              <a:rPr lang="ja-JP" altLang="en-US"/>
              <a:t>日</a:t>
            </a:r>
            <a:r>
              <a:rPr lang="en-US" altLang="ja-JP"/>
              <a:t>15</a:t>
            </a:r>
            <a:r>
              <a:rPr lang="ja-JP" altLang="en-US"/>
              <a:t>時、ニコニコが再開
公表日：</a:t>
            </a:r>
            <a:r>
              <a:rPr lang="en-US" altLang="ja-JP"/>
              <a:t>2024-08-05
</a:t>
            </a:r>
            <a:r>
              <a:rPr lang="ja-JP" altLang="en-US"/>
              <a:t>該当箇所：</a:t>
            </a:r>
            <a:r>
              <a:rPr lang="en-US" altLang="ja-JP"/>
              <a:t>1</a:t>
            </a:r>
            <a:r>
              <a:rPr lang="ja-JP" altLang="en-US"/>
              <a:t>頁 冒頭
</a:t>
            </a:r>
            <a:r>
              <a:rPr lang="en-US" altLang="ja-JP"/>
              <a:t>URL</a:t>
            </a:r>
            <a:r>
              <a:rPr lang="ja-JP" altLang="en-US"/>
              <a:t>：</a:t>
            </a:r>
            <a:r>
              <a:rPr lang="en-US" altLang="ja-JP"/>
              <a:t>https://group.kadokawa.co.jp/information/media-download/1369/7062b6eb47fd83b7/
</a:t>
            </a:r>
            <a:r>
              <a:rPr lang="ja-JP" altLang="en-US"/>
              <a:t>採用内容：</a:t>
            </a:r>
            <a:r>
              <a:rPr lang="en-US" altLang="ja-JP"/>
              <a:t>6</a:t>
            </a:r>
            <a:r>
              <a:rPr lang="ja-JP" altLang="en-US"/>
              <a:t>月</a:t>
            </a:r>
            <a:r>
              <a:rPr lang="en-US" altLang="ja-JP"/>
              <a:t>8</a:t>
            </a:r>
            <a:r>
              <a:rPr lang="ja-JP" altLang="en-US"/>
              <a:t>日発生。</a:t>
            </a:r>
            <a:r>
              <a:rPr lang="en-US" altLang="ja-JP"/>
              <a:t>8</a:t>
            </a:r>
            <a:r>
              <a:rPr lang="ja-JP" altLang="en-US"/>
              <a:t>月</a:t>
            </a:r>
            <a:r>
              <a:rPr lang="en-US" altLang="ja-JP"/>
              <a:t>5</a:t>
            </a:r>
            <a:r>
              <a:rPr lang="ja-JP" altLang="en-US"/>
              <a:t>日</a:t>
            </a:r>
            <a:r>
              <a:rPr lang="en-US" altLang="ja-JP"/>
              <a:t>15</a:t>
            </a:r>
            <a:r>
              <a:rPr lang="ja-JP" altLang="en-US"/>
              <a:t>時より順次再開。日付差</a:t>
            </a:r>
            <a:r>
              <a:rPr lang="en-US" altLang="ja-JP"/>
              <a:t>58</a:t>
            </a:r>
            <a:r>
              <a:rPr lang="ja-JP" altLang="en-US"/>
              <a:t>日は作成者による計算で、全機能の完全復旧日数ではない。
</a:t>
            </a:r>
            <a:r>
              <a:rPr lang="en-US" altLang="ja-JP"/>
              <a:t>S04 </a:t>
            </a:r>
            <a:r>
              <a:rPr lang="ja-JP" altLang="en-US"/>
              <a:t>ドワンゴ </a:t>
            </a:r>
            <a:r>
              <a:rPr lang="en-US" altLang="ja-JP"/>
              <a:t>/ </a:t>
            </a:r>
            <a:r>
              <a:rPr lang="ja-JP" altLang="en-US"/>
              <a:t>ランサムウェア攻撃による情報漏洩に関するお知らせ
公表日：</a:t>
            </a:r>
            <a:r>
              <a:rPr lang="en-US" altLang="ja-JP"/>
              <a:t>2024-08-05
</a:t>
            </a:r>
            <a:r>
              <a:rPr lang="ja-JP" altLang="en-US"/>
              <a:t>該当箇所：</a:t>
            </a:r>
            <a:r>
              <a:rPr lang="en-US" altLang="ja-JP"/>
              <a:t>1</a:t>
            </a:r>
            <a:r>
              <a:rPr lang="ja-JP" altLang="en-US"/>
              <a:t>頁 個人情報、</a:t>
            </a:r>
            <a:r>
              <a:rPr lang="en-US" altLang="ja-JP"/>
              <a:t>2</a:t>
            </a:r>
            <a:r>
              <a:rPr lang="ja-JP" altLang="en-US"/>
              <a:t>～</a:t>
            </a:r>
            <a:r>
              <a:rPr lang="en-US" altLang="ja-JP"/>
              <a:t>3</a:t>
            </a:r>
            <a:r>
              <a:rPr lang="ja-JP" altLang="en-US"/>
              <a:t>頁 原因と対策
</a:t>
            </a:r>
            <a:r>
              <a:rPr lang="en-US" altLang="ja-JP"/>
              <a:t>URL</a:t>
            </a:r>
            <a:r>
              <a:rPr lang="ja-JP" altLang="en-US"/>
              <a:t>：</a:t>
            </a:r>
            <a:r>
              <a:rPr lang="en-US" altLang="ja-JP"/>
              <a:t>https://group.kadokawa.co.jp/information/media-download/1368/88e61ab4836989de/
</a:t>
            </a:r>
            <a:r>
              <a:rPr lang="ja-JP" altLang="en-US"/>
              <a:t>採用内容：外部漏洩を確認した個人情報</a:t>
            </a:r>
            <a:r>
              <a:rPr lang="en-US" altLang="ja-JP"/>
              <a:t>254,241</a:t>
            </a:r>
            <a:r>
              <a:rPr lang="ja-JP" altLang="en-US"/>
              <a:t>人。認証情報窃取を根本原因と推測。窃取経路・方法は不明。外部専門企業による助言・チェックと追加対策。
</a:t>
            </a:r>
            <a:r>
              <a:rPr lang="en-US" altLang="ja-JP"/>
              <a:t>5
</a:t>
            </a:r>
            <a:r>
              <a:rPr lang="ja-JP" altLang="en-US"/>
              <a:t>出典・補足：
</a:t>
            </a:r>
            <a:r>
              <a:rPr lang="en-US" altLang="ja-JP"/>
              <a:t>S02 KADOKAWA
2025</a:t>
            </a:r>
            <a:r>
              <a:rPr lang="ja-JP" altLang="en-US"/>
              <a:t>年</a:t>
            </a:r>
            <a:r>
              <a:rPr lang="en-US" altLang="ja-JP"/>
              <a:t>3</a:t>
            </a:r>
            <a:r>
              <a:rPr lang="ja-JP" altLang="en-US"/>
              <a:t>月期 通期決算を発表
</a:t>
            </a:r>
            <a:r>
              <a:rPr lang="en-US" altLang="ja-JP"/>
              <a:t>2025-05-08
</a:t>
            </a:r>
            <a:r>
              <a:rPr lang="ja-JP" altLang="en-US"/>
              <a:t>通期連結決算サマリ・純利益に関する説明
</a:t>
            </a:r>
            <a:r>
              <a:rPr lang="en-US" altLang="ja-JP"/>
              <a:t>https://www.kadokawa.co.jp/topics/13832/
</a:t>
            </a:r>
            <a:r>
              <a:rPr lang="ja-JP" altLang="en-US"/>
              <a:t>サイバー攻撃による減収影響</a:t>
            </a:r>
            <a:r>
              <a:rPr lang="en-US" altLang="ja-JP"/>
              <a:t>83</a:t>
            </a:r>
            <a:r>
              <a:rPr lang="ja-JP" altLang="en-US"/>
              <a:t>億円、営業利益への減益影響</a:t>
            </a:r>
            <a:r>
              <a:rPr lang="en-US" altLang="ja-JP"/>
              <a:t>47</a:t>
            </a:r>
            <a:r>
              <a:rPr lang="ja-JP" altLang="en-US"/>
              <a:t>億円（会社試算）。特別損失</a:t>
            </a:r>
            <a:r>
              <a:rPr lang="en-US" altLang="ja-JP"/>
              <a:t>24</a:t>
            </a:r>
            <a:r>
              <a:rPr lang="ja-JP" altLang="en-US"/>
              <a:t>億円。
</a:t>
            </a:r>
            <a:r>
              <a:rPr lang="en-US" altLang="ja-JP"/>
              <a:t>S03 </a:t>
            </a:r>
            <a:r>
              <a:rPr lang="ja-JP" altLang="en-US"/>
              <a:t>ドワンゴ
</a:t>
            </a:r>
            <a:r>
              <a:rPr lang="en-US" altLang="ja-JP"/>
              <a:t>8</a:t>
            </a:r>
            <a:r>
              <a:rPr lang="ja-JP" altLang="en-US"/>
              <a:t>月</a:t>
            </a:r>
            <a:r>
              <a:rPr lang="en-US" altLang="ja-JP"/>
              <a:t>5</a:t>
            </a:r>
            <a:r>
              <a:rPr lang="ja-JP" altLang="en-US"/>
              <a:t>日</a:t>
            </a:r>
            <a:r>
              <a:rPr lang="en-US" altLang="ja-JP"/>
              <a:t>15</a:t>
            </a:r>
            <a:r>
              <a:rPr lang="ja-JP" altLang="en-US"/>
              <a:t>時、ニコニコが再開
</a:t>
            </a:r>
            <a:r>
              <a:rPr lang="en-US" altLang="ja-JP"/>
              <a:t>2024-08-05
1</a:t>
            </a:r>
            <a:r>
              <a:rPr lang="ja-JP" altLang="en-US"/>
              <a:t>頁 冒頭
</a:t>
            </a:r>
            <a:r>
              <a:rPr lang="en-US" altLang="ja-JP"/>
              <a:t>https://group.kadokawa.co.jp/information/media-download/1369/7062b6eb47fd83b7/
6</a:t>
            </a:r>
            <a:r>
              <a:rPr lang="ja-JP" altLang="en-US"/>
              <a:t>月</a:t>
            </a:r>
            <a:r>
              <a:rPr lang="en-US" altLang="ja-JP"/>
              <a:t>8</a:t>
            </a:r>
            <a:r>
              <a:rPr lang="ja-JP" altLang="en-US"/>
              <a:t>日発生。</a:t>
            </a:r>
            <a:r>
              <a:rPr lang="en-US" altLang="ja-JP"/>
              <a:t>8</a:t>
            </a:r>
            <a:r>
              <a:rPr lang="ja-JP" altLang="en-US"/>
              <a:t>月</a:t>
            </a:r>
            <a:r>
              <a:rPr lang="en-US" altLang="ja-JP"/>
              <a:t>5</a:t>
            </a:r>
            <a:r>
              <a:rPr lang="ja-JP" altLang="en-US"/>
              <a:t>日</a:t>
            </a:r>
            <a:r>
              <a:rPr lang="en-US" altLang="ja-JP"/>
              <a:t>15</a:t>
            </a:r>
            <a:r>
              <a:rPr lang="ja-JP" altLang="en-US"/>
              <a:t>時より順次再開。日付差</a:t>
            </a:r>
            <a:r>
              <a:rPr lang="en-US" altLang="ja-JP"/>
              <a:t>58</a:t>
            </a:r>
            <a:r>
              <a:rPr lang="ja-JP" altLang="en-US"/>
              <a:t>日は作成者による計算で、全機能の完全復旧日数ではない。
</a:t>
            </a:r>
            <a:r>
              <a:rPr lang="en-US" altLang="ja-JP"/>
              <a:t>S04 </a:t>
            </a:r>
            <a:r>
              <a:rPr lang="ja-JP" altLang="en-US"/>
              <a:t>ドワンゴ
ランサムウェア攻撃による情報漏洩に関するお知らせ
</a:t>
            </a:r>
            <a:r>
              <a:rPr lang="en-US" altLang="ja-JP"/>
              <a:t>2024-08-05
1</a:t>
            </a:r>
            <a:r>
              <a:rPr lang="ja-JP" altLang="en-US"/>
              <a:t>頁 個人情報、</a:t>
            </a:r>
            <a:r>
              <a:rPr lang="en-US" altLang="ja-JP"/>
              <a:t>2</a:t>
            </a:r>
            <a:r>
              <a:rPr lang="ja-JP" altLang="en-US"/>
              <a:t>～</a:t>
            </a:r>
            <a:r>
              <a:rPr lang="en-US" altLang="ja-JP"/>
              <a:t>3</a:t>
            </a:r>
            <a:r>
              <a:rPr lang="ja-JP" altLang="en-US"/>
              <a:t>頁 原因と対策
</a:t>
            </a:r>
            <a:r>
              <a:rPr lang="en-US" altLang="ja-JP"/>
              <a:t>https://group.kadokawa.co.jp/information/media-download/1368/88e61ab4836989de/
</a:t>
            </a:r>
            <a:r>
              <a:rPr lang="ja-JP" altLang="en-US"/>
              <a:t>外部漏洩を確認した個人情報</a:t>
            </a:r>
            <a:r>
              <a:rPr lang="en-US" altLang="ja-JP"/>
              <a:t>254,241</a:t>
            </a:r>
            <a:r>
              <a:rPr lang="ja-JP" altLang="en-US"/>
              <a:t>人。認証情報窃取を根本原因と推測。窃取経路・方法は不明。外部専門企業による助言・チェックと追加対策。
調査基準日：</a:t>
            </a:r>
            <a:r>
              <a:rPr lang="en-US" altLang="ja-JP"/>
              <a:t>2026</a:t>
            </a:r>
            <a:r>
              <a:rPr lang="ja-JP" altLang="en-US"/>
              <a:t>年</a:t>
            </a:r>
            <a:r>
              <a:rPr lang="en-US" altLang="ja-JP"/>
              <a:t>10</a:t>
            </a:r>
            <a:r>
              <a:rPr lang="ja-JP" altLang="en-US"/>
              <a:t>月</a:t>
            </a:r>
            <a:r>
              <a:rPr lang="en-US" altLang="ja-JP"/>
              <a:t>22</a:t>
            </a:r>
            <a:r>
              <a:rPr lang="ja-JP" altLang="en-US"/>
              <a:t>日（日本時間）</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a:t>要点：委託先を含めた認証の例外管理が必要。
図は公表されたアカウント不正利用と物流システム被害の関係を簡略化したもの。認証情報の漏洩手段は不明であり、原因を完全に究明したとは断定しない。監視未整備、バックアップ暗号化と会社再発防止策の詳細はノートに保持する。下段は作成者の提案。
説明の補助：</a:t>
            </a:r>
            <a:r>
              <a:rPr lang="en-US" altLang="ja-JP"/>
              <a:t>MFA</a:t>
            </a:r>
            <a:r>
              <a:rPr lang="ja-JP" altLang="en-US"/>
              <a:t>は多要素認証、</a:t>
            </a:r>
            <a:r>
              <a:rPr lang="en-US" altLang="ja-JP"/>
              <a:t>EDR</a:t>
            </a:r>
            <a:r>
              <a:rPr lang="ja-JP" altLang="en-US"/>
              <a:t>は端末やサーバの攻撃を検知・対処する仕組み、</a:t>
            </a:r>
            <a:r>
              <a:rPr lang="en-US" altLang="ja-JP"/>
              <a:t>DC</a:t>
            </a:r>
            <a:r>
              <a:rPr lang="ja-JP" altLang="en-US"/>
              <a:t>はデータセンター。公表資料は</a:t>
            </a:r>
            <a:r>
              <a:rPr lang="en-US" altLang="ja-JP"/>
              <a:t>MFA</a:t>
            </a:r>
            <a:r>
              <a:rPr lang="ja-JP" altLang="en-US"/>
              <a:t>未適用アカウントの不正利用を確認しているが、漏洩方法と原因の完全解明はできていない。侵害</a:t>
            </a:r>
            <a:r>
              <a:rPr lang="en-US" altLang="ja-JP"/>
              <a:t>DC</a:t>
            </a:r>
            <a:r>
              <a:rPr lang="ja-JP" altLang="en-US"/>
              <a:t>のサーバには</a:t>
            </a:r>
            <a:r>
              <a:rPr lang="en-US" altLang="ja-JP"/>
              <a:t>EDR</a:t>
            </a:r>
            <a:r>
              <a:rPr lang="ja-JP" altLang="en-US"/>
              <a:t>未導入。別のサーバでの</a:t>
            </a:r>
            <a:r>
              <a:rPr lang="en-US" altLang="ja-JP"/>
              <a:t>EDR</a:t>
            </a:r>
            <a:r>
              <a:rPr lang="ja-JP" altLang="en-US"/>
              <a:t>等無効化の記載と混同しない。表の対策は同社公表内容、自社への適用は作成者の分析。
情報基準日：</a:t>
            </a:r>
            <a:r>
              <a:rPr lang="en-US" altLang="ja-JP"/>
              <a:t>2026-10-22</a:t>
            </a:r>
            <a:r>
              <a:rPr lang="ja-JP" altLang="en-US"/>
              <a:t>（日本時間）
出典：
</a:t>
            </a:r>
            <a:r>
              <a:rPr lang="en-US" altLang="ja-JP"/>
              <a:t>S05 </a:t>
            </a:r>
            <a:r>
              <a:rPr lang="ja-JP" altLang="en-US"/>
              <a:t>アスクル </a:t>
            </a:r>
            <a:r>
              <a:rPr lang="en-US" altLang="ja-JP"/>
              <a:t>/ </a:t>
            </a:r>
            <a:r>
              <a:rPr lang="ja-JP" altLang="en-US"/>
              <a:t>ランサムウェア攻撃の影響調査結果および安全性強化に向けた取り組み（第</a:t>
            </a:r>
            <a:r>
              <a:rPr lang="en-US" altLang="ja-JP"/>
              <a:t>13</a:t>
            </a:r>
            <a:r>
              <a:rPr lang="ja-JP" altLang="en-US"/>
              <a:t>報）
公表日：</a:t>
            </a:r>
            <a:r>
              <a:rPr lang="en-US" altLang="ja-JP"/>
              <a:t>2025-12-12
</a:t>
            </a:r>
            <a:r>
              <a:rPr lang="ja-JP" altLang="en-US"/>
              <a:t>該当箇所：</a:t>
            </a:r>
            <a:r>
              <a:rPr lang="en-US" altLang="ja-JP"/>
              <a:t>1</a:t>
            </a:r>
            <a:r>
              <a:rPr lang="ja-JP" altLang="en-US"/>
              <a:t>～</a:t>
            </a:r>
            <a:r>
              <a:rPr lang="en-US" altLang="ja-JP"/>
              <a:t>2</a:t>
            </a:r>
            <a:r>
              <a:rPr lang="ja-JP" altLang="en-US"/>
              <a:t>頁 時系列、</a:t>
            </a:r>
            <a:r>
              <a:rPr lang="en-US" altLang="ja-JP"/>
              <a:t>3</a:t>
            </a:r>
            <a:r>
              <a:rPr lang="ja-JP" altLang="en-US"/>
              <a:t>～</a:t>
            </a:r>
            <a:r>
              <a:rPr lang="en-US" altLang="ja-JP"/>
              <a:t>4</a:t>
            </a:r>
            <a:r>
              <a:rPr lang="ja-JP" altLang="en-US"/>
              <a:t>頁 侵害・原因・再発防止策
</a:t>
            </a:r>
            <a:r>
              <a:rPr lang="en-US" altLang="ja-JP"/>
              <a:t>URL</a:t>
            </a:r>
            <a:r>
              <a:rPr lang="ja-JP" altLang="en-US"/>
              <a:t>：</a:t>
            </a:r>
            <a:r>
              <a:rPr lang="en-US" altLang="ja-JP"/>
              <a:t>https://pdf.irpocket.com/C0032/PDLX/O3bg/N4O3.pdf
</a:t>
            </a:r>
            <a:r>
              <a:rPr lang="ja-JP" altLang="en-US"/>
              <a:t>採用内容：</a:t>
            </a:r>
            <a:r>
              <a:rPr lang="en-US" altLang="ja-JP"/>
              <a:t>10</a:t>
            </a:r>
            <a:r>
              <a:rPr lang="ja-JP" altLang="en-US"/>
              <a:t>月</a:t>
            </a:r>
            <a:r>
              <a:rPr lang="en-US" altLang="ja-JP"/>
              <a:t>19</a:t>
            </a:r>
            <a:r>
              <a:rPr lang="ja-JP" altLang="en-US"/>
              <a:t>日の受注・出荷停止、</a:t>
            </a:r>
            <a:r>
              <a:rPr lang="en-US" altLang="ja-JP"/>
              <a:t>10</a:t>
            </a:r>
            <a:r>
              <a:rPr lang="ja-JP" altLang="en-US"/>
              <a:t>月</a:t>
            </a:r>
            <a:r>
              <a:rPr lang="en-US" altLang="ja-JP"/>
              <a:t>29</a:t>
            </a:r>
            <a:r>
              <a:rPr lang="ja-JP" altLang="en-US"/>
              <a:t>日の出荷トライアル。</a:t>
            </a:r>
            <a:r>
              <a:rPr lang="en-US" altLang="ja-JP"/>
              <a:t>MFA</a:t>
            </a:r>
            <a:r>
              <a:rPr lang="ja-JP" altLang="en-US"/>
              <a:t>未適用の委託先管理者アカウントの不正利用、侵害</a:t>
            </a:r>
            <a:r>
              <a:rPr lang="en-US" altLang="ja-JP"/>
              <a:t>DC</a:t>
            </a:r>
            <a:r>
              <a:rPr lang="ja-JP" altLang="en-US"/>
              <a:t>のサーバ</a:t>
            </a:r>
            <a:r>
              <a:rPr lang="en-US" altLang="ja-JP"/>
              <a:t>EDR</a:t>
            </a:r>
            <a:r>
              <a:rPr lang="ja-JP" altLang="en-US"/>
              <a:t>未導入・</a:t>
            </a:r>
            <a:r>
              <a:rPr lang="en-US" altLang="ja-JP"/>
              <a:t>24</a:t>
            </a:r>
            <a:r>
              <a:rPr lang="ja-JP" altLang="en-US"/>
              <a:t>時間監視未実施、バックアップ暗号化。原因の完全究明は困難。
</a:t>
            </a:r>
            <a:r>
              <a:rPr lang="en-US" altLang="ja-JP"/>
              <a:t>6
</a:t>
            </a:r>
            <a:r>
              <a:rPr lang="ja-JP" altLang="en-US"/>
              <a:t>出典・補足：
</a:t>
            </a:r>
            <a:r>
              <a:rPr lang="en-US" altLang="ja-JP"/>
              <a:t>S05 </a:t>
            </a:r>
            <a:r>
              <a:rPr lang="ja-JP" altLang="en-US"/>
              <a:t>アスクル
ランサムウェア攻撃の影響調査結果および安全性強化に向けた取り組み（第</a:t>
            </a:r>
            <a:r>
              <a:rPr lang="en-US" altLang="ja-JP"/>
              <a:t>13</a:t>
            </a:r>
            <a:r>
              <a:rPr lang="ja-JP" altLang="en-US"/>
              <a:t>報）
</a:t>
            </a:r>
            <a:r>
              <a:rPr lang="en-US" altLang="ja-JP"/>
              <a:t>2025-12-12
1</a:t>
            </a:r>
            <a:r>
              <a:rPr lang="ja-JP" altLang="en-US"/>
              <a:t>～</a:t>
            </a:r>
            <a:r>
              <a:rPr lang="en-US" altLang="ja-JP"/>
              <a:t>2</a:t>
            </a:r>
            <a:r>
              <a:rPr lang="ja-JP" altLang="en-US"/>
              <a:t>頁 時系列、</a:t>
            </a:r>
            <a:r>
              <a:rPr lang="en-US" altLang="ja-JP"/>
              <a:t>3</a:t>
            </a:r>
            <a:r>
              <a:rPr lang="ja-JP" altLang="en-US"/>
              <a:t>～</a:t>
            </a:r>
            <a:r>
              <a:rPr lang="en-US" altLang="ja-JP"/>
              <a:t>4</a:t>
            </a:r>
            <a:r>
              <a:rPr lang="ja-JP" altLang="en-US"/>
              <a:t>頁 侵害・原因・再発防止策
</a:t>
            </a:r>
            <a:r>
              <a:rPr lang="en-US" altLang="ja-JP"/>
              <a:t>https://pdf.irpocket.com/C0032/PDLX/O3bg/N4O3.pdf
10</a:t>
            </a:r>
            <a:r>
              <a:rPr lang="ja-JP" altLang="en-US"/>
              <a:t>月</a:t>
            </a:r>
            <a:r>
              <a:rPr lang="en-US" altLang="ja-JP"/>
              <a:t>19</a:t>
            </a:r>
            <a:r>
              <a:rPr lang="ja-JP" altLang="en-US"/>
              <a:t>日の受注・出荷停止、</a:t>
            </a:r>
            <a:r>
              <a:rPr lang="en-US" altLang="ja-JP"/>
              <a:t>10</a:t>
            </a:r>
            <a:r>
              <a:rPr lang="ja-JP" altLang="en-US"/>
              <a:t>月</a:t>
            </a:r>
            <a:r>
              <a:rPr lang="en-US" altLang="ja-JP"/>
              <a:t>29</a:t>
            </a:r>
            <a:r>
              <a:rPr lang="ja-JP" altLang="en-US"/>
              <a:t>日の出荷トライアル。</a:t>
            </a:r>
            <a:r>
              <a:rPr lang="en-US" altLang="ja-JP"/>
              <a:t>MFA</a:t>
            </a:r>
            <a:r>
              <a:rPr lang="ja-JP" altLang="en-US"/>
              <a:t>未適用の委託先管理者アカウントの不正利用、侵害</a:t>
            </a:r>
            <a:r>
              <a:rPr lang="en-US" altLang="ja-JP"/>
              <a:t>DC</a:t>
            </a:r>
            <a:r>
              <a:rPr lang="ja-JP" altLang="en-US"/>
              <a:t>のサーバ</a:t>
            </a:r>
            <a:r>
              <a:rPr lang="en-US" altLang="ja-JP"/>
              <a:t>EDR</a:t>
            </a:r>
            <a:r>
              <a:rPr lang="ja-JP" altLang="en-US"/>
              <a:t>未導入・</a:t>
            </a:r>
            <a:r>
              <a:rPr lang="en-US" altLang="ja-JP"/>
              <a:t>24</a:t>
            </a:r>
            <a:r>
              <a:rPr lang="ja-JP" altLang="en-US"/>
              <a:t>時間監視未実施、バックアップ暗号化。原因の完全究明は困難。
調査基準日：</a:t>
            </a:r>
            <a:r>
              <a:rPr lang="en-US" altLang="ja-JP"/>
              <a:t>2026</a:t>
            </a:r>
            <a:r>
              <a:rPr lang="ja-JP" altLang="en-US"/>
              <a:t>年</a:t>
            </a:r>
            <a:r>
              <a:rPr lang="en-US" altLang="ja-JP"/>
              <a:t>10</a:t>
            </a:r>
            <a:r>
              <a:rPr lang="ja-JP" altLang="en-US"/>
              <a:t>月</a:t>
            </a:r>
            <a:r>
              <a:rPr lang="en-US" altLang="ja-JP"/>
              <a:t>22</a:t>
            </a:r>
            <a:r>
              <a:rPr lang="ja-JP" altLang="en-US"/>
              <a:t>日（日本時間）</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a:t>要点：部分再開しても、事業を戻すまでに長い時間がかかる。
表示の</a:t>
            </a:r>
            <a:r>
              <a:rPr lang="en-US" altLang="ja-JP"/>
              <a:t>108</a:t>
            </a:r>
            <a:r>
              <a:rPr lang="ja-JP" altLang="en-US"/>
              <a:t>日は</a:t>
            </a:r>
            <a:r>
              <a:rPr lang="en-US" altLang="ja-JP"/>
              <a:t>2025-10-19</a:t>
            </a:r>
            <a:r>
              <a:rPr lang="ja-JP" altLang="en-US"/>
              <a:t>から</a:t>
            </a:r>
            <a:r>
              <a:rPr lang="en-US" altLang="ja-JP"/>
              <a:t>2026-02-04</a:t>
            </a:r>
            <a:r>
              <a:rPr lang="ja-JP" altLang="en-US"/>
              <a:t>の日付差で、初日を含めない。旧ページの費用</a:t>
            </a:r>
            <a:r>
              <a:rPr lang="en-US" altLang="ja-JP"/>
              <a:t>51.08</a:t>
            </a:r>
            <a:r>
              <a:rPr lang="ja-JP" altLang="en-US"/>
              <a:t>億円・</a:t>
            </a:r>
            <a:r>
              <a:rPr lang="en-US" altLang="ja-JP"/>
              <a:t>12.69</a:t>
            </a:r>
            <a:r>
              <a:rPr lang="ja-JP" altLang="en-US"/>
              <a:t>億円はノートへ移し、復旧期間だけを本編のメッセージとした。
説明の補助：</a:t>
            </a:r>
            <a:r>
              <a:rPr lang="en-US" altLang="ja-JP"/>
              <a:t>2025-10-19</a:t>
            </a:r>
            <a:r>
              <a:rPr lang="ja-JP" altLang="en-US"/>
              <a:t>から</a:t>
            </a:r>
            <a:r>
              <a:rPr lang="en-US" altLang="ja-JP"/>
              <a:t>2026-02-04</a:t>
            </a:r>
            <a:r>
              <a:rPr lang="ja-JP" altLang="en-US"/>
              <a:t>の日付差は</a:t>
            </a:r>
            <a:r>
              <a:rPr lang="en-US" altLang="ja-JP"/>
              <a:t>108</a:t>
            </a:r>
            <a:r>
              <a:rPr lang="ja-JP" altLang="en-US"/>
              <a:t>日。</a:t>
            </a:r>
            <a:r>
              <a:rPr lang="en-US" altLang="ja-JP"/>
              <a:t>10</a:t>
            </a:r>
            <a:r>
              <a:rPr lang="ja-JP" altLang="en-US"/>
              <a:t>月</a:t>
            </a:r>
            <a:r>
              <a:rPr lang="en-US" altLang="ja-JP"/>
              <a:t>29</a:t>
            </a:r>
            <a:r>
              <a:rPr lang="ja-JP" altLang="en-US"/>
              <a:t>日から限定的なトライアルを実施しており、全期間にわたる全面停止ではない。</a:t>
            </a:r>
            <a:r>
              <a:rPr lang="en-US" altLang="ja-JP"/>
              <a:t>2</a:t>
            </a:r>
            <a:r>
              <a:rPr lang="ja-JP" altLang="en-US"/>
              <a:t>月</a:t>
            </a:r>
            <a:r>
              <a:rPr lang="en-US" altLang="ja-JP"/>
              <a:t>13</a:t>
            </a:r>
            <a:r>
              <a:rPr lang="ja-JP" altLang="en-US"/>
              <a:t>日から一般品の当日配送も順次再開。</a:t>
            </a:r>
            <a:r>
              <a:rPr lang="en-US" altLang="ja-JP"/>
              <a:t>5,108</a:t>
            </a:r>
            <a:r>
              <a:rPr lang="ja-JP" altLang="en-US"/>
              <a:t>百万円</a:t>
            </a:r>
            <a:r>
              <a:rPr lang="en-US" altLang="ja-JP"/>
              <a:t>÷100=51.08</a:t>
            </a:r>
            <a:r>
              <a:rPr lang="ja-JP" altLang="en-US"/>
              <a:t>億円、</a:t>
            </a:r>
            <a:r>
              <a:rPr lang="en-US" altLang="ja-JP"/>
              <a:t>1,269</a:t>
            </a:r>
            <a:r>
              <a:rPr lang="ja-JP" altLang="en-US"/>
              <a:t>百万円</a:t>
            </a:r>
            <a:r>
              <a:rPr lang="en-US" altLang="ja-JP"/>
              <a:t>÷100=12.69</a:t>
            </a:r>
            <a:r>
              <a:rPr lang="ja-JP" altLang="en-US"/>
              <a:t>億円。</a:t>
            </a:r>
            <a:r>
              <a:rPr lang="en-US" altLang="ja-JP"/>
              <a:t>2026</a:t>
            </a:r>
            <a:r>
              <a:rPr lang="ja-JP" altLang="en-US"/>
              <a:t>年</a:t>
            </a:r>
            <a:r>
              <a:rPr lang="en-US" altLang="ja-JP"/>
              <a:t>5</a:t>
            </a:r>
            <a:r>
              <a:rPr lang="ja-JP" altLang="en-US"/>
              <a:t>月期実績。システム障害対応費用には物流基盤の維持、調査・復旧、期限切れ商品評価損等を含む。会社全体の最終赤字</a:t>
            </a:r>
            <a:r>
              <a:rPr lang="en-US" altLang="ja-JP"/>
              <a:t>221.50</a:t>
            </a:r>
            <a:r>
              <a:rPr lang="ja-JP" altLang="en-US"/>
              <a:t>億円をサイバー被害額とみなさない。
情報基準日：</a:t>
            </a:r>
            <a:r>
              <a:rPr lang="en-US" altLang="ja-JP"/>
              <a:t>2026-10-22</a:t>
            </a:r>
            <a:r>
              <a:rPr lang="ja-JP" altLang="en-US"/>
              <a:t>（日本時間）
出典：
</a:t>
            </a:r>
            <a:r>
              <a:rPr lang="en-US" altLang="ja-JP"/>
              <a:t>S05 </a:t>
            </a:r>
            <a:r>
              <a:rPr lang="ja-JP" altLang="en-US"/>
              <a:t>アスクル </a:t>
            </a:r>
            <a:r>
              <a:rPr lang="en-US" altLang="ja-JP"/>
              <a:t>/ </a:t>
            </a:r>
            <a:r>
              <a:rPr lang="ja-JP" altLang="en-US"/>
              <a:t>ランサムウェア攻撃の影響調査結果および安全性強化に向けた取り組み（第</a:t>
            </a:r>
            <a:r>
              <a:rPr lang="en-US" altLang="ja-JP"/>
              <a:t>13</a:t>
            </a:r>
            <a:r>
              <a:rPr lang="ja-JP" altLang="en-US"/>
              <a:t>報）
公表日：</a:t>
            </a:r>
            <a:r>
              <a:rPr lang="en-US" altLang="ja-JP"/>
              <a:t>2025-12-12
</a:t>
            </a:r>
            <a:r>
              <a:rPr lang="ja-JP" altLang="en-US"/>
              <a:t>該当箇所：</a:t>
            </a:r>
            <a:r>
              <a:rPr lang="en-US" altLang="ja-JP"/>
              <a:t>1</a:t>
            </a:r>
            <a:r>
              <a:rPr lang="ja-JP" altLang="en-US"/>
              <a:t>～</a:t>
            </a:r>
            <a:r>
              <a:rPr lang="en-US" altLang="ja-JP"/>
              <a:t>2</a:t>
            </a:r>
            <a:r>
              <a:rPr lang="ja-JP" altLang="en-US"/>
              <a:t>頁 時系列、</a:t>
            </a:r>
            <a:r>
              <a:rPr lang="en-US" altLang="ja-JP"/>
              <a:t>3</a:t>
            </a:r>
            <a:r>
              <a:rPr lang="ja-JP" altLang="en-US"/>
              <a:t>～</a:t>
            </a:r>
            <a:r>
              <a:rPr lang="en-US" altLang="ja-JP"/>
              <a:t>4</a:t>
            </a:r>
            <a:r>
              <a:rPr lang="ja-JP" altLang="en-US"/>
              <a:t>頁 侵害・原因・再発防止策
</a:t>
            </a:r>
            <a:r>
              <a:rPr lang="en-US" altLang="ja-JP"/>
              <a:t>URL</a:t>
            </a:r>
            <a:r>
              <a:rPr lang="ja-JP" altLang="en-US"/>
              <a:t>：</a:t>
            </a:r>
            <a:r>
              <a:rPr lang="en-US" altLang="ja-JP"/>
              <a:t>https://pdf.irpocket.com/C0032/PDLX/O3bg/N4O3.pdf
</a:t>
            </a:r>
            <a:r>
              <a:rPr lang="ja-JP" altLang="en-US"/>
              <a:t>採用内容：</a:t>
            </a:r>
            <a:r>
              <a:rPr lang="en-US" altLang="ja-JP"/>
              <a:t>10</a:t>
            </a:r>
            <a:r>
              <a:rPr lang="ja-JP" altLang="en-US"/>
              <a:t>月</a:t>
            </a:r>
            <a:r>
              <a:rPr lang="en-US" altLang="ja-JP"/>
              <a:t>19</a:t>
            </a:r>
            <a:r>
              <a:rPr lang="ja-JP" altLang="en-US"/>
              <a:t>日の受注・出荷停止、</a:t>
            </a:r>
            <a:r>
              <a:rPr lang="en-US" altLang="ja-JP"/>
              <a:t>10</a:t>
            </a:r>
            <a:r>
              <a:rPr lang="ja-JP" altLang="en-US"/>
              <a:t>月</a:t>
            </a:r>
            <a:r>
              <a:rPr lang="en-US" altLang="ja-JP"/>
              <a:t>29</a:t>
            </a:r>
            <a:r>
              <a:rPr lang="ja-JP" altLang="en-US"/>
              <a:t>日の出荷トライアル。</a:t>
            </a:r>
            <a:r>
              <a:rPr lang="en-US" altLang="ja-JP"/>
              <a:t>MFA</a:t>
            </a:r>
            <a:r>
              <a:rPr lang="ja-JP" altLang="en-US"/>
              <a:t>未適用の委託先管理者アカウントの不正利用、侵害</a:t>
            </a:r>
            <a:r>
              <a:rPr lang="en-US" altLang="ja-JP"/>
              <a:t>DC</a:t>
            </a:r>
            <a:r>
              <a:rPr lang="ja-JP" altLang="en-US"/>
              <a:t>のサーバ</a:t>
            </a:r>
            <a:r>
              <a:rPr lang="en-US" altLang="ja-JP"/>
              <a:t>EDR</a:t>
            </a:r>
            <a:r>
              <a:rPr lang="ja-JP" altLang="en-US"/>
              <a:t>未導入・</a:t>
            </a:r>
            <a:r>
              <a:rPr lang="en-US" altLang="ja-JP"/>
              <a:t>24</a:t>
            </a:r>
            <a:r>
              <a:rPr lang="ja-JP" altLang="en-US"/>
              <a:t>時間監視未実施、バックアップ暗号化。原因の完全究明は困難。
</a:t>
            </a:r>
            <a:r>
              <a:rPr lang="en-US" altLang="ja-JP"/>
              <a:t>S06 </a:t>
            </a:r>
            <a:r>
              <a:rPr lang="ja-JP" altLang="en-US"/>
              <a:t>アスクル </a:t>
            </a:r>
            <a:r>
              <a:rPr lang="en-US" altLang="ja-JP"/>
              <a:t>/ </a:t>
            </a:r>
            <a:r>
              <a:rPr lang="ja-JP" altLang="en-US"/>
              <a:t>サービスの復旧状況について（第</a:t>
            </a:r>
            <a:r>
              <a:rPr lang="en-US" altLang="ja-JP"/>
              <a:t>18</a:t>
            </a:r>
            <a:r>
              <a:rPr lang="ja-JP" altLang="en-US"/>
              <a:t>報）
公表日：</a:t>
            </a:r>
            <a:r>
              <a:rPr lang="en-US" altLang="ja-JP"/>
              <a:t>2026-02-13
</a:t>
            </a:r>
            <a:r>
              <a:rPr lang="ja-JP" altLang="en-US"/>
              <a:t>該当箇所：</a:t>
            </a:r>
            <a:r>
              <a:rPr lang="en-US" altLang="ja-JP"/>
              <a:t>1</a:t>
            </a:r>
            <a:r>
              <a:rPr lang="ja-JP" altLang="en-US"/>
              <a:t>頁 サービスの本格復旧フェーズの進捗
</a:t>
            </a:r>
            <a:r>
              <a:rPr lang="en-US" altLang="ja-JP"/>
              <a:t>URL</a:t>
            </a:r>
            <a:r>
              <a:rPr lang="ja-JP" altLang="en-US"/>
              <a:t>：</a:t>
            </a:r>
            <a:r>
              <a:rPr lang="en-US" altLang="ja-JP"/>
              <a:t>https://pdf.irpocket.com/C0032/YpwX/YPJ9/h35G.pdf
</a:t>
            </a:r>
            <a:r>
              <a:rPr lang="ja-JP" altLang="en-US"/>
              <a:t>採用内容：</a:t>
            </a:r>
            <a:r>
              <a:rPr lang="en-US" altLang="ja-JP"/>
              <a:t>2</a:t>
            </a:r>
            <a:r>
              <a:rPr lang="ja-JP" altLang="en-US"/>
              <a:t>月</a:t>
            </a:r>
            <a:r>
              <a:rPr lang="en-US" altLang="ja-JP"/>
              <a:t>4</a:t>
            </a:r>
            <a:r>
              <a:rPr lang="ja-JP" altLang="en-US"/>
              <a:t>日に全物流センターで新物流システムによる出荷再開完了。</a:t>
            </a:r>
            <a:r>
              <a:rPr lang="en-US" altLang="ja-JP"/>
              <a:t>2</a:t>
            </a:r>
            <a:r>
              <a:rPr lang="ja-JP" altLang="en-US"/>
              <a:t>月</a:t>
            </a:r>
            <a:r>
              <a:rPr lang="en-US" altLang="ja-JP"/>
              <a:t>13</a:t>
            </a:r>
            <a:r>
              <a:rPr lang="ja-JP" altLang="en-US"/>
              <a:t>日一般品から当日配送を順次再開。</a:t>
            </a:r>
            <a:r>
              <a:rPr lang="en-US" altLang="ja-JP"/>
              <a:t>10</a:t>
            </a:r>
            <a:r>
              <a:rPr lang="ja-JP" altLang="en-US"/>
              <a:t>月</a:t>
            </a:r>
            <a:r>
              <a:rPr lang="en-US" altLang="ja-JP"/>
              <a:t>19</a:t>
            </a:r>
            <a:r>
              <a:rPr lang="ja-JP" altLang="en-US"/>
              <a:t>日～</a:t>
            </a:r>
            <a:r>
              <a:rPr lang="en-US" altLang="ja-JP"/>
              <a:t>2</a:t>
            </a:r>
            <a:r>
              <a:rPr lang="ja-JP" altLang="en-US"/>
              <a:t>月</a:t>
            </a:r>
            <a:r>
              <a:rPr lang="en-US" altLang="ja-JP"/>
              <a:t>4</a:t>
            </a:r>
            <a:r>
              <a:rPr lang="ja-JP" altLang="en-US"/>
              <a:t>日の日付差</a:t>
            </a:r>
            <a:r>
              <a:rPr lang="en-US" altLang="ja-JP"/>
              <a:t>108</a:t>
            </a:r>
            <a:r>
              <a:rPr lang="ja-JP" altLang="en-US"/>
              <a:t>日は作成者計算。
</a:t>
            </a:r>
            <a:r>
              <a:rPr lang="en-US" altLang="ja-JP"/>
              <a:t>S07 </a:t>
            </a:r>
            <a:r>
              <a:rPr lang="ja-JP" altLang="en-US"/>
              <a:t>アスクル（会社開示</a:t>
            </a:r>
            <a:r>
              <a:rPr lang="en-US" altLang="ja-JP"/>
              <a:t>PDF</a:t>
            </a:r>
            <a:r>
              <a:rPr lang="ja-JP" altLang="en-US"/>
              <a:t>、</a:t>
            </a:r>
            <a:r>
              <a:rPr lang="en-US" altLang="ja-JP"/>
              <a:t>Yahoo!</a:t>
            </a:r>
            <a:r>
              <a:rPr lang="ja-JP" altLang="en-US"/>
              <a:t>配信） </a:t>
            </a:r>
            <a:r>
              <a:rPr lang="en-US" altLang="ja-JP"/>
              <a:t>/ 2026</a:t>
            </a:r>
            <a:r>
              <a:rPr lang="ja-JP" altLang="en-US"/>
              <a:t>年</a:t>
            </a:r>
            <a:r>
              <a:rPr lang="en-US" altLang="ja-JP"/>
              <a:t>5</a:t>
            </a:r>
            <a:r>
              <a:rPr lang="ja-JP" altLang="en-US"/>
              <a:t>月期 決算短信</a:t>
            </a:r>
            <a:r>
              <a:rPr lang="en-US" altLang="ja-JP"/>
              <a:t>〔</a:t>
            </a:r>
            <a:r>
              <a:rPr lang="ja-JP" altLang="en-US"/>
              <a:t>日本基準</a:t>
            </a:r>
            <a:r>
              <a:rPr lang="en-US" altLang="ja-JP"/>
              <a:t>〕</a:t>
            </a:r>
            <a:r>
              <a:rPr lang="ja-JP" altLang="en-US"/>
              <a:t>（連結）
公表日：</a:t>
            </a:r>
            <a:r>
              <a:rPr lang="en-US" altLang="ja-JP"/>
              <a:t>2026-07-03
</a:t>
            </a:r>
            <a:r>
              <a:rPr lang="ja-JP" altLang="en-US"/>
              <a:t>該当箇所：添付</a:t>
            </a:r>
            <a:r>
              <a:rPr lang="en-US" altLang="ja-JP"/>
              <a:t>2</a:t>
            </a:r>
            <a:r>
              <a:rPr lang="ja-JP" altLang="en-US"/>
              <a:t>頁（</a:t>
            </a:r>
            <a:r>
              <a:rPr lang="en-US" altLang="ja-JP"/>
              <a:t>PDF4</a:t>
            </a:r>
            <a:r>
              <a:rPr lang="ja-JP" altLang="en-US"/>
              <a:t>頁）、連結損益計算書、追加情報（</a:t>
            </a:r>
            <a:r>
              <a:rPr lang="en-US" altLang="ja-JP"/>
              <a:t>PDF16</a:t>
            </a:r>
            <a:r>
              <a:rPr lang="ja-JP" altLang="en-US"/>
              <a:t>頁）
</a:t>
            </a:r>
            <a:r>
              <a:rPr lang="en-US" altLang="ja-JP"/>
              <a:t>URL</a:t>
            </a:r>
            <a:r>
              <a:rPr lang="ja-JP" altLang="en-US"/>
              <a:t>：</a:t>
            </a:r>
            <a:r>
              <a:rPr lang="en-US" altLang="ja-JP"/>
              <a:t>https://finance-frontend-pc-dist.west.edge.storage-yahoo.jp/disclosure/20260703/20260703587650.pdf
</a:t>
            </a:r>
            <a:r>
              <a:rPr lang="ja-JP" altLang="en-US"/>
              <a:t>採用内容：特別損失のシステム障害対応費用</a:t>
            </a:r>
            <a:r>
              <a:rPr lang="en-US" altLang="ja-JP"/>
              <a:t>5,108</a:t>
            </a:r>
            <a:r>
              <a:rPr lang="ja-JP" altLang="en-US"/>
              <a:t>百万円。営業外費用の休止固定資産減価償却費</a:t>
            </a:r>
            <a:r>
              <a:rPr lang="en-US" altLang="ja-JP"/>
              <a:t>1,269</a:t>
            </a:r>
            <a:r>
              <a:rPr lang="ja-JP" altLang="en-US"/>
              <a:t>百万円。連結純損失</a:t>
            </a:r>
            <a:r>
              <a:rPr lang="en-US" altLang="ja-JP"/>
              <a:t>22,150</a:t>
            </a:r>
            <a:r>
              <a:rPr lang="ja-JP" altLang="en-US"/>
              <a:t>百万円は会社全体の結果で、サイバー被害総額ではない。
</a:t>
            </a:r>
            <a:r>
              <a:rPr lang="en-US" altLang="ja-JP"/>
              <a:t>7
</a:t>
            </a:r>
            <a:r>
              <a:rPr lang="ja-JP" altLang="en-US"/>
              <a:t>出典・補足：
</a:t>
            </a:r>
            <a:r>
              <a:rPr lang="en-US" altLang="ja-JP"/>
              <a:t>S05 </a:t>
            </a:r>
            <a:r>
              <a:rPr lang="ja-JP" altLang="en-US"/>
              <a:t>アスクル
ランサムウェア攻撃の影響調査結果および安全性強化に向けた取り組み（第</a:t>
            </a:r>
            <a:r>
              <a:rPr lang="en-US" altLang="ja-JP"/>
              <a:t>13</a:t>
            </a:r>
            <a:r>
              <a:rPr lang="ja-JP" altLang="en-US"/>
              <a:t>報）
</a:t>
            </a:r>
            <a:r>
              <a:rPr lang="en-US" altLang="ja-JP"/>
              <a:t>2025-12-12
1</a:t>
            </a:r>
            <a:r>
              <a:rPr lang="ja-JP" altLang="en-US"/>
              <a:t>～</a:t>
            </a:r>
            <a:r>
              <a:rPr lang="en-US" altLang="ja-JP"/>
              <a:t>2</a:t>
            </a:r>
            <a:r>
              <a:rPr lang="ja-JP" altLang="en-US"/>
              <a:t>頁 時系列、</a:t>
            </a:r>
            <a:r>
              <a:rPr lang="en-US" altLang="ja-JP"/>
              <a:t>3</a:t>
            </a:r>
            <a:r>
              <a:rPr lang="ja-JP" altLang="en-US"/>
              <a:t>～</a:t>
            </a:r>
            <a:r>
              <a:rPr lang="en-US" altLang="ja-JP"/>
              <a:t>4</a:t>
            </a:r>
            <a:r>
              <a:rPr lang="ja-JP" altLang="en-US"/>
              <a:t>頁 侵害・原因・再発防止策
</a:t>
            </a:r>
            <a:r>
              <a:rPr lang="en-US" altLang="ja-JP"/>
              <a:t>https://pdf.irpocket.com/C0032/PDLX/O3bg/N4O3.pdf
10</a:t>
            </a:r>
            <a:r>
              <a:rPr lang="ja-JP" altLang="en-US"/>
              <a:t>月</a:t>
            </a:r>
            <a:r>
              <a:rPr lang="en-US" altLang="ja-JP"/>
              <a:t>19</a:t>
            </a:r>
            <a:r>
              <a:rPr lang="ja-JP" altLang="en-US"/>
              <a:t>日の受注・出荷停止、</a:t>
            </a:r>
            <a:r>
              <a:rPr lang="en-US" altLang="ja-JP"/>
              <a:t>10</a:t>
            </a:r>
            <a:r>
              <a:rPr lang="ja-JP" altLang="en-US"/>
              <a:t>月</a:t>
            </a:r>
            <a:r>
              <a:rPr lang="en-US" altLang="ja-JP"/>
              <a:t>29</a:t>
            </a:r>
            <a:r>
              <a:rPr lang="ja-JP" altLang="en-US"/>
              <a:t>日の出荷トライアル。</a:t>
            </a:r>
            <a:r>
              <a:rPr lang="en-US" altLang="ja-JP"/>
              <a:t>MFA</a:t>
            </a:r>
            <a:r>
              <a:rPr lang="ja-JP" altLang="en-US"/>
              <a:t>未適用の委託先管理者アカウントの不正利用、侵害</a:t>
            </a:r>
            <a:r>
              <a:rPr lang="en-US" altLang="ja-JP"/>
              <a:t>DC</a:t>
            </a:r>
            <a:r>
              <a:rPr lang="ja-JP" altLang="en-US"/>
              <a:t>のサーバ</a:t>
            </a:r>
            <a:r>
              <a:rPr lang="en-US" altLang="ja-JP"/>
              <a:t>EDR</a:t>
            </a:r>
            <a:r>
              <a:rPr lang="ja-JP" altLang="en-US"/>
              <a:t>未導入・</a:t>
            </a:r>
            <a:r>
              <a:rPr lang="en-US" altLang="ja-JP"/>
              <a:t>24</a:t>
            </a:r>
            <a:r>
              <a:rPr lang="ja-JP" altLang="en-US"/>
              <a:t>時間監視未実施、バックアップ暗号化。原因の完全究明は困難。
</a:t>
            </a:r>
            <a:r>
              <a:rPr lang="en-US" altLang="ja-JP"/>
              <a:t>S06 </a:t>
            </a:r>
            <a:r>
              <a:rPr lang="ja-JP" altLang="en-US"/>
              <a:t>アスクル
サービスの復旧状況について（第</a:t>
            </a:r>
            <a:r>
              <a:rPr lang="en-US" altLang="ja-JP"/>
              <a:t>18</a:t>
            </a:r>
            <a:r>
              <a:rPr lang="ja-JP" altLang="en-US"/>
              <a:t>報）
</a:t>
            </a:r>
            <a:r>
              <a:rPr lang="en-US" altLang="ja-JP"/>
              <a:t>2026-02-13
1</a:t>
            </a:r>
            <a:r>
              <a:rPr lang="ja-JP" altLang="en-US"/>
              <a:t>頁 サービスの本格復旧フェーズの進捗
</a:t>
            </a:r>
            <a:r>
              <a:rPr lang="en-US" altLang="ja-JP"/>
              <a:t>https://pdf.irpocket.com/C0032/YpwX/YPJ9/h35G.pdf
2</a:t>
            </a:r>
            <a:r>
              <a:rPr lang="ja-JP" altLang="en-US"/>
              <a:t>月</a:t>
            </a:r>
            <a:r>
              <a:rPr lang="en-US" altLang="ja-JP"/>
              <a:t>4</a:t>
            </a:r>
            <a:r>
              <a:rPr lang="ja-JP" altLang="en-US"/>
              <a:t>日に全物流センターで新物流システムによる出荷再開完了。</a:t>
            </a:r>
            <a:r>
              <a:rPr lang="en-US" altLang="ja-JP"/>
              <a:t>2</a:t>
            </a:r>
            <a:r>
              <a:rPr lang="ja-JP" altLang="en-US"/>
              <a:t>月</a:t>
            </a:r>
            <a:r>
              <a:rPr lang="en-US" altLang="ja-JP"/>
              <a:t>13</a:t>
            </a:r>
            <a:r>
              <a:rPr lang="ja-JP" altLang="en-US"/>
              <a:t>日一般品から当日配送を順次再開。</a:t>
            </a:r>
            <a:r>
              <a:rPr lang="en-US" altLang="ja-JP"/>
              <a:t>10</a:t>
            </a:r>
            <a:r>
              <a:rPr lang="ja-JP" altLang="en-US"/>
              <a:t>月</a:t>
            </a:r>
            <a:r>
              <a:rPr lang="en-US" altLang="ja-JP"/>
              <a:t>19</a:t>
            </a:r>
            <a:r>
              <a:rPr lang="ja-JP" altLang="en-US"/>
              <a:t>日～</a:t>
            </a:r>
            <a:r>
              <a:rPr lang="en-US" altLang="ja-JP"/>
              <a:t>2</a:t>
            </a:r>
            <a:r>
              <a:rPr lang="ja-JP" altLang="en-US"/>
              <a:t>月</a:t>
            </a:r>
            <a:r>
              <a:rPr lang="en-US" altLang="ja-JP"/>
              <a:t>4</a:t>
            </a:r>
            <a:r>
              <a:rPr lang="ja-JP" altLang="en-US"/>
              <a:t>日の日付差</a:t>
            </a:r>
            <a:r>
              <a:rPr lang="en-US" altLang="ja-JP"/>
              <a:t>108</a:t>
            </a:r>
            <a:r>
              <a:rPr lang="ja-JP" altLang="en-US"/>
              <a:t>日は作成者計算。
</a:t>
            </a:r>
            <a:r>
              <a:rPr lang="en-US" altLang="ja-JP"/>
              <a:t>S07 </a:t>
            </a:r>
            <a:r>
              <a:rPr lang="ja-JP" altLang="en-US"/>
              <a:t>アスクル（会社開示</a:t>
            </a:r>
            <a:r>
              <a:rPr lang="en-US" altLang="ja-JP"/>
              <a:t>PDF</a:t>
            </a:r>
            <a:r>
              <a:rPr lang="ja-JP" altLang="en-US"/>
              <a:t>、</a:t>
            </a:r>
            <a:r>
              <a:rPr lang="en-US" altLang="ja-JP"/>
              <a:t>Yahoo!</a:t>
            </a:r>
            <a:r>
              <a:rPr lang="ja-JP" altLang="en-US"/>
              <a:t>配信）
</a:t>
            </a:r>
            <a:r>
              <a:rPr lang="en-US" altLang="ja-JP"/>
              <a:t>2026</a:t>
            </a:r>
            <a:r>
              <a:rPr lang="ja-JP" altLang="en-US"/>
              <a:t>年</a:t>
            </a:r>
            <a:r>
              <a:rPr lang="en-US" altLang="ja-JP"/>
              <a:t>5</a:t>
            </a:r>
            <a:r>
              <a:rPr lang="ja-JP" altLang="en-US"/>
              <a:t>月期 決算短信</a:t>
            </a:r>
            <a:r>
              <a:rPr lang="en-US" altLang="ja-JP"/>
              <a:t>〔</a:t>
            </a:r>
            <a:r>
              <a:rPr lang="ja-JP" altLang="en-US"/>
              <a:t>日本基準</a:t>
            </a:r>
            <a:r>
              <a:rPr lang="en-US" altLang="ja-JP"/>
              <a:t>〕</a:t>
            </a:r>
            <a:r>
              <a:rPr lang="ja-JP" altLang="en-US"/>
              <a:t>（連結）
</a:t>
            </a:r>
            <a:r>
              <a:rPr lang="en-US" altLang="ja-JP"/>
              <a:t>2026-07-03
</a:t>
            </a:r>
            <a:r>
              <a:rPr lang="ja-JP" altLang="en-US"/>
              <a:t>添付</a:t>
            </a:r>
            <a:r>
              <a:rPr lang="en-US" altLang="ja-JP"/>
              <a:t>2</a:t>
            </a:r>
            <a:r>
              <a:rPr lang="ja-JP" altLang="en-US"/>
              <a:t>頁（</a:t>
            </a:r>
            <a:r>
              <a:rPr lang="en-US" altLang="ja-JP"/>
              <a:t>PDF4</a:t>
            </a:r>
            <a:r>
              <a:rPr lang="ja-JP" altLang="en-US"/>
              <a:t>頁）、連結損益計算書、追加情報（</a:t>
            </a:r>
            <a:r>
              <a:rPr lang="en-US" altLang="ja-JP"/>
              <a:t>PDF16</a:t>
            </a:r>
            <a:r>
              <a:rPr lang="ja-JP" altLang="en-US"/>
              <a:t>頁）
</a:t>
            </a:r>
            <a:r>
              <a:rPr lang="en-US" altLang="ja-JP"/>
              <a:t>https://finance-frontend-pc-dist.west.edge.storage-yahoo.jp/disclosure/20260703/20260703587650.pdf
</a:t>
            </a:r>
            <a:r>
              <a:rPr lang="ja-JP" altLang="en-US"/>
              <a:t>特別損失のシステム障害対応費用</a:t>
            </a:r>
            <a:r>
              <a:rPr lang="en-US" altLang="ja-JP"/>
              <a:t>5,108</a:t>
            </a:r>
            <a:r>
              <a:rPr lang="ja-JP" altLang="en-US"/>
              <a:t>百万円。営業外費用の休止固定資産減価償却費</a:t>
            </a:r>
            <a:r>
              <a:rPr lang="en-US" altLang="ja-JP"/>
              <a:t>1,269</a:t>
            </a:r>
            <a:r>
              <a:rPr lang="ja-JP" altLang="en-US"/>
              <a:t>百万円。連結純損失</a:t>
            </a:r>
            <a:r>
              <a:rPr lang="en-US" altLang="ja-JP"/>
              <a:t>22,150</a:t>
            </a:r>
            <a:r>
              <a:rPr lang="ja-JP" altLang="en-US"/>
              <a:t>百万円は会社全体の結果で、サイバー被害総額ではない。
調査基準日：</a:t>
            </a:r>
            <a:r>
              <a:rPr lang="en-US" altLang="ja-JP"/>
              <a:t>2026</a:t>
            </a:r>
            <a:r>
              <a:rPr lang="ja-JP" altLang="en-US"/>
              <a:t>年</a:t>
            </a:r>
            <a:r>
              <a:rPr lang="en-US" altLang="ja-JP"/>
              <a:t>10</a:t>
            </a:r>
            <a:r>
              <a:rPr lang="ja-JP" altLang="en-US"/>
              <a:t>月</a:t>
            </a:r>
            <a:r>
              <a:rPr lang="en-US" altLang="ja-JP"/>
              <a:t>22</a:t>
            </a:r>
            <a:r>
              <a:rPr lang="ja-JP" altLang="en-US"/>
              <a:t>日（日本時間）</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a:t>要点：直接費用に加え、事業の収益にも影響する。
会社が説明する「事業利益の減少額とその他費用」の合計約</a:t>
            </a:r>
            <a:r>
              <a:rPr lang="en-US" altLang="ja-JP"/>
              <a:t>400</a:t>
            </a:r>
            <a:r>
              <a:rPr lang="ja-JP" altLang="en-US"/>
              <a:t>億円を示す。左右の幅で内訳比率を表していない。受注再開・物流正常化の経過と会社再発防止策はノートに保持する。
説明の補助：</a:t>
            </a:r>
            <a:r>
              <a:rPr lang="en-US" altLang="ja-JP"/>
              <a:t>EOS</a:t>
            </a:r>
            <a:r>
              <a:rPr lang="ja-JP" altLang="en-US"/>
              <a:t>は電子受発注システム。</a:t>
            </a:r>
            <a:r>
              <a:rPr lang="en-US" altLang="ja-JP"/>
              <a:t>9/29</a:t>
            </a:r>
            <a:r>
              <a:rPr lang="ja-JP" altLang="en-US"/>
              <a:t>から</a:t>
            </a:r>
            <a:r>
              <a:rPr lang="en-US" altLang="ja-JP"/>
              <a:t>12/3</a:t>
            </a:r>
            <a:r>
              <a:rPr lang="ja-JP" altLang="en-US"/>
              <a:t>の暦日差は</a:t>
            </a:r>
            <a:r>
              <a:rPr lang="en-US" altLang="ja-JP"/>
              <a:t>65</a:t>
            </a:r>
            <a:r>
              <a:rPr lang="ja-JP" altLang="en-US"/>
              <a:t>日だが、手作業での対応があるため全面的な事業停止期間として使わない。食品の再開日は</a:t>
            </a:r>
            <a:r>
              <a:rPr lang="en-US" altLang="ja-JP"/>
              <a:t>12/2</a:t>
            </a:r>
            <a:r>
              <a:rPr lang="ja-JP" altLang="en-US"/>
              <a:t>。物流正常化の時点は会社公表どおり「</a:t>
            </a:r>
            <a:r>
              <a:rPr lang="en-US" altLang="ja-JP"/>
              <a:t>2026</a:t>
            </a:r>
            <a:r>
              <a:rPr lang="ja-JP" altLang="en-US"/>
              <a:t>年</a:t>
            </a:r>
            <a:r>
              <a:rPr lang="en-US" altLang="ja-JP"/>
              <a:t>2</a:t>
            </a:r>
            <a:r>
              <a:rPr lang="ja-JP" altLang="en-US"/>
              <a:t>月まで」とし、日付を補完しない。</a:t>
            </a:r>
            <a:r>
              <a:rPr lang="en-US" altLang="ja-JP"/>
              <a:t>Q4</a:t>
            </a:r>
            <a:r>
              <a:rPr lang="ja-JP" altLang="en-US"/>
              <a:t>の説明にある約</a:t>
            </a:r>
            <a:r>
              <a:rPr lang="en-US" altLang="ja-JP"/>
              <a:t>400</a:t>
            </a:r>
            <a:r>
              <a:rPr lang="ja-JP" altLang="en-US"/>
              <a:t>億円は会社算定の業績影響。丸めた内訳を足し直して独自の額を作らない。同社は監視・バックアップ・取締役会の監督等を強化すると公表。
情報基準日：</a:t>
            </a:r>
            <a:r>
              <a:rPr lang="en-US" altLang="ja-JP"/>
              <a:t>2026-10-22</a:t>
            </a:r>
            <a:r>
              <a:rPr lang="ja-JP" altLang="en-US"/>
              <a:t>（日本時間）
出典：
</a:t>
            </a:r>
            <a:r>
              <a:rPr lang="en-US" altLang="ja-JP"/>
              <a:t>S08 </a:t>
            </a:r>
            <a:r>
              <a:rPr lang="ja-JP" altLang="en-US"/>
              <a:t>アサヒグループ</a:t>
            </a:r>
            <a:r>
              <a:rPr lang="en-US" altLang="ja-JP"/>
              <a:t>HD / </a:t>
            </a:r>
            <a:r>
              <a:rPr lang="ja-JP" altLang="en-US"/>
              <a:t>サイバー攻撃被害の再発防止策とガバナンス体制の強化について
公表日：</a:t>
            </a:r>
            <a:r>
              <a:rPr lang="en-US" altLang="ja-JP"/>
              <a:t>2026-02-18
</a:t>
            </a:r>
            <a:r>
              <a:rPr lang="ja-JP" altLang="en-US"/>
              <a:t>該当箇所：</a:t>
            </a:r>
            <a:r>
              <a:rPr lang="en-US" altLang="ja-JP"/>
              <a:t>1.</a:t>
            </a:r>
            <a:r>
              <a:rPr lang="ja-JP" altLang="en-US"/>
              <a:t>事案概要、</a:t>
            </a:r>
            <a:r>
              <a:rPr lang="en-US" altLang="ja-JP"/>
              <a:t>4.</a:t>
            </a:r>
            <a:r>
              <a:rPr lang="ja-JP" altLang="en-US"/>
              <a:t>事業への影響と復旧状況、</a:t>
            </a:r>
            <a:r>
              <a:rPr lang="en-US" altLang="ja-JP"/>
              <a:t>6.</a:t>
            </a:r>
            <a:r>
              <a:rPr lang="ja-JP" altLang="en-US"/>
              <a:t>再発防止策
</a:t>
            </a:r>
            <a:r>
              <a:rPr lang="en-US" altLang="ja-JP"/>
              <a:t>URL</a:t>
            </a:r>
            <a:r>
              <a:rPr lang="ja-JP" altLang="en-US"/>
              <a:t>：</a:t>
            </a:r>
            <a:r>
              <a:rPr lang="en-US" altLang="ja-JP"/>
              <a:t>https://www.asahigroup-holdings.com/newsroom/detail/20260218-0101.html
</a:t>
            </a:r>
            <a:r>
              <a:rPr lang="ja-JP" altLang="en-US"/>
              <a:t>採用内容：</a:t>
            </a:r>
            <a:r>
              <a:rPr lang="en-US" altLang="ja-JP"/>
              <a:t>2025</a:t>
            </a:r>
            <a:r>
              <a:rPr lang="ja-JP" altLang="en-US"/>
              <a:t>年</a:t>
            </a:r>
            <a:r>
              <a:rPr lang="en-US" altLang="ja-JP"/>
              <a:t>9</a:t>
            </a:r>
            <a:r>
              <a:rPr lang="ja-JP" altLang="en-US"/>
              <a:t>月</a:t>
            </a:r>
            <a:r>
              <a:rPr lang="en-US" altLang="ja-JP"/>
              <a:t>29</a:t>
            </a:r>
            <a:r>
              <a:rPr lang="ja-JP" altLang="en-US"/>
              <a:t>日システム障害。拠点ネットワーク機器経由の侵入。食品</a:t>
            </a:r>
            <a:r>
              <a:rPr lang="en-US" altLang="ja-JP"/>
              <a:t>12</a:t>
            </a:r>
            <a:r>
              <a:rPr lang="ja-JP" altLang="en-US"/>
              <a:t>月</a:t>
            </a:r>
            <a:r>
              <a:rPr lang="en-US" altLang="ja-JP"/>
              <a:t>2</a:t>
            </a:r>
            <a:r>
              <a:rPr lang="ja-JP" altLang="en-US"/>
              <a:t>日、ビール・飲料</a:t>
            </a:r>
            <a:r>
              <a:rPr lang="en-US" altLang="ja-JP"/>
              <a:t>12</a:t>
            </a:r>
            <a:r>
              <a:rPr lang="ja-JP" altLang="en-US"/>
              <a:t>月</a:t>
            </a:r>
            <a:r>
              <a:rPr lang="en-US" altLang="ja-JP"/>
              <a:t>3</a:t>
            </a:r>
            <a:r>
              <a:rPr lang="ja-JP" altLang="en-US"/>
              <a:t>日</a:t>
            </a:r>
            <a:r>
              <a:rPr lang="en-US" altLang="ja-JP"/>
              <a:t>EOS</a:t>
            </a:r>
            <a:r>
              <a:rPr lang="ja-JP" altLang="en-US"/>
              <a:t>受注再開。</a:t>
            </a:r>
            <a:r>
              <a:rPr lang="en-US" altLang="ja-JP"/>
              <a:t>2026</a:t>
            </a:r>
            <a:r>
              <a:rPr lang="ja-JP" altLang="en-US"/>
              <a:t>年</a:t>
            </a:r>
            <a:r>
              <a:rPr lang="en-US" altLang="ja-JP"/>
              <a:t>2</a:t>
            </a:r>
            <a:r>
              <a:rPr lang="ja-JP" altLang="en-US"/>
              <a:t>月までに物流正常化。監視・バックアップ・ガバナンス強化等。
</a:t>
            </a:r>
            <a:r>
              <a:rPr lang="en-US" altLang="ja-JP"/>
              <a:t>S09 </a:t>
            </a:r>
            <a:r>
              <a:rPr lang="ja-JP" altLang="en-US"/>
              <a:t>アサヒグループ</a:t>
            </a:r>
            <a:r>
              <a:rPr lang="en-US" altLang="ja-JP"/>
              <a:t>HD / 2025</a:t>
            </a:r>
            <a:r>
              <a:rPr lang="ja-JP" altLang="en-US"/>
              <a:t>年</a:t>
            </a:r>
            <a:r>
              <a:rPr lang="en-US" altLang="ja-JP"/>
              <a:t>12</a:t>
            </a:r>
            <a:r>
              <a:rPr lang="ja-JP" altLang="en-US"/>
              <a:t>月期 決算説明会 主な質疑応答
公表日：</a:t>
            </a:r>
            <a:r>
              <a:rPr lang="en-US" altLang="ja-JP"/>
              <a:t>2025</a:t>
            </a:r>
            <a:r>
              <a:rPr lang="ja-JP" altLang="en-US"/>
              <a:t>年</a:t>
            </a:r>
            <a:r>
              <a:rPr lang="en-US" altLang="ja-JP"/>
              <a:t>12</a:t>
            </a:r>
            <a:r>
              <a:rPr lang="ja-JP" altLang="en-US"/>
              <a:t>月期決算説明会資料（</a:t>
            </a:r>
            <a:r>
              <a:rPr lang="en-US" altLang="ja-JP"/>
              <a:t>2026</a:t>
            </a:r>
            <a:r>
              <a:rPr lang="ja-JP" altLang="en-US"/>
              <a:t>年公表）
該当箇所：</a:t>
            </a:r>
            <a:r>
              <a:rPr lang="en-US" altLang="ja-JP"/>
              <a:t>Q4 </a:t>
            </a:r>
            <a:r>
              <a:rPr lang="ja-JP" altLang="en-US"/>
              <a:t>システム障害による日本・東アジアへの業績影響
</a:t>
            </a:r>
            <a:r>
              <a:rPr lang="en-US" altLang="ja-JP"/>
              <a:t>URL</a:t>
            </a:r>
            <a:r>
              <a:rPr lang="ja-JP" altLang="en-US"/>
              <a:t>：</a:t>
            </a:r>
            <a:r>
              <a:rPr lang="en-US" altLang="ja-JP"/>
              <a:t>https://www.asahigroup-holdings.com/ir/event/presentation/2025/qa_yearend.html
</a:t>
            </a:r>
            <a:r>
              <a:rPr lang="ja-JP" altLang="en-US"/>
              <a:t>採用内容：事業利益の減少額と「その他」の費用を合わせ約</a:t>
            </a:r>
            <a:r>
              <a:rPr lang="en-US" altLang="ja-JP"/>
              <a:t>400</a:t>
            </a:r>
            <a:r>
              <a:rPr lang="ja-JP" altLang="en-US"/>
              <a:t>億円の影響と会社が説明。会社算定の業績影響であり、被害総額や特別損失ではない。
</a:t>
            </a:r>
            <a:r>
              <a:rPr lang="en-US" altLang="ja-JP"/>
              <a:t>8
</a:t>
            </a:r>
            <a:r>
              <a:rPr lang="ja-JP" altLang="en-US"/>
              <a:t>出典・補足：
</a:t>
            </a:r>
            <a:r>
              <a:rPr lang="en-US" altLang="ja-JP"/>
              <a:t>S08 </a:t>
            </a:r>
            <a:r>
              <a:rPr lang="ja-JP" altLang="en-US"/>
              <a:t>アサヒグループ</a:t>
            </a:r>
            <a:r>
              <a:rPr lang="en-US" altLang="ja-JP"/>
              <a:t>HD
</a:t>
            </a:r>
            <a:r>
              <a:rPr lang="ja-JP" altLang="en-US"/>
              <a:t>サイバー攻撃被害の再発防止策とガバナンス体制の強化について
</a:t>
            </a:r>
            <a:r>
              <a:rPr lang="en-US" altLang="ja-JP"/>
              <a:t>2026-02-18
1.</a:t>
            </a:r>
            <a:r>
              <a:rPr lang="ja-JP" altLang="en-US"/>
              <a:t>事案概要、</a:t>
            </a:r>
            <a:r>
              <a:rPr lang="en-US" altLang="ja-JP"/>
              <a:t>4.</a:t>
            </a:r>
            <a:r>
              <a:rPr lang="ja-JP" altLang="en-US"/>
              <a:t>事業への影響と復旧状況、</a:t>
            </a:r>
            <a:r>
              <a:rPr lang="en-US" altLang="ja-JP"/>
              <a:t>6.</a:t>
            </a:r>
            <a:r>
              <a:rPr lang="ja-JP" altLang="en-US"/>
              <a:t>再発防止策
</a:t>
            </a:r>
            <a:r>
              <a:rPr lang="en-US" altLang="ja-JP"/>
              <a:t>https://www.asahigroup-holdings.com/newsroom/detail/20260218-0101.html
2025</a:t>
            </a:r>
            <a:r>
              <a:rPr lang="ja-JP" altLang="en-US"/>
              <a:t>年</a:t>
            </a:r>
            <a:r>
              <a:rPr lang="en-US" altLang="ja-JP"/>
              <a:t>9</a:t>
            </a:r>
            <a:r>
              <a:rPr lang="ja-JP" altLang="en-US"/>
              <a:t>月</a:t>
            </a:r>
            <a:r>
              <a:rPr lang="en-US" altLang="ja-JP"/>
              <a:t>29</a:t>
            </a:r>
            <a:r>
              <a:rPr lang="ja-JP" altLang="en-US"/>
              <a:t>日システム障害。拠点ネットワーク機器経由の侵入。食品</a:t>
            </a:r>
            <a:r>
              <a:rPr lang="en-US" altLang="ja-JP"/>
              <a:t>12</a:t>
            </a:r>
            <a:r>
              <a:rPr lang="ja-JP" altLang="en-US"/>
              <a:t>月</a:t>
            </a:r>
            <a:r>
              <a:rPr lang="en-US" altLang="ja-JP"/>
              <a:t>2</a:t>
            </a:r>
            <a:r>
              <a:rPr lang="ja-JP" altLang="en-US"/>
              <a:t>日、ビール・飲料</a:t>
            </a:r>
            <a:r>
              <a:rPr lang="en-US" altLang="ja-JP"/>
              <a:t>12</a:t>
            </a:r>
            <a:r>
              <a:rPr lang="ja-JP" altLang="en-US"/>
              <a:t>月</a:t>
            </a:r>
            <a:r>
              <a:rPr lang="en-US" altLang="ja-JP"/>
              <a:t>3</a:t>
            </a:r>
            <a:r>
              <a:rPr lang="ja-JP" altLang="en-US"/>
              <a:t>日</a:t>
            </a:r>
            <a:r>
              <a:rPr lang="en-US" altLang="ja-JP"/>
              <a:t>EOS</a:t>
            </a:r>
            <a:r>
              <a:rPr lang="ja-JP" altLang="en-US"/>
              <a:t>受注再開。</a:t>
            </a:r>
            <a:r>
              <a:rPr lang="en-US" altLang="ja-JP"/>
              <a:t>2026</a:t>
            </a:r>
            <a:r>
              <a:rPr lang="ja-JP" altLang="en-US"/>
              <a:t>年</a:t>
            </a:r>
            <a:r>
              <a:rPr lang="en-US" altLang="ja-JP"/>
              <a:t>2</a:t>
            </a:r>
            <a:r>
              <a:rPr lang="ja-JP" altLang="en-US"/>
              <a:t>月までに物流正常化。監視・バックアップ・ガバナンス強化等。
</a:t>
            </a:r>
            <a:r>
              <a:rPr lang="en-US" altLang="ja-JP"/>
              <a:t>S09 </a:t>
            </a:r>
            <a:r>
              <a:rPr lang="ja-JP" altLang="en-US"/>
              <a:t>アサヒグループ</a:t>
            </a:r>
            <a:r>
              <a:rPr lang="en-US" altLang="ja-JP"/>
              <a:t>HD
2025</a:t>
            </a:r>
            <a:r>
              <a:rPr lang="ja-JP" altLang="en-US"/>
              <a:t>年</a:t>
            </a:r>
            <a:r>
              <a:rPr lang="en-US" altLang="ja-JP"/>
              <a:t>12</a:t>
            </a:r>
            <a:r>
              <a:rPr lang="ja-JP" altLang="en-US"/>
              <a:t>月期 決算説明会 主な質疑応答
</a:t>
            </a:r>
            <a:r>
              <a:rPr lang="en-US" altLang="ja-JP"/>
              <a:t>2025</a:t>
            </a:r>
            <a:r>
              <a:rPr lang="ja-JP" altLang="en-US"/>
              <a:t>年</a:t>
            </a:r>
            <a:r>
              <a:rPr lang="en-US" altLang="ja-JP"/>
              <a:t>12</a:t>
            </a:r>
            <a:r>
              <a:rPr lang="ja-JP" altLang="en-US"/>
              <a:t>月期決算説明会資料（</a:t>
            </a:r>
            <a:r>
              <a:rPr lang="en-US" altLang="ja-JP"/>
              <a:t>2026</a:t>
            </a:r>
            <a:r>
              <a:rPr lang="ja-JP" altLang="en-US"/>
              <a:t>年公表）
</a:t>
            </a:r>
            <a:r>
              <a:rPr lang="en-US" altLang="ja-JP"/>
              <a:t>Q4 </a:t>
            </a:r>
            <a:r>
              <a:rPr lang="ja-JP" altLang="en-US"/>
              <a:t>システム障害による日本・東アジアへの業績影響
</a:t>
            </a:r>
            <a:r>
              <a:rPr lang="en-US" altLang="ja-JP"/>
              <a:t>https://www.asahigroup-holdings.com/ir/event/presentation/2025/qa_yearend.html
</a:t>
            </a:r>
            <a:r>
              <a:rPr lang="ja-JP" altLang="en-US"/>
              <a:t>事業利益の減少額と「その他」の費用を合わせ約</a:t>
            </a:r>
            <a:r>
              <a:rPr lang="en-US" altLang="ja-JP"/>
              <a:t>400</a:t>
            </a:r>
            <a:r>
              <a:rPr lang="ja-JP" altLang="en-US"/>
              <a:t>億円の影響と会社が説明。会社算定の業績影響であり、被害総額や特別損失ではない。
調査基準日：</a:t>
            </a:r>
            <a:r>
              <a:rPr lang="en-US" altLang="ja-JP"/>
              <a:t>2026</a:t>
            </a:r>
            <a:r>
              <a:rPr lang="ja-JP" altLang="en-US"/>
              <a:t>年</a:t>
            </a:r>
            <a:r>
              <a:rPr lang="en-US" altLang="ja-JP"/>
              <a:t>10</a:t>
            </a:r>
            <a:r>
              <a:rPr lang="ja-JP" altLang="en-US"/>
              <a:t>月</a:t>
            </a:r>
            <a:r>
              <a:rPr lang="en-US" altLang="ja-JP"/>
              <a:t>22</a:t>
            </a:r>
            <a:r>
              <a:rPr lang="ja-JP" altLang="en-US"/>
              <a:t>日（日本時間）</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a:t>要点：自社の停止シナリオの損失と、実装・継続運用の費用を照合する。
図は判断に必要な項目を整理した概念図で、公的な統一算式ではない。損失見込みの全額が投資によって防げるとはみなさない。具体的な対策の削減効果、停止損失、予算は自社データで評価する。
説明の補助：模式図の矢印は評価の順序を示す。厳密な共通算式や公的基準を示すものではない。限界利益は売上から変動費を引いた利益。期間と売上高は同じ時間単位にする。</a:t>
            </a:r>
            <a:r>
              <a:rPr lang="en-US" altLang="ja-JP"/>
              <a:t>1</a:t>
            </a:r>
            <a:r>
              <a:rPr lang="ja-JP" altLang="en-US"/>
              <a:t>日・</a:t>
            </a:r>
            <a:r>
              <a:rPr lang="en-US" altLang="ja-JP"/>
              <a:t>1</a:t>
            </a:r>
            <a:r>
              <a:rPr lang="ja-JP" altLang="en-US"/>
              <a:t>週間・</a:t>
            </a:r>
            <a:r>
              <a:rPr lang="en-US" altLang="ja-JP"/>
              <a:t>1</a:t>
            </a:r>
            <a:r>
              <a:rPr lang="ja-JP" altLang="en-US"/>
              <a:t>か月など複数の停止シナリオを使い、代替供給や受注繰延べも考慮する。改善後にどの費用・停止時間を抑制できるかを対策責任者と評価する。攻撃の発生確率や対策効果率が不明なため、期待損失削減額や</a:t>
            </a:r>
            <a:r>
              <a:rPr lang="en-US" altLang="ja-JP"/>
              <a:t>ROI</a:t>
            </a:r>
            <a:r>
              <a:rPr lang="ja-JP" altLang="en-US"/>
              <a:t>を計算しない。予算の金額は未提供情報を補った後の審議事項。
情報基準日：</a:t>
            </a:r>
            <a:r>
              <a:rPr lang="en-US" altLang="ja-JP"/>
              <a:t>2026-10-22</a:t>
            </a:r>
            <a:r>
              <a:rPr lang="ja-JP" altLang="en-US"/>
              <a:t>（日本時間）
出典：
作成者の分析・提案。自社の実績・予算・効果を示すものではありません。
</a:t>
            </a:r>
            <a:r>
              <a:rPr lang="en-US" altLang="ja-JP"/>
              <a:t>13
</a:t>
            </a:r>
            <a:r>
              <a:rPr lang="ja-JP" altLang="en-US"/>
              <a:t>出典・補足：
調査基準日：</a:t>
            </a:r>
            <a:r>
              <a:rPr lang="en-US" altLang="ja-JP"/>
              <a:t>2026</a:t>
            </a:r>
            <a:r>
              <a:rPr lang="ja-JP" altLang="en-US"/>
              <a:t>年</a:t>
            </a:r>
            <a:r>
              <a:rPr lang="en-US" altLang="ja-JP"/>
              <a:t>10</a:t>
            </a:r>
            <a:r>
              <a:rPr lang="ja-JP" altLang="en-US"/>
              <a:t>月</a:t>
            </a:r>
            <a:r>
              <a:rPr lang="en-US" altLang="ja-JP"/>
              <a:t>22</a:t>
            </a:r>
            <a:r>
              <a:rPr lang="ja-JP" altLang="en-US"/>
              <a:t>日（日本時間）</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a:t>要点：重要業務の検知・復旧を推奨範囲とし、検証して全社へ広げる。
図の段差・面積は予算額や効果率を示さない。緊急是正だけでは監視・復旧のリスクが残る。最低限、推奨、拡張の費用項目・残存リスクはノートに保持する。
説明の補助：最低限・推奨・拡張は本資料の投資案。実装順序と予算配分は自社の現状確認後に調整する。最低限だけで十分という意味ではない。各社の再発防止策を参考にしたが、自社に導入済みか不足しているかは未診断。</a:t>
            </a:r>
            <a:r>
              <a:rPr lang="en-US" altLang="ja-JP"/>
              <a:t>EDR</a:t>
            </a:r>
            <a:r>
              <a:rPr lang="ja-JP" altLang="en-US"/>
              <a:t>等の製品購入だけで運用が自動的に成立するとはみなさない。
情報基準日：</a:t>
            </a:r>
            <a:r>
              <a:rPr lang="en-US" altLang="ja-JP"/>
              <a:t>2026-10-22</a:t>
            </a:r>
            <a:r>
              <a:rPr lang="ja-JP" altLang="en-US"/>
              <a:t>（日本時間）
出典：
</a:t>
            </a:r>
            <a:r>
              <a:rPr lang="en-US" altLang="ja-JP"/>
              <a:t>S01 </a:t>
            </a:r>
            <a:r>
              <a:rPr lang="ja-JP" altLang="en-US"/>
              <a:t>警察庁 </a:t>
            </a:r>
            <a:r>
              <a:rPr lang="en-US" altLang="ja-JP"/>
              <a:t>/ </a:t>
            </a:r>
            <a:r>
              <a:rPr lang="ja-JP" altLang="en-US"/>
              <a:t>令和</a:t>
            </a:r>
            <a:r>
              <a:rPr lang="en-US" altLang="ja-JP"/>
              <a:t>8</a:t>
            </a:r>
            <a:r>
              <a:rPr lang="ja-JP" altLang="en-US"/>
              <a:t>年上半期におけるサイバー空間をめぐる脅威の情勢等について
公表日：</a:t>
            </a:r>
            <a:r>
              <a:rPr lang="en-US" altLang="ja-JP"/>
              <a:t>2026</a:t>
            </a:r>
            <a:r>
              <a:rPr lang="ja-JP" altLang="en-US"/>
              <a:t>年</a:t>
            </a:r>
            <a:r>
              <a:rPr lang="en-US" altLang="ja-JP"/>
              <a:t>9</a:t>
            </a:r>
            <a:r>
              <a:rPr lang="ja-JP" altLang="en-US"/>
              <a:t>月
該当箇所：本文</a:t>
            </a:r>
            <a:r>
              <a:rPr lang="en-US" altLang="ja-JP"/>
              <a:t>9</a:t>
            </a:r>
            <a:r>
              <a:rPr lang="ja-JP" altLang="en-US"/>
              <a:t>頁・図表</a:t>
            </a:r>
            <a:r>
              <a:rPr lang="en-US" altLang="ja-JP"/>
              <a:t>4</a:t>
            </a:r>
            <a:r>
              <a:rPr lang="ja-JP" altLang="en-US"/>
              <a:t>（</a:t>
            </a:r>
            <a:r>
              <a:rPr lang="en-US" altLang="ja-JP"/>
              <a:t>PDF18</a:t>
            </a:r>
            <a:r>
              <a:rPr lang="ja-JP" altLang="en-US"/>
              <a:t>頁）、本文</a:t>
            </a:r>
            <a:r>
              <a:rPr lang="en-US" altLang="ja-JP"/>
              <a:t>10</a:t>
            </a:r>
            <a:r>
              <a:rPr lang="ja-JP" altLang="en-US"/>
              <a:t>頁
</a:t>
            </a:r>
            <a:r>
              <a:rPr lang="en-US" altLang="ja-JP"/>
              <a:t>URL</a:t>
            </a:r>
            <a:r>
              <a:rPr lang="ja-JP" altLang="en-US"/>
              <a:t>：</a:t>
            </a:r>
            <a:r>
              <a:rPr lang="en-US" altLang="ja-JP"/>
              <a:t>https://www.npa.go.jp/publications/statistics/cybersecurity/data/R8kami/R08_kami_cyber_jousei.pdf
</a:t>
            </a:r>
            <a:r>
              <a:rPr lang="ja-JP" altLang="en-US"/>
              <a:t>採用内容：</a:t>
            </a:r>
            <a:r>
              <a:rPr lang="en-US" altLang="ja-JP"/>
              <a:t>2020</a:t>
            </a:r>
            <a:r>
              <a:rPr lang="ja-JP" altLang="en-US"/>
              <a:t>下期～</a:t>
            </a:r>
            <a:r>
              <a:rPr lang="en-US" altLang="ja-JP"/>
              <a:t>2026</a:t>
            </a:r>
            <a:r>
              <a:rPr lang="ja-JP" altLang="en-US"/>
              <a:t>上期の半期別被害報告件数。</a:t>
            </a:r>
            <a:r>
              <a:rPr lang="en-US" altLang="ja-JP"/>
              <a:t>2026</a:t>
            </a:r>
            <a:r>
              <a:rPr lang="ja-JP" altLang="en-US"/>
              <a:t>上期</a:t>
            </a:r>
            <a:r>
              <a:rPr lang="en-US" altLang="ja-JP"/>
              <a:t>123</a:t>
            </a:r>
            <a:r>
              <a:rPr lang="ja-JP" altLang="en-US"/>
              <a:t>件。</a:t>
            </a:r>
            <a:r>
              <a:rPr lang="en-US" altLang="ja-JP"/>
              <a:t>RaaS</a:t>
            </a:r>
            <a:r>
              <a:rPr lang="ja-JP" altLang="en-US"/>
              <a:t>と侵入・権限奪取・暗号化の典型的な流れ。
</a:t>
            </a:r>
            <a:r>
              <a:rPr lang="en-US" altLang="ja-JP"/>
              <a:t>S05 </a:t>
            </a:r>
            <a:r>
              <a:rPr lang="ja-JP" altLang="en-US"/>
              <a:t>アスクル </a:t>
            </a:r>
            <a:r>
              <a:rPr lang="en-US" altLang="ja-JP"/>
              <a:t>/ </a:t>
            </a:r>
            <a:r>
              <a:rPr lang="ja-JP" altLang="en-US"/>
              <a:t>ランサムウェア攻撃の影響調査結果および安全性強化に向けた取り組み（第</a:t>
            </a:r>
            <a:r>
              <a:rPr lang="en-US" altLang="ja-JP"/>
              <a:t>13</a:t>
            </a:r>
            <a:r>
              <a:rPr lang="ja-JP" altLang="en-US"/>
              <a:t>報）
公表日：</a:t>
            </a:r>
            <a:r>
              <a:rPr lang="en-US" altLang="ja-JP"/>
              <a:t>2025-12-12
</a:t>
            </a:r>
            <a:r>
              <a:rPr lang="ja-JP" altLang="en-US"/>
              <a:t>該当箇所：</a:t>
            </a:r>
            <a:r>
              <a:rPr lang="en-US" altLang="ja-JP"/>
              <a:t>1</a:t>
            </a:r>
            <a:r>
              <a:rPr lang="ja-JP" altLang="en-US"/>
              <a:t>～</a:t>
            </a:r>
            <a:r>
              <a:rPr lang="en-US" altLang="ja-JP"/>
              <a:t>2</a:t>
            </a:r>
            <a:r>
              <a:rPr lang="ja-JP" altLang="en-US"/>
              <a:t>頁 時系列、</a:t>
            </a:r>
            <a:r>
              <a:rPr lang="en-US" altLang="ja-JP"/>
              <a:t>3</a:t>
            </a:r>
            <a:r>
              <a:rPr lang="ja-JP" altLang="en-US"/>
              <a:t>～</a:t>
            </a:r>
            <a:r>
              <a:rPr lang="en-US" altLang="ja-JP"/>
              <a:t>4</a:t>
            </a:r>
            <a:r>
              <a:rPr lang="ja-JP" altLang="en-US"/>
              <a:t>頁 侵害・原因・再発防止策
</a:t>
            </a:r>
            <a:r>
              <a:rPr lang="en-US" altLang="ja-JP"/>
              <a:t>URL</a:t>
            </a:r>
            <a:r>
              <a:rPr lang="ja-JP" altLang="en-US"/>
              <a:t>：</a:t>
            </a:r>
            <a:r>
              <a:rPr lang="en-US" altLang="ja-JP"/>
              <a:t>https://pdf.irpocket.com/C0032/PDLX/O3bg/N4O3.pdf
</a:t>
            </a:r>
            <a:r>
              <a:rPr lang="ja-JP" altLang="en-US"/>
              <a:t>採用内容：</a:t>
            </a:r>
            <a:r>
              <a:rPr lang="en-US" altLang="ja-JP"/>
              <a:t>10</a:t>
            </a:r>
            <a:r>
              <a:rPr lang="ja-JP" altLang="en-US"/>
              <a:t>月</a:t>
            </a:r>
            <a:r>
              <a:rPr lang="en-US" altLang="ja-JP"/>
              <a:t>19</a:t>
            </a:r>
            <a:r>
              <a:rPr lang="ja-JP" altLang="en-US"/>
              <a:t>日の受注・出荷停止、</a:t>
            </a:r>
            <a:r>
              <a:rPr lang="en-US" altLang="ja-JP"/>
              <a:t>10</a:t>
            </a:r>
            <a:r>
              <a:rPr lang="ja-JP" altLang="en-US"/>
              <a:t>月</a:t>
            </a:r>
            <a:r>
              <a:rPr lang="en-US" altLang="ja-JP"/>
              <a:t>29</a:t>
            </a:r>
            <a:r>
              <a:rPr lang="ja-JP" altLang="en-US"/>
              <a:t>日の出荷トライアル。</a:t>
            </a:r>
            <a:r>
              <a:rPr lang="en-US" altLang="ja-JP"/>
              <a:t>MFA</a:t>
            </a:r>
            <a:r>
              <a:rPr lang="ja-JP" altLang="en-US"/>
              <a:t>未適用の委託先管理者アカウントの不正利用、侵害</a:t>
            </a:r>
            <a:r>
              <a:rPr lang="en-US" altLang="ja-JP"/>
              <a:t>DC</a:t>
            </a:r>
            <a:r>
              <a:rPr lang="ja-JP" altLang="en-US"/>
              <a:t>のサーバ</a:t>
            </a:r>
            <a:r>
              <a:rPr lang="en-US" altLang="ja-JP"/>
              <a:t>EDR</a:t>
            </a:r>
            <a:r>
              <a:rPr lang="ja-JP" altLang="en-US"/>
              <a:t>未導入・</a:t>
            </a:r>
            <a:r>
              <a:rPr lang="en-US" altLang="ja-JP"/>
              <a:t>24</a:t>
            </a:r>
            <a:r>
              <a:rPr lang="ja-JP" altLang="en-US"/>
              <a:t>時間監視未実施、バックアップ暗号化。原因の完全究明は困難。
</a:t>
            </a:r>
            <a:r>
              <a:rPr lang="en-US" altLang="ja-JP"/>
              <a:t>S08 </a:t>
            </a:r>
            <a:r>
              <a:rPr lang="ja-JP" altLang="en-US"/>
              <a:t>アサヒグループ</a:t>
            </a:r>
            <a:r>
              <a:rPr lang="en-US" altLang="ja-JP"/>
              <a:t>HD / </a:t>
            </a:r>
            <a:r>
              <a:rPr lang="ja-JP" altLang="en-US"/>
              <a:t>サイバー攻撃被害の再発防止策とガバナンス体制の強化について
公表日：</a:t>
            </a:r>
            <a:r>
              <a:rPr lang="en-US" altLang="ja-JP"/>
              <a:t>2026-02-18
</a:t>
            </a:r>
            <a:r>
              <a:rPr lang="ja-JP" altLang="en-US"/>
              <a:t>該当箇所：</a:t>
            </a:r>
            <a:r>
              <a:rPr lang="en-US" altLang="ja-JP"/>
              <a:t>1.</a:t>
            </a:r>
            <a:r>
              <a:rPr lang="ja-JP" altLang="en-US"/>
              <a:t>事案概要、</a:t>
            </a:r>
            <a:r>
              <a:rPr lang="en-US" altLang="ja-JP"/>
              <a:t>4.</a:t>
            </a:r>
            <a:r>
              <a:rPr lang="ja-JP" altLang="en-US"/>
              <a:t>事業への影響と復旧状況、</a:t>
            </a:r>
            <a:r>
              <a:rPr lang="en-US" altLang="ja-JP"/>
              <a:t>6.</a:t>
            </a:r>
            <a:r>
              <a:rPr lang="ja-JP" altLang="en-US"/>
              <a:t>再発防止策
</a:t>
            </a:r>
            <a:r>
              <a:rPr lang="en-US" altLang="ja-JP"/>
              <a:t>URL</a:t>
            </a:r>
            <a:r>
              <a:rPr lang="ja-JP" altLang="en-US"/>
              <a:t>：</a:t>
            </a:r>
            <a:r>
              <a:rPr lang="en-US" altLang="ja-JP"/>
              <a:t>https://www.asahigroup-holdings.com/newsroom/detail/20260218-0101.html
</a:t>
            </a:r>
            <a:r>
              <a:rPr lang="ja-JP" altLang="en-US"/>
              <a:t>採用内容：</a:t>
            </a:r>
            <a:r>
              <a:rPr lang="en-US" altLang="ja-JP"/>
              <a:t>2025</a:t>
            </a:r>
            <a:r>
              <a:rPr lang="ja-JP" altLang="en-US"/>
              <a:t>年</a:t>
            </a:r>
            <a:r>
              <a:rPr lang="en-US" altLang="ja-JP"/>
              <a:t>9</a:t>
            </a:r>
            <a:r>
              <a:rPr lang="ja-JP" altLang="en-US"/>
              <a:t>月</a:t>
            </a:r>
            <a:r>
              <a:rPr lang="en-US" altLang="ja-JP"/>
              <a:t>29</a:t>
            </a:r>
            <a:r>
              <a:rPr lang="ja-JP" altLang="en-US"/>
              <a:t>日システム障害。拠点ネットワーク機器経由の侵入。食品</a:t>
            </a:r>
            <a:r>
              <a:rPr lang="en-US" altLang="ja-JP"/>
              <a:t>12</a:t>
            </a:r>
            <a:r>
              <a:rPr lang="ja-JP" altLang="en-US"/>
              <a:t>月</a:t>
            </a:r>
            <a:r>
              <a:rPr lang="en-US" altLang="ja-JP"/>
              <a:t>2</a:t>
            </a:r>
            <a:r>
              <a:rPr lang="ja-JP" altLang="en-US"/>
              <a:t>日、ビール・飲料</a:t>
            </a:r>
            <a:r>
              <a:rPr lang="en-US" altLang="ja-JP"/>
              <a:t>12</a:t>
            </a:r>
            <a:r>
              <a:rPr lang="ja-JP" altLang="en-US"/>
              <a:t>月</a:t>
            </a:r>
            <a:r>
              <a:rPr lang="en-US" altLang="ja-JP"/>
              <a:t>3</a:t>
            </a:r>
            <a:r>
              <a:rPr lang="ja-JP" altLang="en-US"/>
              <a:t>日</a:t>
            </a:r>
            <a:r>
              <a:rPr lang="en-US" altLang="ja-JP"/>
              <a:t>EOS</a:t>
            </a:r>
            <a:r>
              <a:rPr lang="ja-JP" altLang="en-US"/>
              <a:t>受注再開。</a:t>
            </a:r>
            <a:r>
              <a:rPr lang="en-US" altLang="ja-JP"/>
              <a:t>2026</a:t>
            </a:r>
            <a:r>
              <a:rPr lang="ja-JP" altLang="en-US"/>
              <a:t>年</a:t>
            </a:r>
            <a:r>
              <a:rPr lang="en-US" altLang="ja-JP"/>
              <a:t>2</a:t>
            </a:r>
            <a:r>
              <a:rPr lang="ja-JP" altLang="en-US"/>
              <a:t>月までに物流正常化。監視・バックアップ・ガバナンス強化等。
</a:t>
            </a:r>
            <a:r>
              <a:rPr lang="en-US" altLang="ja-JP"/>
              <a:t>12
</a:t>
            </a:r>
            <a:r>
              <a:rPr lang="ja-JP" altLang="en-US"/>
              <a:t>出典・補足：
</a:t>
            </a:r>
            <a:r>
              <a:rPr lang="en-US" altLang="ja-JP"/>
              <a:t>S01 </a:t>
            </a:r>
            <a:r>
              <a:rPr lang="ja-JP" altLang="en-US"/>
              <a:t>警察庁
令和</a:t>
            </a:r>
            <a:r>
              <a:rPr lang="en-US" altLang="ja-JP"/>
              <a:t>8</a:t>
            </a:r>
            <a:r>
              <a:rPr lang="ja-JP" altLang="en-US"/>
              <a:t>年上半期におけるサイバー空間をめぐる脅威の情勢等について
</a:t>
            </a:r>
            <a:r>
              <a:rPr lang="en-US" altLang="ja-JP"/>
              <a:t>2026</a:t>
            </a:r>
            <a:r>
              <a:rPr lang="ja-JP" altLang="en-US"/>
              <a:t>年</a:t>
            </a:r>
            <a:r>
              <a:rPr lang="en-US" altLang="ja-JP"/>
              <a:t>9</a:t>
            </a:r>
            <a:r>
              <a:rPr lang="ja-JP" altLang="en-US"/>
              <a:t>月
本文</a:t>
            </a:r>
            <a:r>
              <a:rPr lang="en-US" altLang="ja-JP"/>
              <a:t>9</a:t>
            </a:r>
            <a:r>
              <a:rPr lang="ja-JP" altLang="en-US"/>
              <a:t>頁・図表</a:t>
            </a:r>
            <a:r>
              <a:rPr lang="en-US" altLang="ja-JP"/>
              <a:t>4</a:t>
            </a:r>
            <a:r>
              <a:rPr lang="ja-JP" altLang="en-US"/>
              <a:t>（</a:t>
            </a:r>
            <a:r>
              <a:rPr lang="en-US" altLang="ja-JP"/>
              <a:t>PDF18</a:t>
            </a:r>
            <a:r>
              <a:rPr lang="ja-JP" altLang="en-US"/>
              <a:t>頁）、本文</a:t>
            </a:r>
            <a:r>
              <a:rPr lang="en-US" altLang="ja-JP"/>
              <a:t>10</a:t>
            </a:r>
            <a:r>
              <a:rPr lang="ja-JP" altLang="en-US"/>
              <a:t>頁
</a:t>
            </a:r>
            <a:r>
              <a:rPr lang="en-US" altLang="ja-JP"/>
              <a:t>https://www.npa.go.jp/publications/statistics/cybersecurity/data/R8kami/R08_kami_cyber_jousei.pdf
2020</a:t>
            </a:r>
            <a:r>
              <a:rPr lang="ja-JP" altLang="en-US"/>
              <a:t>下期～</a:t>
            </a:r>
            <a:r>
              <a:rPr lang="en-US" altLang="ja-JP"/>
              <a:t>2026</a:t>
            </a:r>
            <a:r>
              <a:rPr lang="ja-JP" altLang="en-US"/>
              <a:t>上期の半期別被害報告件数。</a:t>
            </a:r>
            <a:r>
              <a:rPr lang="en-US" altLang="ja-JP"/>
              <a:t>2026</a:t>
            </a:r>
            <a:r>
              <a:rPr lang="ja-JP" altLang="en-US"/>
              <a:t>上期</a:t>
            </a:r>
            <a:r>
              <a:rPr lang="en-US" altLang="ja-JP"/>
              <a:t>123</a:t>
            </a:r>
            <a:r>
              <a:rPr lang="ja-JP" altLang="en-US"/>
              <a:t>件。</a:t>
            </a:r>
            <a:r>
              <a:rPr lang="en-US" altLang="ja-JP"/>
              <a:t>RaaS</a:t>
            </a:r>
            <a:r>
              <a:rPr lang="ja-JP" altLang="en-US"/>
              <a:t>と侵入・権限奪取・暗号化の典型的な流れ。
</a:t>
            </a:r>
            <a:r>
              <a:rPr lang="en-US" altLang="ja-JP"/>
              <a:t>S05 </a:t>
            </a:r>
            <a:r>
              <a:rPr lang="ja-JP" altLang="en-US"/>
              <a:t>アスクル
ランサムウェア攻撃の影響調査結果および安全性強化に向けた取り組み（第</a:t>
            </a:r>
            <a:r>
              <a:rPr lang="en-US" altLang="ja-JP"/>
              <a:t>13</a:t>
            </a:r>
            <a:r>
              <a:rPr lang="ja-JP" altLang="en-US"/>
              <a:t>報）
</a:t>
            </a:r>
            <a:r>
              <a:rPr lang="en-US" altLang="ja-JP"/>
              <a:t>2025-12-12
1</a:t>
            </a:r>
            <a:r>
              <a:rPr lang="ja-JP" altLang="en-US"/>
              <a:t>～</a:t>
            </a:r>
            <a:r>
              <a:rPr lang="en-US" altLang="ja-JP"/>
              <a:t>2</a:t>
            </a:r>
            <a:r>
              <a:rPr lang="ja-JP" altLang="en-US"/>
              <a:t>頁 時系列、</a:t>
            </a:r>
            <a:r>
              <a:rPr lang="en-US" altLang="ja-JP"/>
              <a:t>3</a:t>
            </a:r>
            <a:r>
              <a:rPr lang="ja-JP" altLang="en-US"/>
              <a:t>～</a:t>
            </a:r>
            <a:r>
              <a:rPr lang="en-US" altLang="ja-JP"/>
              <a:t>4</a:t>
            </a:r>
            <a:r>
              <a:rPr lang="ja-JP" altLang="en-US"/>
              <a:t>頁 侵害・原因・再発防止策
</a:t>
            </a:r>
            <a:r>
              <a:rPr lang="en-US" altLang="ja-JP"/>
              <a:t>https://pdf.irpocket.com/C0032/PDLX/O3bg/N4O3.pdf
10</a:t>
            </a:r>
            <a:r>
              <a:rPr lang="ja-JP" altLang="en-US"/>
              <a:t>月</a:t>
            </a:r>
            <a:r>
              <a:rPr lang="en-US" altLang="ja-JP"/>
              <a:t>19</a:t>
            </a:r>
            <a:r>
              <a:rPr lang="ja-JP" altLang="en-US"/>
              <a:t>日の受注・出荷停止、</a:t>
            </a:r>
            <a:r>
              <a:rPr lang="en-US" altLang="ja-JP"/>
              <a:t>10</a:t>
            </a:r>
            <a:r>
              <a:rPr lang="ja-JP" altLang="en-US"/>
              <a:t>月</a:t>
            </a:r>
            <a:r>
              <a:rPr lang="en-US" altLang="ja-JP"/>
              <a:t>29</a:t>
            </a:r>
            <a:r>
              <a:rPr lang="ja-JP" altLang="en-US"/>
              <a:t>日の出荷トライアル。</a:t>
            </a:r>
            <a:r>
              <a:rPr lang="en-US" altLang="ja-JP"/>
              <a:t>MFA</a:t>
            </a:r>
            <a:r>
              <a:rPr lang="ja-JP" altLang="en-US"/>
              <a:t>未適用の委託先管理者アカウントの不正利用、侵害</a:t>
            </a:r>
            <a:r>
              <a:rPr lang="en-US" altLang="ja-JP"/>
              <a:t>DC</a:t>
            </a:r>
            <a:r>
              <a:rPr lang="ja-JP" altLang="en-US"/>
              <a:t>のサーバ</a:t>
            </a:r>
            <a:r>
              <a:rPr lang="en-US" altLang="ja-JP"/>
              <a:t>EDR</a:t>
            </a:r>
            <a:r>
              <a:rPr lang="ja-JP" altLang="en-US"/>
              <a:t>未導入・</a:t>
            </a:r>
            <a:r>
              <a:rPr lang="en-US" altLang="ja-JP"/>
              <a:t>24</a:t>
            </a:r>
            <a:r>
              <a:rPr lang="ja-JP" altLang="en-US"/>
              <a:t>時間監視未実施、バックアップ暗号化。原因の完全究明は困難。
</a:t>
            </a:r>
            <a:r>
              <a:rPr lang="en-US" altLang="ja-JP"/>
              <a:t>S08 </a:t>
            </a:r>
            <a:r>
              <a:rPr lang="ja-JP" altLang="en-US"/>
              <a:t>アサヒグループ</a:t>
            </a:r>
            <a:r>
              <a:rPr lang="en-US" altLang="ja-JP"/>
              <a:t>HD
</a:t>
            </a:r>
            <a:r>
              <a:rPr lang="ja-JP" altLang="en-US"/>
              <a:t>サイバー攻撃被害の再発防止策とガバナンス体制の強化について
</a:t>
            </a:r>
            <a:r>
              <a:rPr lang="en-US" altLang="ja-JP"/>
              <a:t>2026-02-18
1.</a:t>
            </a:r>
            <a:r>
              <a:rPr lang="ja-JP" altLang="en-US"/>
              <a:t>事案概要、</a:t>
            </a:r>
            <a:r>
              <a:rPr lang="en-US" altLang="ja-JP"/>
              <a:t>4.</a:t>
            </a:r>
            <a:r>
              <a:rPr lang="ja-JP" altLang="en-US"/>
              <a:t>事業への影響と復旧状況、</a:t>
            </a:r>
            <a:r>
              <a:rPr lang="en-US" altLang="ja-JP"/>
              <a:t>6.</a:t>
            </a:r>
            <a:r>
              <a:rPr lang="ja-JP" altLang="en-US"/>
              <a:t>再発防止策
</a:t>
            </a:r>
            <a:r>
              <a:rPr lang="en-US" altLang="ja-JP"/>
              <a:t>https://www.asahigroup-holdings.com/newsroom/detail/20260218-0101.html
2025</a:t>
            </a:r>
            <a:r>
              <a:rPr lang="ja-JP" altLang="en-US"/>
              <a:t>年</a:t>
            </a:r>
            <a:r>
              <a:rPr lang="en-US" altLang="ja-JP"/>
              <a:t>9</a:t>
            </a:r>
            <a:r>
              <a:rPr lang="ja-JP" altLang="en-US"/>
              <a:t>月</a:t>
            </a:r>
            <a:r>
              <a:rPr lang="en-US" altLang="ja-JP"/>
              <a:t>29</a:t>
            </a:r>
            <a:r>
              <a:rPr lang="ja-JP" altLang="en-US"/>
              <a:t>日システム障害。拠点ネットワーク機器経由の侵入。食品</a:t>
            </a:r>
            <a:r>
              <a:rPr lang="en-US" altLang="ja-JP"/>
              <a:t>12</a:t>
            </a:r>
            <a:r>
              <a:rPr lang="ja-JP" altLang="en-US"/>
              <a:t>月</a:t>
            </a:r>
            <a:r>
              <a:rPr lang="en-US" altLang="ja-JP"/>
              <a:t>2</a:t>
            </a:r>
            <a:r>
              <a:rPr lang="ja-JP" altLang="en-US"/>
              <a:t>日、ビール・飲料</a:t>
            </a:r>
            <a:r>
              <a:rPr lang="en-US" altLang="ja-JP"/>
              <a:t>12</a:t>
            </a:r>
            <a:r>
              <a:rPr lang="ja-JP" altLang="en-US"/>
              <a:t>月</a:t>
            </a:r>
            <a:r>
              <a:rPr lang="en-US" altLang="ja-JP"/>
              <a:t>3</a:t>
            </a:r>
            <a:r>
              <a:rPr lang="ja-JP" altLang="en-US"/>
              <a:t>日</a:t>
            </a:r>
            <a:r>
              <a:rPr lang="en-US" altLang="ja-JP"/>
              <a:t>EOS</a:t>
            </a:r>
            <a:r>
              <a:rPr lang="ja-JP" altLang="en-US"/>
              <a:t>受注再開。</a:t>
            </a:r>
            <a:r>
              <a:rPr lang="en-US" altLang="ja-JP"/>
              <a:t>2026</a:t>
            </a:r>
            <a:r>
              <a:rPr lang="ja-JP" altLang="en-US"/>
              <a:t>年</a:t>
            </a:r>
            <a:r>
              <a:rPr lang="en-US" altLang="ja-JP"/>
              <a:t>2</a:t>
            </a:r>
            <a:r>
              <a:rPr lang="ja-JP" altLang="en-US"/>
              <a:t>月までに物流正常化。監視・バックアップ・ガバナンス強化等。
調査基準日：</a:t>
            </a:r>
            <a:r>
              <a:rPr lang="en-US" altLang="ja-JP"/>
              <a:t>2026</a:t>
            </a:r>
            <a:r>
              <a:rPr lang="ja-JP" altLang="en-US"/>
              <a:t>年</a:t>
            </a:r>
            <a:r>
              <a:rPr lang="en-US" altLang="ja-JP"/>
              <a:t>10</a:t>
            </a:r>
            <a:r>
              <a:rPr lang="ja-JP" altLang="en-US"/>
              <a:t>月</a:t>
            </a:r>
            <a:r>
              <a:rPr lang="en-US" altLang="ja-JP"/>
              <a:t>22</a:t>
            </a:r>
            <a:r>
              <a:rPr lang="ja-JP" altLang="en-US"/>
              <a:t>日（日本時間）</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要点：重要事実を一次資料へさかのぼって確認する。
出典・補足：
S01 警察庁
令和8年上半期におけるサイバー空間をめぐる脅威の情勢等について
2026年9月
本文9頁・図表4（PDF18頁）、本文10頁
https://www.npa.go.jp/publications/statistics/cybersecurity/data/R8kami/R08_kami_cyber_jousei.pdf
2020下期～2026上期の半期別被害報告件数。2026上期123件。RaaSと侵入・権限奪取・暗号化の典型的な流れ。
S02 KADOKAWA
2025年3月期 通期決算を発表
2025-05-08
通期連結決算サマリ・純利益に関する説明
https://www.kadokawa.co.jp/topics/13832/
サイバー攻撃による減収影響83億円、営業利益への減益影響47億円（会社試算）。特別損失24億円。
S03 ドワンゴ
8月5日15時、ニコニコが再開
2024-08-05
1頁 冒頭
https://group.kadokawa.co.jp/information/media-download/1369/7062b6eb47fd83b7/
6月8日発生。8月5日15時より順次再開。日付差58日は作成者による計算で、全機能の完全復旧日数ではない。
S04 ドワンゴ
ランサムウェア攻撃による情報漏洩に関するお知らせ
2024-08-05
1頁 個人情報、2～3頁 原因と対策
https://group.kadokawa.co.jp/information/media-download/1368/88e61ab4836989de/
外部漏洩を確認した個人情報254,241人。認証情報窃取を根本原因と推測。窃取経路・方法は不明。外部専門企業による助言・チェックと追加対策。
調査基準日：2026年10月22日（日本時間）</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要点：重要事実を一次資料へさかのぼって確認する。
出典・補足：
S05 アスクル
ランサムウェア攻撃の影響調査結果および安全性強化に向けた取り組み（第13報）
2025-12-12
1～2頁 時系列、3～4頁 侵害・原因・再発防止策
https://pdf.irpocket.com/C0032/PDLX/O3bg/N4O3.pdf
10月19日の受注・出荷停止、10月29日の出荷トライアル。MFA未適用の委託先管理者アカウントの不正利用、侵害DCのサーバEDR未導入・24時間監視未実施、バックアップ暗号化。原因の完全究明は困難。
S06 アスクル
サービスの復旧状況について（第18報）
2026-02-13
1頁 サービスの本格復旧フェーズの進捗
https://pdf.irpocket.com/C0032/YpwX/YPJ9/h35G.pdf
2月4日に全物流センターで新物流システムによる出荷再開完了。2月13日一般品から当日配送を順次再開。10月19日～2月4日の日付差108日は作成者計算。
S07 アスクル（会社開示PDF、Yahoo!配信）
2026年5月期 決算短信〔日本基準〕（連結）
2026-07-03
添付2頁（PDF4頁）、連結損益計算書、追加情報（PDF16頁）
https://finance-frontend-pc-dist.west.edge.storage-yahoo.jp/disclosure/20260703/20260703587650.pdf
特別損失のシステム障害対応費用5,108百万円。営業外費用の休止固定資産減価償却費1,269百万円。連結純損失22,150百万円は会社全体の結果で、サイバー被害総額ではない。
S08 アサヒグループHD
サイバー攻撃被害の再発防止策とガバナンス体制の強化について
2026-02-18
1.事案概要、4.事業への影響と復旧状況、6.再発防止策
https://www.asahigroup-holdings.com/newsroom/detail/20260218-0101.html
2025年9月29日システム障害。拠点ネットワーク機器経由の侵入。食品12月2日、ビール・飲料12月3日EOS受注再開。2026年2月までに物流正常化。監視・バックアップ・ガバナンス強化等。
調査基準日：2026年10月22日（日本時間）</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要点：重要事実を一次資料へさかのぼって確認する。
出典・補足：
S09 アサヒグループHD
2025年12月期 決算説明会 主な質疑応答
2025年12月期決算説明会資料（2026年公表）
Q4 システム障害による日本・東アジアへの業績影響
https://www.asahigroup-holdings.com/ir/event/presentation/2025/qa_yearend.html
事業利益の減少額と「その他」の費用を合わせ約400億円の影響と会社が説明。会社算定の業績影響であり、被害総額や特別損失ではない。
S10 PHP開発チーム
Security advisory: Critical remote code execution vulnerabilities, update now
2026-10-21
21 Oct 2026 脆弱性・対象・更新案内
https://www.php.net/archive/2026.php#2026-10-21-5
CVE-2026-109618とCVE-2026-109619。修正リリース8.2.35、8.3.36、8.4.27、8.5.12。Webリクエストを処理するPHPが対象。更新のみが完全な対処。ディストリビューションのバックポート確認が必要。
S11 php/php-src（開発元）
RCE via OOM corruption / GHSA-w8hw-w9fx-j79w
2026-10-21
Affected versions / Summary / Susceptibility / Mitigation
https://github.com/php/php-src/security/advisories/GHSA-w8hw-w9fx-j79w
メモリ不足時の破損に起因するRCE。mod_phpで実証。FPMはこの脆弱性単独では完全な攻撃の実証なしとの記述。影響・成立条件は構成依存。
調査基準日：2026年10月22日（日本時間）</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要点：重要事実を一次資料へさかのぼって確認する。
出典・補足：
S12 php/php-src（開発元）
RCE via stale global state / GHSA-6wmf-4rv5-p3rp
2026-10-21
Affected versions / Concrete and candidate cases / Impact and reliability
https://github.com/php/php-src/security/advisories/GHSA-6wmf-4rv5-p3rp
解放後メモリ参照に起因するRCE。mod_phpと条件付きFPM経路の実証。成立条件は構成・アプリケーション依存。
S13 国家公安委員会・総務省・経済産業省
不正アクセス行為の発生状況及びアクセス制御機能に関する技術の研究開発の状況
2026-03-12
本文1頁 図1-1（PDF2頁）
https://www.npa.go.jp/bureau/cyber/pdf/R080312_access.pdf
不正アクセス行為の認知件数：2021年1,516件、2022年2,200件、2023年6,312件、2024年5,358件、2025年7,190件。犯罪構成要件に該当する行為数であり、被害企業数ではない。
S14 JPCERT/CC
四半期レポート［2026年4月1日～6月30日］
2026-07-16
本文6頁 表1.1・注2、8頁 表1.2（PDF7・9頁）
https://www.jpcert.or.jp/qr/2026/QR_FY2026-Q1.pdf
2026年4～6月の報告件数14,056件、前年同期14,558件。フィッシング、Web改ざん、マルウェア、DoS/DDoS等を含む。報告件数とインシデント件数は異なり、国内外の報告を受け付けている。直近は前年同期より減少しており、全指標が一方向に増加しているとは示さない。
調査基準日：2026年10月22日（日本時間）</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www.npa.go.jp/bureau/cyber/pdf/R080312_access.pdf" TargetMode="External"/><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chart" Target="../charts/chart2.xml"/><Relationship Id="rId5" Type="http://schemas.openxmlformats.org/officeDocument/2006/relationships/chart" Target="../charts/chart1.xml"/><Relationship Id="rId4" Type="http://schemas.openxmlformats.org/officeDocument/2006/relationships/hyperlink" Target="https://www.jpcert.or.jp/qr/2026/QR_FY2026-Q1.pdf" TargetMode="External"/></Relationships>
</file>

<file path=ppt/slides/_rels/slide3.xml.rels><?xml version="1.0" encoding="UTF-8" standalone="yes"?>
<Relationships xmlns="http://schemas.openxmlformats.org/package/2006/relationships"><Relationship Id="rId3" Type="http://schemas.openxmlformats.org/officeDocument/2006/relationships/hyperlink" Target="https://www.kadokawa.co.jp/topics/13832/" TargetMode="External"/><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hyperlink" Target="https://group.kadokawa.co.jp/information/media-download/1369/7062b6eb47fd83b7/" TargetMode="External"/></Relationships>
</file>

<file path=ppt/slides/_rels/slide4.xml.rels><?xml version="1.0" encoding="UTF-8" standalone="yes"?>
<Relationships xmlns="http://schemas.openxmlformats.org/package/2006/relationships"><Relationship Id="rId3" Type="http://schemas.openxmlformats.org/officeDocument/2006/relationships/hyperlink" Target="https://pdf.irpocket.com/C0032/PDLX/O3bg/N4O3.pdf" TargetMode="External"/><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hyperlink" Target="https://pdf.irpocket.com/C0032/PDLX/O3bg/N4O3.pdf" TargetMode="External"/><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hyperlink" Target="https://pdf.irpocket.com/C0032/YpwX/YPJ9/h35G.pdf" TargetMode="External"/></Relationships>
</file>

<file path=ppt/slides/_rels/slide6.xml.rels><?xml version="1.0" encoding="UTF-8" standalone="yes"?>
<Relationships xmlns="http://schemas.openxmlformats.org/package/2006/relationships"><Relationship Id="rId3" Type="http://schemas.openxmlformats.org/officeDocument/2006/relationships/hyperlink" Target="https://www.asahigroup-holdings.com/ir/event/presentation/2025/qa_yearend.html" TargetMode="External"/><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hyperlink" Target="https://www.npa.go.jp/publications/statistics/cybersecurity/data/R8kami/R08_kami_cyber_jousei.pdf" TargetMode="External"/><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hyperlink" Target="https://group.kadokawa.co.jp/information/media-download/1368/88e61ab4836989de/" TargetMode="External"/><Relationship Id="rId5" Type="http://schemas.openxmlformats.org/officeDocument/2006/relationships/hyperlink" Target="https://group.kadokawa.co.jp/information/media-download/1369/7062b6eb47fd83b7/" TargetMode="External"/><Relationship Id="rId4" Type="http://schemas.openxmlformats.org/officeDocument/2006/relationships/hyperlink" Target="https://www.kadokawa.co.jp/topics/13832/" TargetMode="External"/></Relationships>
</file>

<file path=ppt/slides/_rels/slide10.xml.rels><?xml version="1.0" encoding="UTF-8" standalone="yes"?>
<Relationships xmlns="http://schemas.openxmlformats.org/package/2006/relationships"><Relationship Id="rId3" Type="http://schemas.openxmlformats.org/officeDocument/2006/relationships/hyperlink" Target="https://pdf.irpocket.com/C0032/PDLX/O3bg/N4O3.pdf" TargetMode="External"/><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hyperlink" Target="https://www.asahigroup-holdings.com/newsroom/detail/20260218-0101.html" TargetMode="External"/><Relationship Id="rId5" Type="http://schemas.openxmlformats.org/officeDocument/2006/relationships/hyperlink" Target="https://finance-frontend-pc-dist.west.edge.storage-yahoo.jp/disclosure/20260703/20260703587650.pdf" TargetMode="External"/><Relationship Id="rId4" Type="http://schemas.openxmlformats.org/officeDocument/2006/relationships/hyperlink" Target="https://pdf.irpocket.com/C0032/YpwX/YPJ9/h35G.pdf" TargetMode="External"/></Relationships>
</file>

<file path=ppt/slides/_rels/slide11.xml.rels><?xml version="1.0" encoding="UTF-8" standalone="yes"?>
<Relationships xmlns="http://schemas.openxmlformats.org/package/2006/relationships"><Relationship Id="rId3" Type="http://schemas.openxmlformats.org/officeDocument/2006/relationships/hyperlink" Target="https://www.asahigroup-holdings.com/ir/event/presentation/2025/qa_yearend.html" TargetMode="External"/><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hyperlink" Target="https://github.com/php/php-src/security/advisories/GHSA-w8hw-w9fx-j79w" TargetMode="External"/><Relationship Id="rId4" Type="http://schemas.openxmlformats.org/officeDocument/2006/relationships/hyperlink" Target="https://www.php.net/archive/2026.php#2026-10-21-5" TargetMode="External"/></Relationships>
</file>

<file path=ppt/slides/_rels/slide12.xml.rels><?xml version="1.0" encoding="UTF-8" standalone="yes"?>
<Relationships xmlns="http://schemas.openxmlformats.org/package/2006/relationships"><Relationship Id="rId3" Type="http://schemas.openxmlformats.org/officeDocument/2006/relationships/hyperlink" Target="https://github.com/php/php-src/security/advisories/GHSA-6wmf-4rv5-p3rp" TargetMode="External"/><Relationship Id="rId2" Type="http://schemas.openxmlformats.org/officeDocument/2006/relationships/notesSlide" Target="../notesSlides/notesSlide12.xml"/><Relationship Id="rId1" Type="http://schemas.openxmlformats.org/officeDocument/2006/relationships/slideLayout" Target="../slideLayouts/slideLayout1.xml"/><Relationship Id="rId5" Type="http://schemas.openxmlformats.org/officeDocument/2006/relationships/hyperlink" Target="https://www.jpcert.or.jp/qr/2026/QR_FY2026-Q1.pdf" TargetMode="External"/><Relationship Id="rId4" Type="http://schemas.openxmlformats.org/officeDocument/2006/relationships/hyperlink" Target="https://www.npa.go.jp/bureau/cyber/pdf/R080312_access.pdf" TargetMode="Externa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85800" y="1417320"/>
            <a:ext cx="10881360" cy="1737360"/>
          </a:xfrm>
          <a:prstGeom prst="rect">
            <a:avLst/>
          </a:prstGeom>
          <a:noFill/>
          <a:ln/>
        </p:spPr>
        <p:txBody>
          <a:bodyPr wrap="square" lIns="0" tIns="0" rIns="0" bIns="0" rtlCol="0" anchor="ctr"/>
          <a:lstStyle/>
          <a:p>
            <a:pPr marL="0" indent="0">
              <a:buNone/>
            </a:pPr>
            <a:r>
              <a:rPr lang="en-US" sz="4400" b="1" dirty="0">
                <a:solidFill>
                  <a:srgbClr val="13263D"/>
                </a:solidFill>
                <a:latin typeface="Yu Gothic" pitchFamily="34" charset="0"/>
                <a:ea typeface="Yu Gothic" pitchFamily="34" charset="-122"/>
                <a:cs typeface="Yu Gothic" pitchFamily="34" charset="-120"/>
              </a:rPr>
              <a:t>セキュリティインシデントと</a:t>
            </a:r>
            <a:endParaRPr lang="en-US" sz="4400" dirty="0"/>
          </a:p>
          <a:p>
            <a:pPr marL="0" indent="0">
              <a:buNone/>
            </a:pPr>
            <a:r>
              <a:rPr lang="en-US" sz="4400" b="1" dirty="0">
                <a:solidFill>
                  <a:srgbClr val="13263D"/>
                </a:solidFill>
                <a:latin typeface="Yu Gothic" pitchFamily="34" charset="0"/>
                <a:ea typeface="Yu Gothic" pitchFamily="34" charset="-122"/>
                <a:cs typeface="Yu Gothic" pitchFamily="34" charset="-120"/>
              </a:rPr>
              <a:t>経営の備え</a:t>
            </a:r>
            <a:endParaRPr lang="en-US" sz="4400" dirty="0"/>
          </a:p>
        </p:txBody>
      </p:sp>
      <p:sp>
        <p:nvSpPr>
          <p:cNvPr id="3" name="Text 1"/>
          <p:cNvSpPr/>
          <p:nvPr/>
        </p:nvSpPr>
        <p:spPr>
          <a:xfrm>
            <a:off x="731520" y="3657600"/>
            <a:ext cx="10881360" cy="594360"/>
          </a:xfrm>
          <a:prstGeom prst="rect">
            <a:avLst/>
          </a:prstGeom>
          <a:noFill/>
          <a:ln/>
        </p:spPr>
        <p:txBody>
          <a:bodyPr wrap="square" lIns="0" tIns="0" rIns="0" bIns="0" rtlCol="0" anchor="ctr"/>
          <a:lstStyle/>
          <a:p>
            <a:pPr marL="0" indent="0">
              <a:buNone/>
            </a:pPr>
            <a:r>
              <a:rPr lang="en-US" sz="2400" dirty="0">
                <a:solidFill>
                  <a:srgbClr val="526174"/>
                </a:solidFill>
                <a:latin typeface="Yu Gothic" pitchFamily="34" charset="0"/>
                <a:ea typeface="Yu Gothic" pitchFamily="34" charset="-122"/>
                <a:cs typeface="Yu Gothic" pitchFamily="34" charset="-120"/>
              </a:rPr>
              <a:t>国内事例から考える、事業継続と改善投資</a:t>
            </a:r>
            <a:endParaRPr lang="en-US" sz="2400" dirty="0"/>
          </a:p>
        </p:txBody>
      </p:sp>
      <p:sp>
        <p:nvSpPr>
          <p:cNvPr id="4" name="Text 2"/>
          <p:cNvSpPr/>
          <p:nvPr/>
        </p:nvSpPr>
        <p:spPr>
          <a:xfrm>
            <a:off x="731520" y="5623560"/>
            <a:ext cx="7315200" cy="365760"/>
          </a:xfrm>
          <a:prstGeom prst="rect">
            <a:avLst/>
          </a:prstGeom>
          <a:noFill/>
          <a:ln/>
        </p:spPr>
        <p:txBody>
          <a:bodyPr wrap="square" lIns="0" tIns="0" rIns="0" bIns="0" rtlCol="0" anchor="ctr"/>
          <a:lstStyle/>
          <a:p>
            <a:pPr marL="0" indent="0">
              <a:buNone/>
            </a:pPr>
            <a:r>
              <a:rPr lang="en-US" sz="1700" dirty="0">
                <a:solidFill>
                  <a:srgbClr val="526174"/>
                </a:solidFill>
                <a:latin typeface="Yu Gothic" pitchFamily="34" charset="0"/>
                <a:ea typeface="Yu Gothic" pitchFamily="34" charset="-122"/>
                <a:cs typeface="Yu Gothic" pitchFamily="34" charset="-120"/>
              </a:rPr>
              <a:t>2026年10月22日</a:t>
            </a:r>
            <a:endParaRPr lang="en-US" sz="1700" dirty="0"/>
          </a:p>
        </p:txBody>
      </p:sp>
      <p:sp>
        <p:nvSpPr>
          <p:cNvPr id="5" name="Text 3"/>
          <p:cNvSpPr/>
          <p:nvPr/>
        </p:nvSpPr>
        <p:spPr>
          <a:xfrm>
            <a:off x="11155680" y="6419088"/>
            <a:ext cx="457200" cy="182880"/>
          </a:xfrm>
          <a:prstGeom prst="rect">
            <a:avLst/>
          </a:prstGeom>
          <a:noFill/>
          <a:ln/>
        </p:spPr>
        <p:txBody>
          <a:bodyPr wrap="square" lIns="0" tIns="0" rIns="0" bIns="0" rtlCol="0" anchor="ctr"/>
          <a:lstStyle/>
          <a:p>
            <a:pPr marL="0" indent="0" algn="r">
              <a:buNone/>
            </a:pPr>
            <a:r>
              <a:rPr lang="en-US" sz="1000" dirty="0">
                <a:solidFill>
                  <a:srgbClr val="526174"/>
                </a:solidFill>
                <a:latin typeface="Yu Gothic" pitchFamily="34" charset="0"/>
                <a:ea typeface="Yu Gothic" pitchFamily="34" charset="-122"/>
                <a:cs typeface="Yu Gothic" pitchFamily="34" charset="-120"/>
              </a:rPr>
              <a:t>01</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1064240" cy="685800"/>
          </a:xfrm>
          <a:prstGeom prst="rect">
            <a:avLst/>
          </a:prstGeom>
          <a:noFill/>
          <a:ln/>
        </p:spPr>
        <p:txBody>
          <a:bodyPr wrap="square" lIns="0" tIns="0" rIns="0" bIns="0" rtlCol="0" anchor="ctr"/>
          <a:lstStyle/>
          <a:p>
            <a:pPr marL="0" indent="0">
              <a:buNone/>
            </a:pPr>
            <a:r>
              <a:rPr lang="en-US" sz="3100" b="1" dirty="0">
                <a:solidFill>
                  <a:srgbClr val="13263D"/>
                </a:solidFill>
                <a:latin typeface="Yu Gothic" pitchFamily="34" charset="0"/>
                <a:ea typeface="Yu Gothic" pitchFamily="34" charset="-122"/>
                <a:cs typeface="Yu Gothic" pitchFamily="34" charset="-120"/>
              </a:rPr>
              <a:t>不正アクセスなど、幅広いインシデントが続く</a:t>
            </a:r>
            <a:endParaRPr lang="en-US" sz="3100" dirty="0"/>
          </a:p>
        </p:txBody>
      </p:sp>
      <p:sp>
        <p:nvSpPr>
          <p:cNvPr id="3" name="Shape 1"/>
          <p:cNvSpPr/>
          <p:nvPr/>
        </p:nvSpPr>
        <p:spPr>
          <a:xfrm>
            <a:off x="548640" y="1325880"/>
            <a:ext cx="11064240" cy="0"/>
          </a:xfrm>
          <a:prstGeom prst="line">
            <a:avLst/>
          </a:prstGeom>
          <a:noFill/>
          <a:ln w="8890">
            <a:solidFill>
              <a:srgbClr val="D4DCE4"/>
            </a:solidFill>
            <a:prstDash val="solid"/>
          </a:ln>
        </p:spPr>
      </p:sp>
      <p:sp>
        <p:nvSpPr>
          <p:cNvPr id="4" name="Text 2">
            <a:hlinkClick r:id="rId3"/>
          </p:cNvPr>
          <p:cNvSpPr/>
          <p:nvPr/>
        </p:nvSpPr>
        <p:spPr>
          <a:xfrm>
            <a:off x="548640" y="6419088"/>
            <a:ext cx="5285232" cy="182880"/>
          </a:xfrm>
          <a:prstGeom prst="rect">
            <a:avLst/>
          </a:prstGeom>
          <a:noFill/>
          <a:ln/>
        </p:spPr>
        <p:txBody>
          <a:bodyPr wrap="square" lIns="0" tIns="0" rIns="0" bIns="0" rtlCol="0" anchor="ctr"/>
          <a:lstStyle/>
          <a:p>
            <a:pPr marL="0" indent="0">
              <a:buNone/>
            </a:pPr>
            <a:r>
              <a:rPr lang="en-US" sz="1000" u="sng" dirty="0">
                <a:solidFill>
                  <a:srgbClr val="526174"/>
                </a:solidFill>
                <a:latin typeface="Yu Gothic" pitchFamily="34" charset="0"/>
                <a:ea typeface="Yu Gothic" pitchFamily="34" charset="-122"/>
                <a:cs typeface="Yu Gothic" pitchFamily="34" charset="-120"/>
                <a:hlinkClick r:id="rId3">
                  <a:extLst>
                    <a:ext uri="{A12FA001-AC4F-418D-AE19-62706E023703}">
                      <ahyp:hlinkClr xmlns:ahyp="http://schemas.microsoft.com/office/drawing/2018/hyperlinkcolor" val="tx"/>
                    </a:ext>
                  </a:extLst>
                </a:hlinkClick>
              </a:rPr>
              <a:t>S13 国家公安委員会ほか</a:t>
            </a:r>
            <a:endParaRPr lang="en-US" sz="1000" dirty="0"/>
          </a:p>
        </p:txBody>
      </p:sp>
      <p:sp>
        <p:nvSpPr>
          <p:cNvPr id="5" name="Text 3">
            <a:hlinkClick r:id="rId4"/>
          </p:cNvPr>
          <p:cNvSpPr/>
          <p:nvPr/>
        </p:nvSpPr>
        <p:spPr>
          <a:xfrm>
            <a:off x="5943600" y="6419088"/>
            <a:ext cx="5285232" cy="182880"/>
          </a:xfrm>
          <a:prstGeom prst="rect">
            <a:avLst/>
          </a:prstGeom>
          <a:noFill/>
          <a:ln/>
        </p:spPr>
        <p:txBody>
          <a:bodyPr wrap="square" lIns="0" tIns="0" rIns="0" bIns="0" rtlCol="0" anchor="ctr"/>
          <a:lstStyle/>
          <a:p>
            <a:pPr marL="0" indent="0">
              <a:buNone/>
            </a:pPr>
            <a:r>
              <a:rPr lang="en-US" sz="1000" u="sng" dirty="0">
                <a:solidFill>
                  <a:srgbClr val="526174"/>
                </a:solidFill>
                <a:latin typeface="Yu Gothic" pitchFamily="34" charset="0"/>
                <a:ea typeface="Yu Gothic" pitchFamily="34" charset="-122"/>
                <a:cs typeface="Yu Gothic" pitchFamily="34" charset="-120"/>
                <a:hlinkClick r:id="rId4">
                  <a:extLst>
                    <a:ext uri="{A12FA001-AC4F-418D-AE19-62706E023703}">
                      <ahyp:hlinkClr xmlns:ahyp="http://schemas.microsoft.com/office/drawing/2018/hyperlinkcolor" val="tx"/>
                    </a:ext>
                  </a:extLst>
                </a:hlinkClick>
              </a:rPr>
              <a:t>S14 JPCERT/CC</a:t>
            </a:r>
            <a:endParaRPr lang="en-US" sz="1000" dirty="0"/>
          </a:p>
        </p:txBody>
      </p:sp>
      <p:sp>
        <p:nvSpPr>
          <p:cNvPr id="6" name="Text 4"/>
          <p:cNvSpPr/>
          <p:nvPr/>
        </p:nvSpPr>
        <p:spPr>
          <a:xfrm>
            <a:off x="11155680" y="6419088"/>
            <a:ext cx="457200" cy="182880"/>
          </a:xfrm>
          <a:prstGeom prst="rect">
            <a:avLst/>
          </a:prstGeom>
          <a:noFill/>
          <a:ln/>
        </p:spPr>
        <p:txBody>
          <a:bodyPr wrap="square" lIns="0" tIns="0" rIns="0" bIns="0" rtlCol="0" anchor="ctr"/>
          <a:lstStyle/>
          <a:p>
            <a:pPr marL="0" indent="0" algn="r">
              <a:buNone/>
            </a:pPr>
            <a:r>
              <a:rPr lang="en-US" sz="1000" dirty="0">
                <a:solidFill>
                  <a:srgbClr val="526174"/>
                </a:solidFill>
                <a:latin typeface="Yu Gothic" pitchFamily="34" charset="0"/>
                <a:ea typeface="Yu Gothic" pitchFamily="34" charset="-122"/>
                <a:cs typeface="Yu Gothic" pitchFamily="34" charset="-120"/>
              </a:rPr>
              <a:t>02</a:t>
            </a:r>
            <a:endParaRPr lang="en-US" sz="1000" dirty="0"/>
          </a:p>
        </p:txBody>
      </p:sp>
      <p:sp>
        <p:nvSpPr>
          <p:cNvPr id="7" name="Text 5"/>
          <p:cNvSpPr/>
          <p:nvPr/>
        </p:nvSpPr>
        <p:spPr>
          <a:xfrm>
            <a:off x="594360" y="1627632"/>
            <a:ext cx="5394960" cy="365760"/>
          </a:xfrm>
          <a:prstGeom prst="rect">
            <a:avLst/>
          </a:prstGeom>
          <a:noFill/>
          <a:ln/>
        </p:spPr>
        <p:txBody>
          <a:bodyPr wrap="square" lIns="0" tIns="0" rIns="0" bIns="0" rtlCol="0" anchor="ctr"/>
          <a:lstStyle/>
          <a:p>
            <a:pPr marL="0" indent="0">
              <a:buNone/>
            </a:pPr>
            <a:r>
              <a:rPr lang="en-US" sz="2300" b="1" dirty="0">
                <a:solidFill>
                  <a:srgbClr val="13263D"/>
                </a:solidFill>
                <a:latin typeface="Yu Gothic" pitchFamily="34" charset="0"/>
                <a:ea typeface="Yu Gothic" pitchFamily="34" charset="-122"/>
                <a:cs typeface="Yu Gothic" pitchFamily="34" charset="-120"/>
              </a:rPr>
              <a:t>不正アクセスの認知</a:t>
            </a:r>
            <a:endParaRPr lang="en-US" sz="2300" dirty="0"/>
          </a:p>
        </p:txBody>
      </p:sp>
      <p:graphicFrame>
        <p:nvGraphicFramePr>
          <p:cNvPr id="8" name="Chart 0"/>
          <p:cNvGraphicFramePr/>
          <p:nvPr/>
        </p:nvGraphicFramePr>
        <p:xfrm>
          <a:off x="594360" y="2084832"/>
          <a:ext cx="5394960" cy="3383280"/>
        </p:xfrm>
        <a:graphic>
          <a:graphicData uri="http://schemas.openxmlformats.org/drawingml/2006/chart">
            <c:chart xmlns:c="http://schemas.openxmlformats.org/drawingml/2006/chart" xmlns:r="http://schemas.openxmlformats.org/officeDocument/2006/relationships" r:id="rId5"/>
          </a:graphicData>
        </a:graphic>
      </p:graphicFrame>
      <p:sp>
        <p:nvSpPr>
          <p:cNvPr id="9" name="Text 6"/>
          <p:cNvSpPr/>
          <p:nvPr/>
        </p:nvSpPr>
        <p:spPr>
          <a:xfrm>
            <a:off x="594360" y="5577840"/>
            <a:ext cx="5394960" cy="256032"/>
          </a:xfrm>
          <a:prstGeom prst="rect">
            <a:avLst/>
          </a:prstGeom>
          <a:noFill/>
          <a:ln/>
        </p:spPr>
        <p:txBody>
          <a:bodyPr wrap="square" lIns="0" tIns="0" rIns="0" bIns="0" rtlCol="0" anchor="ctr"/>
          <a:lstStyle/>
          <a:p>
            <a:pPr marL="0" indent="0">
              <a:buNone/>
            </a:pPr>
            <a:r>
              <a:rPr lang="en-US" sz="1200" dirty="0">
                <a:solidFill>
                  <a:srgbClr val="526174"/>
                </a:solidFill>
                <a:latin typeface="Yu Gothic" pitchFamily="34" charset="0"/>
                <a:ea typeface="Yu Gothic" pitchFamily="34" charset="-122"/>
                <a:cs typeface="Yu Gothic" pitchFamily="34" charset="-120"/>
              </a:rPr>
              <a:t>警察庁等／件・暦年</a:t>
            </a:r>
            <a:endParaRPr lang="en-US" sz="1200" dirty="0"/>
          </a:p>
        </p:txBody>
      </p:sp>
      <p:sp>
        <p:nvSpPr>
          <p:cNvPr id="10" name="Text 7"/>
          <p:cNvSpPr/>
          <p:nvPr/>
        </p:nvSpPr>
        <p:spPr>
          <a:xfrm>
            <a:off x="6419088" y="1627632"/>
            <a:ext cx="5166360" cy="365760"/>
          </a:xfrm>
          <a:prstGeom prst="rect">
            <a:avLst/>
          </a:prstGeom>
          <a:noFill/>
          <a:ln/>
        </p:spPr>
        <p:txBody>
          <a:bodyPr wrap="square" lIns="0" tIns="0" rIns="0" bIns="0" rtlCol="0" anchor="ctr"/>
          <a:lstStyle/>
          <a:p>
            <a:pPr marL="0" indent="0">
              <a:buNone/>
            </a:pPr>
            <a:r>
              <a:rPr lang="en-US" sz="2300" b="1" dirty="0">
                <a:solidFill>
                  <a:srgbClr val="13263D"/>
                </a:solidFill>
                <a:latin typeface="Yu Gothic" pitchFamily="34" charset="0"/>
                <a:ea typeface="Yu Gothic" pitchFamily="34" charset="-122"/>
                <a:cs typeface="Yu Gothic" pitchFamily="34" charset="-120"/>
              </a:rPr>
              <a:t>幅広いインシデントの報告</a:t>
            </a:r>
            <a:endParaRPr lang="en-US" sz="2300" dirty="0"/>
          </a:p>
        </p:txBody>
      </p:sp>
      <p:graphicFrame>
        <p:nvGraphicFramePr>
          <p:cNvPr id="11" name="Chart 1"/>
          <p:cNvGraphicFramePr/>
          <p:nvPr/>
        </p:nvGraphicFramePr>
        <p:xfrm>
          <a:off x="6419088" y="2084832"/>
          <a:ext cx="5166360" cy="3383280"/>
        </p:xfrm>
        <a:graphic>
          <a:graphicData uri="http://schemas.openxmlformats.org/drawingml/2006/chart">
            <c:chart xmlns:c="http://schemas.openxmlformats.org/drawingml/2006/chart" xmlns:r="http://schemas.openxmlformats.org/officeDocument/2006/relationships" r:id="rId6"/>
          </a:graphicData>
        </a:graphic>
      </p:graphicFrame>
      <p:sp>
        <p:nvSpPr>
          <p:cNvPr id="12" name="Text 8"/>
          <p:cNvSpPr/>
          <p:nvPr/>
        </p:nvSpPr>
        <p:spPr>
          <a:xfrm>
            <a:off x="6419088" y="5577840"/>
            <a:ext cx="5166360" cy="256032"/>
          </a:xfrm>
          <a:prstGeom prst="rect">
            <a:avLst/>
          </a:prstGeom>
          <a:noFill/>
          <a:ln/>
        </p:spPr>
        <p:txBody>
          <a:bodyPr wrap="square" lIns="0" tIns="0" rIns="0" bIns="0" rtlCol="0" anchor="ctr"/>
          <a:lstStyle/>
          <a:p>
            <a:pPr marL="0" indent="0">
              <a:buNone/>
            </a:pPr>
            <a:r>
              <a:rPr lang="en-US" sz="1200" dirty="0">
                <a:solidFill>
                  <a:srgbClr val="526174"/>
                </a:solidFill>
                <a:latin typeface="Yu Gothic" pitchFamily="34" charset="0"/>
                <a:ea typeface="Yu Gothic" pitchFamily="34" charset="-122"/>
                <a:cs typeface="Yu Gothic" pitchFamily="34" charset="-120"/>
              </a:rPr>
              <a:t>JPCERT/CC／件・四半期</a:t>
            </a:r>
            <a:endParaRPr lang="en-US" sz="1200" dirty="0"/>
          </a:p>
        </p:txBody>
      </p:sp>
      <p:sp>
        <p:nvSpPr>
          <p:cNvPr id="13" name="Text 9"/>
          <p:cNvSpPr/>
          <p:nvPr/>
        </p:nvSpPr>
        <p:spPr>
          <a:xfrm>
            <a:off x="6446520" y="5806440"/>
            <a:ext cx="5074920" cy="292608"/>
          </a:xfrm>
          <a:prstGeom prst="rect">
            <a:avLst/>
          </a:prstGeom>
          <a:noFill/>
          <a:ln/>
        </p:spPr>
        <p:txBody>
          <a:bodyPr wrap="square" lIns="0" tIns="0" rIns="0" bIns="0" rtlCol="0" anchor="ctr"/>
          <a:lstStyle/>
          <a:p>
            <a:pPr marL="0" indent="0">
              <a:buNone/>
            </a:pPr>
            <a:r>
              <a:rPr lang="en-US" sz="1500" b="1" dirty="0">
                <a:solidFill>
                  <a:srgbClr val="006B68"/>
                </a:solidFill>
                <a:latin typeface="Yu Gothic" pitchFamily="34" charset="0"/>
                <a:ea typeface="Yu Gothic" pitchFamily="34" charset="-122"/>
                <a:cs typeface="Yu Gothic" pitchFamily="34" charset="-120"/>
              </a:rPr>
              <a:t>フィッシング・Web改ざん・マルウェアなど</a:t>
            </a:r>
            <a:endParaRPr lang="en-US" sz="1500" dirty="0"/>
          </a:p>
        </p:txBody>
      </p:sp>
      <p:sp>
        <p:nvSpPr>
          <p:cNvPr id="14" name="Text 10"/>
          <p:cNvSpPr/>
          <p:nvPr/>
        </p:nvSpPr>
        <p:spPr>
          <a:xfrm>
            <a:off x="612648" y="6126480"/>
            <a:ext cx="10972800" cy="219456"/>
          </a:xfrm>
          <a:prstGeom prst="rect">
            <a:avLst/>
          </a:prstGeom>
          <a:noFill/>
          <a:ln/>
        </p:spPr>
        <p:txBody>
          <a:bodyPr wrap="square" lIns="0" tIns="0" rIns="0" bIns="0" rtlCol="0" anchor="ctr"/>
          <a:lstStyle/>
          <a:p>
            <a:pPr marL="0" indent="0">
              <a:buNone/>
            </a:pPr>
            <a:r>
              <a:rPr lang="en-US" sz="1150" dirty="0">
                <a:solidFill>
                  <a:srgbClr val="526174"/>
                </a:solidFill>
                <a:latin typeface="Yu Gothic" pitchFamily="34" charset="0"/>
                <a:ea typeface="Yu Gothic" pitchFamily="34" charset="-122"/>
                <a:cs typeface="Yu Gothic" pitchFamily="34" charset="-120"/>
              </a:rPr>
              <a:t>※異なる集計のため合算不可。JPCERT/CCの報告には国内外・同一事象の複数報告を含む。</a:t>
            </a:r>
            <a:endParaRPr lang="en-US" sz="1150" dirty="0"/>
          </a:p>
        </p:txBody>
      </p:sp>
      <p:sp>
        <p:nvSpPr>
          <p:cNvPr id="15" name="矢印: 右 14">
            <a:extLst>
              <a:ext uri="{FF2B5EF4-FFF2-40B4-BE49-F238E27FC236}">
                <a16:creationId xmlns:a16="http://schemas.microsoft.com/office/drawing/2014/main" id="{C03E239B-1FE8-25AF-73B0-12D4D12974C7}"/>
              </a:ext>
            </a:extLst>
          </p:cNvPr>
          <p:cNvSpPr/>
          <p:nvPr/>
        </p:nvSpPr>
        <p:spPr>
          <a:xfrm rot="19824713">
            <a:off x="1587346" y="3624598"/>
            <a:ext cx="4049753" cy="413587"/>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星: 12 pt 15">
            <a:extLst>
              <a:ext uri="{FF2B5EF4-FFF2-40B4-BE49-F238E27FC236}">
                <a16:creationId xmlns:a16="http://schemas.microsoft.com/office/drawing/2014/main" id="{9E05D0AB-482A-A831-E54E-B8017FC444BF}"/>
              </a:ext>
            </a:extLst>
          </p:cNvPr>
          <p:cNvSpPr/>
          <p:nvPr/>
        </p:nvSpPr>
        <p:spPr>
          <a:xfrm>
            <a:off x="3339967" y="1353313"/>
            <a:ext cx="2135190" cy="1298445"/>
          </a:xfrm>
          <a:prstGeom prst="star12">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kumimoji="1" lang="ja-JP" altLang="en-US" dirty="0">
                <a:solidFill>
                  <a:srgbClr val="FF0000"/>
                </a:solidFill>
              </a:rPr>
              <a:t>約５倍！</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1064240" cy="685800"/>
          </a:xfrm>
          <a:prstGeom prst="rect">
            <a:avLst/>
          </a:prstGeom>
          <a:noFill/>
          <a:ln/>
        </p:spPr>
        <p:txBody>
          <a:bodyPr wrap="square" lIns="0" tIns="0" rIns="0" bIns="0" rtlCol="0" anchor="ctr"/>
          <a:lstStyle/>
          <a:p>
            <a:pPr marL="0" indent="0">
              <a:buNone/>
            </a:pPr>
            <a:r>
              <a:rPr lang="en-US" sz="3100" b="1" dirty="0">
                <a:solidFill>
                  <a:srgbClr val="13263D"/>
                </a:solidFill>
                <a:latin typeface="Yu Gothic" pitchFamily="34" charset="0"/>
                <a:ea typeface="Yu Gothic" pitchFamily="34" charset="-122"/>
                <a:cs typeface="Yu Gothic" pitchFamily="34" charset="-120"/>
              </a:rPr>
              <a:t>KADOKAWA：サービス停止が収益に波及</a:t>
            </a:r>
            <a:endParaRPr lang="en-US" sz="3100" dirty="0"/>
          </a:p>
        </p:txBody>
      </p:sp>
      <p:sp>
        <p:nvSpPr>
          <p:cNvPr id="3" name="Shape 1"/>
          <p:cNvSpPr/>
          <p:nvPr/>
        </p:nvSpPr>
        <p:spPr>
          <a:xfrm>
            <a:off x="548640" y="1325880"/>
            <a:ext cx="11064240" cy="0"/>
          </a:xfrm>
          <a:prstGeom prst="line">
            <a:avLst/>
          </a:prstGeom>
          <a:noFill/>
          <a:ln w="8890">
            <a:solidFill>
              <a:srgbClr val="D4DCE4"/>
            </a:solidFill>
            <a:prstDash val="solid"/>
          </a:ln>
        </p:spPr>
      </p:sp>
      <p:sp>
        <p:nvSpPr>
          <p:cNvPr id="4" name="Text 2">
            <a:hlinkClick r:id="rId3"/>
          </p:cNvPr>
          <p:cNvSpPr/>
          <p:nvPr/>
        </p:nvSpPr>
        <p:spPr>
          <a:xfrm>
            <a:off x="548640" y="6419088"/>
            <a:ext cx="5285232" cy="182880"/>
          </a:xfrm>
          <a:prstGeom prst="rect">
            <a:avLst/>
          </a:prstGeom>
          <a:noFill/>
          <a:ln/>
        </p:spPr>
        <p:txBody>
          <a:bodyPr wrap="square" lIns="0" tIns="0" rIns="0" bIns="0" rtlCol="0" anchor="ctr"/>
          <a:lstStyle/>
          <a:p>
            <a:pPr marL="0" indent="0">
              <a:buNone/>
            </a:pPr>
            <a:r>
              <a:rPr lang="en-US" sz="1000" u="sng" dirty="0">
                <a:solidFill>
                  <a:srgbClr val="526174"/>
                </a:solidFill>
                <a:latin typeface="Yu Gothic" pitchFamily="34" charset="0"/>
                <a:ea typeface="Yu Gothic" pitchFamily="34" charset="-122"/>
                <a:cs typeface="Yu Gothic" pitchFamily="34" charset="-120"/>
                <a:hlinkClick r:id="rId3">
                  <a:extLst>
                    <a:ext uri="{A12FA001-AC4F-418D-AE19-62706E023703}">
                      <ahyp:hlinkClr xmlns:ahyp="http://schemas.microsoft.com/office/drawing/2018/hyperlinkcolor" val="tx"/>
                    </a:ext>
                  </a:extLst>
                </a:hlinkClick>
              </a:rPr>
              <a:t>S02 KADOKAWA</a:t>
            </a:r>
            <a:endParaRPr lang="en-US" sz="1000" dirty="0"/>
          </a:p>
        </p:txBody>
      </p:sp>
      <p:sp>
        <p:nvSpPr>
          <p:cNvPr id="5" name="Text 3">
            <a:hlinkClick r:id="rId4"/>
          </p:cNvPr>
          <p:cNvSpPr/>
          <p:nvPr/>
        </p:nvSpPr>
        <p:spPr>
          <a:xfrm>
            <a:off x="5943600" y="6419088"/>
            <a:ext cx="5285232" cy="182880"/>
          </a:xfrm>
          <a:prstGeom prst="rect">
            <a:avLst/>
          </a:prstGeom>
          <a:noFill/>
          <a:ln/>
        </p:spPr>
        <p:txBody>
          <a:bodyPr wrap="square" lIns="0" tIns="0" rIns="0" bIns="0" rtlCol="0" anchor="ctr"/>
          <a:lstStyle/>
          <a:p>
            <a:pPr marL="0" indent="0">
              <a:buNone/>
            </a:pPr>
            <a:r>
              <a:rPr lang="en-US" sz="1000" u="sng" dirty="0">
                <a:solidFill>
                  <a:srgbClr val="526174"/>
                </a:solidFill>
                <a:latin typeface="Yu Gothic" pitchFamily="34" charset="0"/>
                <a:ea typeface="Yu Gothic" pitchFamily="34" charset="-122"/>
                <a:cs typeface="Yu Gothic" pitchFamily="34" charset="-120"/>
                <a:hlinkClick r:id="rId4">
                  <a:extLst>
                    <a:ext uri="{A12FA001-AC4F-418D-AE19-62706E023703}">
                      <ahyp:hlinkClr xmlns:ahyp="http://schemas.microsoft.com/office/drawing/2018/hyperlinkcolor" val="tx"/>
                    </a:ext>
                  </a:extLst>
                </a:hlinkClick>
              </a:rPr>
              <a:t>S03 ドワンゴ</a:t>
            </a:r>
            <a:endParaRPr lang="en-US" sz="1000" dirty="0"/>
          </a:p>
        </p:txBody>
      </p:sp>
      <p:sp>
        <p:nvSpPr>
          <p:cNvPr id="6" name="Text 4"/>
          <p:cNvSpPr/>
          <p:nvPr/>
        </p:nvSpPr>
        <p:spPr>
          <a:xfrm>
            <a:off x="11155680" y="6419088"/>
            <a:ext cx="457200" cy="182880"/>
          </a:xfrm>
          <a:prstGeom prst="rect">
            <a:avLst/>
          </a:prstGeom>
          <a:noFill/>
          <a:ln/>
        </p:spPr>
        <p:txBody>
          <a:bodyPr wrap="square" lIns="0" tIns="0" rIns="0" bIns="0" rtlCol="0" anchor="ctr"/>
          <a:lstStyle/>
          <a:p>
            <a:pPr marL="0" indent="0" algn="r">
              <a:buNone/>
            </a:pPr>
            <a:r>
              <a:rPr lang="en-US" sz="1000" dirty="0">
                <a:solidFill>
                  <a:srgbClr val="526174"/>
                </a:solidFill>
                <a:latin typeface="Yu Gothic" pitchFamily="34" charset="0"/>
                <a:ea typeface="Yu Gothic" pitchFamily="34" charset="-122"/>
                <a:cs typeface="Yu Gothic" pitchFamily="34" charset="-120"/>
              </a:rPr>
              <a:t>03</a:t>
            </a:r>
            <a:endParaRPr lang="en-US" sz="1000" dirty="0"/>
          </a:p>
        </p:txBody>
      </p:sp>
      <p:sp>
        <p:nvSpPr>
          <p:cNvPr id="15" name="Text 13"/>
          <p:cNvSpPr/>
          <p:nvPr/>
        </p:nvSpPr>
        <p:spPr>
          <a:xfrm>
            <a:off x="640080" y="3657600"/>
            <a:ext cx="10881360" cy="1024128"/>
          </a:xfrm>
          <a:prstGeom prst="rect">
            <a:avLst/>
          </a:prstGeom>
          <a:noFill/>
          <a:ln/>
        </p:spPr>
        <p:txBody>
          <a:bodyPr wrap="square" lIns="0" tIns="0" rIns="0" bIns="0" rtlCol="0" anchor="ctr"/>
          <a:lstStyle/>
          <a:p>
            <a:pPr marL="0" indent="0" algn="ctr">
              <a:buNone/>
            </a:pPr>
            <a:r>
              <a:rPr lang="en-US" sz="6600" b="1" dirty="0">
                <a:solidFill>
                  <a:srgbClr val="AE2937"/>
                </a:solidFill>
                <a:latin typeface="Yu Gothic" pitchFamily="34" charset="0"/>
                <a:ea typeface="Yu Gothic" pitchFamily="34" charset="-122"/>
                <a:cs typeface="Yu Gothic" pitchFamily="34" charset="-120"/>
              </a:rPr>
              <a:t>▲47億円</a:t>
            </a:r>
            <a:endParaRPr lang="en-US" sz="6600" dirty="0"/>
          </a:p>
        </p:txBody>
      </p:sp>
      <p:sp>
        <p:nvSpPr>
          <p:cNvPr id="16" name="Text 14"/>
          <p:cNvSpPr/>
          <p:nvPr/>
        </p:nvSpPr>
        <p:spPr>
          <a:xfrm>
            <a:off x="640080" y="4937760"/>
            <a:ext cx="10881360" cy="548640"/>
          </a:xfrm>
          <a:prstGeom prst="rect">
            <a:avLst/>
          </a:prstGeom>
          <a:noFill/>
          <a:ln/>
        </p:spPr>
        <p:txBody>
          <a:bodyPr wrap="square" lIns="0" tIns="0" rIns="0" bIns="0" rtlCol="0" anchor="ctr"/>
          <a:lstStyle/>
          <a:p>
            <a:pPr marL="0" indent="0" algn="ctr">
              <a:buNone/>
            </a:pPr>
            <a:r>
              <a:rPr lang="en-US" sz="2300" dirty="0">
                <a:solidFill>
                  <a:srgbClr val="526174"/>
                </a:solidFill>
                <a:latin typeface="Yu Gothic" pitchFamily="34" charset="0"/>
                <a:ea typeface="Yu Gothic" pitchFamily="34" charset="-122"/>
                <a:cs typeface="Yu Gothic" pitchFamily="34" charset="-120"/>
              </a:rPr>
              <a:t>2025年3月期の営業利益への影響（会社試算）</a:t>
            </a:r>
            <a:endParaRPr lang="en-US" sz="2300" dirty="0"/>
          </a:p>
        </p:txBody>
      </p:sp>
      <p:sp>
        <p:nvSpPr>
          <p:cNvPr id="17" name="正方形/長方形 16">
            <a:extLst>
              <a:ext uri="{FF2B5EF4-FFF2-40B4-BE49-F238E27FC236}">
                <a16:creationId xmlns:a16="http://schemas.microsoft.com/office/drawing/2014/main" id="{2AC7548B-1468-A103-3D80-706096772DFA}"/>
              </a:ext>
            </a:extLst>
          </p:cNvPr>
          <p:cNvSpPr/>
          <p:nvPr/>
        </p:nvSpPr>
        <p:spPr>
          <a:xfrm>
            <a:off x="640080" y="1920240"/>
            <a:ext cx="2926080" cy="1280160"/>
          </a:xfrm>
          <a:prstGeom prst="rect">
            <a:avLst/>
          </a:prstGeom>
          <a:solidFill>
            <a:srgbClr val="EDF3F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テキスト ボックス 17">
            <a:extLst>
              <a:ext uri="{FF2B5EF4-FFF2-40B4-BE49-F238E27FC236}">
                <a16:creationId xmlns:a16="http://schemas.microsoft.com/office/drawing/2014/main" id="{944B99FC-9BA1-4085-6594-ABA174522372}"/>
              </a:ext>
            </a:extLst>
          </p:cNvPr>
          <p:cNvSpPr txBox="1"/>
          <p:nvPr/>
        </p:nvSpPr>
        <p:spPr>
          <a:xfrm>
            <a:off x="777240" y="2125311"/>
            <a:ext cx="2651760" cy="415498"/>
          </a:xfrm>
          <a:prstGeom prst="rect">
            <a:avLst/>
          </a:prstGeom>
          <a:noFill/>
        </p:spPr>
        <p:txBody>
          <a:bodyPr vert="horz" lIns="0" tIns="0" rIns="0" bIns="0" rtlCol="0" anchor="ctr">
            <a:spAutoFit/>
          </a:bodyPr>
          <a:lstStyle/>
          <a:p>
            <a:pPr algn="ctr"/>
            <a:r>
              <a:rPr kumimoji="1" lang="ja-JP" altLang="en-US" sz="2700" b="1">
                <a:solidFill>
                  <a:srgbClr val="13263D"/>
                </a:solidFill>
                <a:latin typeface="Yu Gothic" panose="020B0400000000000000" pitchFamily="50" charset="-128"/>
                <a:ea typeface="Yu Gothic" panose="020B0400000000000000" pitchFamily="50" charset="-128"/>
              </a:rPr>
              <a:t>サイバー攻撃</a:t>
            </a:r>
          </a:p>
        </p:txBody>
      </p:sp>
      <p:sp>
        <p:nvSpPr>
          <p:cNvPr id="19" name="正方形/長方形 18">
            <a:extLst>
              <a:ext uri="{FF2B5EF4-FFF2-40B4-BE49-F238E27FC236}">
                <a16:creationId xmlns:a16="http://schemas.microsoft.com/office/drawing/2014/main" id="{64385296-D2B1-52F0-914B-DE9CCFFDDDD3}"/>
              </a:ext>
            </a:extLst>
          </p:cNvPr>
          <p:cNvSpPr/>
          <p:nvPr/>
        </p:nvSpPr>
        <p:spPr>
          <a:xfrm>
            <a:off x="4572000" y="1691640"/>
            <a:ext cx="3017520" cy="731520"/>
          </a:xfrm>
          <a:prstGeom prst="rect">
            <a:avLst/>
          </a:prstGeom>
          <a:solidFill>
            <a:srgbClr val="EDF3F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テキスト ボックス 19">
            <a:extLst>
              <a:ext uri="{FF2B5EF4-FFF2-40B4-BE49-F238E27FC236}">
                <a16:creationId xmlns:a16="http://schemas.microsoft.com/office/drawing/2014/main" id="{583ACE0F-101F-068C-82B8-485D13A6FF60}"/>
              </a:ext>
            </a:extLst>
          </p:cNvPr>
          <p:cNvSpPr txBox="1"/>
          <p:nvPr/>
        </p:nvSpPr>
        <p:spPr>
          <a:xfrm>
            <a:off x="4663440" y="1726320"/>
            <a:ext cx="2834640" cy="353943"/>
          </a:xfrm>
          <a:prstGeom prst="rect">
            <a:avLst/>
          </a:prstGeom>
          <a:noFill/>
        </p:spPr>
        <p:txBody>
          <a:bodyPr vert="horz" lIns="0" tIns="0" rIns="0" bIns="0" rtlCol="0" anchor="ctr">
            <a:spAutoFit/>
          </a:bodyPr>
          <a:lstStyle/>
          <a:p>
            <a:pPr algn="ctr"/>
            <a:r>
              <a:rPr kumimoji="1" lang="ja-JP" altLang="en-US" sz="2300" b="1">
                <a:solidFill>
                  <a:srgbClr val="13263D"/>
                </a:solidFill>
                <a:latin typeface="Yu Gothic" panose="020B0400000000000000" pitchFamily="50" charset="-128"/>
                <a:ea typeface="Yu Gothic" panose="020B0400000000000000" pitchFamily="50" charset="-128"/>
              </a:rPr>
              <a:t>動画サービス停止</a:t>
            </a:r>
          </a:p>
        </p:txBody>
      </p:sp>
      <p:sp>
        <p:nvSpPr>
          <p:cNvPr id="21" name="正方形/長方形 20">
            <a:extLst>
              <a:ext uri="{FF2B5EF4-FFF2-40B4-BE49-F238E27FC236}">
                <a16:creationId xmlns:a16="http://schemas.microsoft.com/office/drawing/2014/main" id="{057568DE-8A1F-494F-CADB-5651D1CEDCC2}"/>
              </a:ext>
            </a:extLst>
          </p:cNvPr>
          <p:cNvSpPr/>
          <p:nvPr/>
        </p:nvSpPr>
        <p:spPr>
          <a:xfrm>
            <a:off x="4572000" y="2697480"/>
            <a:ext cx="3017520" cy="731520"/>
          </a:xfrm>
          <a:prstGeom prst="rect">
            <a:avLst/>
          </a:prstGeom>
          <a:solidFill>
            <a:srgbClr val="EDF3F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テキスト ボックス 21">
            <a:extLst>
              <a:ext uri="{FF2B5EF4-FFF2-40B4-BE49-F238E27FC236}">
                <a16:creationId xmlns:a16="http://schemas.microsoft.com/office/drawing/2014/main" id="{D720898C-9289-8277-F33C-6D47A57EA959}"/>
              </a:ext>
            </a:extLst>
          </p:cNvPr>
          <p:cNvSpPr txBox="1"/>
          <p:nvPr/>
        </p:nvSpPr>
        <p:spPr>
          <a:xfrm>
            <a:off x="4663440" y="2732160"/>
            <a:ext cx="2834640" cy="353943"/>
          </a:xfrm>
          <a:prstGeom prst="rect">
            <a:avLst/>
          </a:prstGeom>
          <a:noFill/>
        </p:spPr>
        <p:txBody>
          <a:bodyPr vert="horz" lIns="0" tIns="0" rIns="0" bIns="0" rtlCol="0" anchor="ctr">
            <a:spAutoFit/>
          </a:bodyPr>
          <a:lstStyle/>
          <a:p>
            <a:pPr algn="ctr"/>
            <a:r>
              <a:rPr kumimoji="1" lang="ja-JP" altLang="en-US" sz="2300" b="1">
                <a:solidFill>
                  <a:srgbClr val="13263D"/>
                </a:solidFill>
                <a:latin typeface="Yu Gothic" panose="020B0400000000000000" pitchFamily="50" charset="-128"/>
                <a:ea typeface="Yu Gothic" panose="020B0400000000000000" pitchFamily="50" charset="-128"/>
              </a:rPr>
              <a:t>出版事業に影響</a:t>
            </a:r>
          </a:p>
        </p:txBody>
      </p:sp>
      <p:sp>
        <p:nvSpPr>
          <p:cNvPr id="23" name="正方形/長方形 22">
            <a:extLst>
              <a:ext uri="{FF2B5EF4-FFF2-40B4-BE49-F238E27FC236}">
                <a16:creationId xmlns:a16="http://schemas.microsoft.com/office/drawing/2014/main" id="{4C847930-FD28-2C15-8118-255F88EAF861}"/>
              </a:ext>
            </a:extLst>
          </p:cNvPr>
          <p:cNvSpPr/>
          <p:nvPr/>
        </p:nvSpPr>
        <p:spPr>
          <a:xfrm>
            <a:off x="8686800" y="1920240"/>
            <a:ext cx="2834640" cy="1280160"/>
          </a:xfrm>
          <a:prstGeom prst="rect">
            <a:avLst/>
          </a:prstGeom>
          <a:solidFill>
            <a:srgbClr val="F8ECE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4" name="テキスト ボックス 23">
            <a:extLst>
              <a:ext uri="{FF2B5EF4-FFF2-40B4-BE49-F238E27FC236}">
                <a16:creationId xmlns:a16="http://schemas.microsoft.com/office/drawing/2014/main" id="{9D4E1A7E-F846-F611-8F6F-A2D1856E0549}"/>
              </a:ext>
            </a:extLst>
          </p:cNvPr>
          <p:cNvSpPr txBox="1"/>
          <p:nvPr/>
        </p:nvSpPr>
        <p:spPr>
          <a:xfrm>
            <a:off x="8796528" y="1826568"/>
            <a:ext cx="2615184" cy="738664"/>
          </a:xfrm>
          <a:prstGeom prst="rect">
            <a:avLst/>
          </a:prstGeom>
          <a:noFill/>
        </p:spPr>
        <p:txBody>
          <a:bodyPr vert="horz" lIns="0" tIns="0" rIns="0" bIns="0" rtlCol="0" anchor="ctr">
            <a:spAutoFit/>
          </a:bodyPr>
          <a:lstStyle/>
          <a:p>
            <a:pPr algn="ctr"/>
            <a:r>
              <a:rPr kumimoji="1" lang="ja-JP" altLang="en-US" sz="2400" b="1">
                <a:solidFill>
                  <a:srgbClr val="AE2937"/>
                </a:solidFill>
                <a:latin typeface="Yu Gothic" panose="020B0400000000000000" pitchFamily="50" charset="-128"/>
                <a:ea typeface="Yu Gothic" panose="020B0400000000000000" pitchFamily="50" charset="-128"/>
              </a:rPr>
              <a:t>営業利益への</a:t>
            </a:r>
          </a:p>
          <a:p>
            <a:pPr algn="ctr"/>
            <a:r>
              <a:rPr kumimoji="1" lang="ja-JP" altLang="en-US" sz="2400" b="1">
                <a:solidFill>
                  <a:srgbClr val="AE2937"/>
                </a:solidFill>
                <a:latin typeface="Yu Gothic" panose="020B0400000000000000" pitchFamily="50" charset="-128"/>
                <a:ea typeface="Yu Gothic" panose="020B0400000000000000" pitchFamily="50" charset="-128"/>
              </a:rPr>
              <a:t>影響</a:t>
            </a:r>
          </a:p>
        </p:txBody>
      </p:sp>
      <p:cxnSp>
        <p:nvCxnSpPr>
          <p:cNvPr id="25" name="直線コネクタ 24">
            <a:extLst>
              <a:ext uri="{FF2B5EF4-FFF2-40B4-BE49-F238E27FC236}">
                <a16:creationId xmlns:a16="http://schemas.microsoft.com/office/drawing/2014/main" id="{805837FC-A1D0-B9E1-8F35-BCC878FEEA4A}"/>
              </a:ext>
            </a:extLst>
          </p:cNvPr>
          <p:cNvCxnSpPr/>
          <p:nvPr/>
        </p:nvCxnSpPr>
        <p:spPr>
          <a:xfrm>
            <a:off x="3566160" y="2560320"/>
            <a:ext cx="457200" cy="0"/>
          </a:xfrm>
          <a:prstGeom prst="line">
            <a:avLst/>
          </a:prstGeom>
          <a:ln w="19050">
            <a:solidFill>
              <a:srgbClr val="526174"/>
            </a:solidFill>
          </a:ln>
        </p:spPr>
        <p:style>
          <a:lnRef idx="1">
            <a:schemeClr val="accent1"/>
          </a:lnRef>
          <a:fillRef idx="0">
            <a:schemeClr val="accent1"/>
          </a:fillRef>
          <a:effectRef idx="0">
            <a:schemeClr val="accent1"/>
          </a:effectRef>
          <a:fontRef idx="minor">
            <a:schemeClr val="tx1"/>
          </a:fontRef>
        </p:style>
      </p:cxnSp>
      <p:cxnSp>
        <p:nvCxnSpPr>
          <p:cNvPr id="26" name="直線コネクタ 25">
            <a:extLst>
              <a:ext uri="{FF2B5EF4-FFF2-40B4-BE49-F238E27FC236}">
                <a16:creationId xmlns:a16="http://schemas.microsoft.com/office/drawing/2014/main" id="{86A814CA-77B6-9D06-771D-EA66722A1C4F}"/>
              </a:ext>
            </a:extLst>
          </p:cNvPr>
          <p:cNvCxnSpPr/>
          <p:nvPr/>
        </p:nvCxnSpPr>
        <p:spPr>
          <a:xfrm>
            <a:off x="4023360" y="2057400"/>
            <a:ext cx="0" cy="1005840"/>
          </a:xfrm>
          <a:prstGeom prst="line">
            <a:avLst/>
          </a:prstGeom>
          <a:ln w="19050">
            <a:solidFill>
              <a:srgbClr val="526174"/>
            </a:solidFill>
          </a:ln>
        </p:spPr>
        <p:style>
          <a:lnRef idx="1">
            <a:schemeClr val="accent1"/>
          </a:lnRef>
          <a:fillRef idx="0">
            <a:schemeClr val="accent1"/>
          </a:fillRef>
          <a:effectRef idx="0">
            <a:schemeClr val="accent1"/>
          </a:effectRef>
          <a:fontRef idx="minor">
            <a:schemeClr val="tx1"/>
          </a:fontRef>
        </p:style>
      </p:cxnSp>
      <p:cxnSp>
        <p:nvCxnSpPr>
          <p:cNvPr id="27" name="直線コネクタ 26">
            <a:extLst>
              <a:ext uri="{FF2B5EF4-FFF2-40B4-BE49-F238E27FC236}">
                <a16:creationId xmlns:a16="http://schemas.microsoft.com/office/drawing/2014/main" id="{AD61BF45-DEE1-1977-1052-422D1864E01C}"/>
              </a:ext>
            </a:extLst>
          </p:cNvPr>
          <p:cNvCxnSpPr/>
          <p:nvPr/>
        </p:nvCxnSpPr>
        <p:spPr>
          <a:xfrm>
            <a:off x="4023360" y="2057400"/>
            <a:ext cx="502920" cy="0"/>
          </a:xfrm>
          <a:prstGeom prst="line">
            <a:avLst/>
          </a:prstGeom>
          <a:ln w="19050">
            <a:solidFill>
              <a:srgbClr val="526174"/>
            </a:solidFill>
            <a:tailEnd type="triangle"/>
          </a:ln>
        </p:spPr>
        <p:style>
          <a:lnRef idx="1">
            <a:schemeClr val="accent1"/>
          </a:lnRef>
          <a:fillRef idx="0">
            <a:schemeClr val="accent1"/>
          </a:fillRef>
          <a:effectRef idx="0">
            <a:schemeClr val="accent1"/>
          </a:effectRef>
          <a:fontRef idx="minor">
            <a:schemeClr val="tx1"/>
          </a:fontRef>
        </p:style>
      </p:cxnSp>
      <p:cxnSp>
        <p:nvCxnSpPr>
          <p:cNvPr id="28" name="直線コネクタ 27">
            <a:extLst>
              <a:ext uri="{FF2B5EF4-FFF2-40B4-BE49-F238E27FC236}">
                <a16:creationId xmlns:a16="http://schemas.microsoft.com/office/drawing/2014/main" id="{22F8A262-4165-BE51-AD99-0648462767A9}"/>
              </a:ext>
            </a:extLst>
          </p:cNvPr>
          <p:cNvCxnSpPr/>
          <p:nvPr/>
        </p:nvCxnSpPr>
        <p:spPr>
          <a:xfrm>
            <a:off x="4023360" y="3063240"/>
            <a:ext cx="502920" cy="0"/>
          </a:xfrm>
          <a:prstGeom prst="line">
            <a:avLst/>
          </a:prstGeom>
          <a:ln w="19050">
            <a:solidFill>
              <a:srgbClr val="526174"/>
            </a:solidFill>
            <a:tailEnd type="triangle"/>
          </a:ln>
        </p:spPr>
        <p:style>
          <a:lnRef idx="1">
            <a:schemeClr val="accent1"/>
          </a:lnRef>
          <a:fillRef idx="0">
            <a:schemeClr val="accent1"/>
          </a:fillRef>
          <a:effectRef idx="0">
            <a:schemeClr val="accent1"/>
          </a:effectRef>
          <a:fontRef idx="minor">
            <a:schemeClr val="tx1"/>
          </a:fontRef>
        </p:style>
      </p:cxnSp>
      <p:cxnSp>
        <p:nvCxnSpPr>
          <p:cNvPr id="29" name="直線コネクタ 28">
            <a:extLst>
              <a:ext uri="{FF2B5EF4-FFF2-40B4-BE49-F238E27FC236}">
                <a16:creationId xmlns:a16="http://schemas.microsoft.com/office/drawing/2014/main" id="{BA49D107-5BDF-6715-E280-BD1453DC8AFF}"/>
              </a:ext>
            </a:extLst>
          </p:cNvPr>
          <p:cNvCxnSpPr/>
          <p:nvPr/>
        </p:nvCxnSpPr>
        <p:spPr>
          <a:xfrm>
            <a:off x="7589520" y="2057400"/>
            <a:ext cx="502920" cy="0"/>
          </a:xfrm>
          <a:prstGeom prst="line">
            <a:avLst/>
          </a:prstGeom>
          <a:ln w="19050">
            <a:solidFill>
              <a:srgbClr val="526174"/>
            </a:solidFill>
          </a:ln>
        </p:spPr>
        <p:style>
          <a:lnRef idx="1">
            <a:schemeClr val="accent1"/>
          </a:lnRef>
          <a:fillRef idx="0">
            <a:schemeClr val="accent1"/>
          </a:fillRef>
          <a:effectRef idx="0">
            <a:schemeClr val="accent1"/>
          </a:effectRef>
          <a:fontRef idx="minor">
            <a:schemeClr val="tx1"/>
          </a:fontRef>
        </p:style>
      </p:cxnSp>
      <p:cxnSp>
        <p:nvCxnSpPr>
          <p:cNvPr id="30" name="直線コネクタ 29">
            <a:extLst>
              <a:ext uri="{FF2B5EF4-FFF2-40B4-BE49-F238E27FC236}">
                <a16:creationId xmlns:a16="http://schemas.microsoft.com/office/drawing/2014/main" id="{331125B9-FA57-ED7B-F91E-C3B2B4DCD91D}"/>
              </a:ext>
            </a:extLst>
          </p:cNvPr>
          <p:cNvCxnSpPr/>
          <p:nvPr/>
        </p:nvCxnSpPr>
        <p:spPr>
          <a:xfrm>
            <a:off x="7589520" y="3063240"/>
            <a:ext cx="502920" cy="0"/>
          </a:xfrm>
          <a:prstGeom prst="line">
            <a:avLst/>
          </a:prstGeom>
          <a:ln w="19050">
            <a:solidFill>
              <a:srgbClr val="526174"/>
            </a:solidFill>
          </a:ln>
        </p:spPr>
        <p:style>
          <a:lnRef idx="1">
            <a:schemeClr val="accent1"/>
          </a:lnRef>
          <a:fillRef idx="0">
            <a:schemeClr val="accent1"/>
          </a:fillRef>
          <a:effectRef idx="0">
            <a:schemeClr val="accent1"/>
          </a:effectRef>
          <a:fontRef idx="minor">
            <a:schemeClr val="tx1"/>
          </a:fontRef>
        </p:style>
      </p:cxnSp>
      <p:cxnSp>
        <p:nvCxnSpPr>
          <p:cNvPr id="31" name="直線コネクタ 30">
            <a:extLst>
              <a:ext uri="{FF2B5EF4-FFF2-40B4-BE49-F238E27FC236}">
                <a16:creationId xmlns:a16="http://schemas.microsoft.com/office/drawing/2014/main" id="{19EA9B56-14CE-7AC2-F7C7-21510FB51144}"/>
              </a:ext>
            </a:extLst>
          </p:cNvPr>
          <p:cNvCxnSpPr/>
          <p:nvPr/>
        </p:nvCxnSpPr>
        <p:spPr>
          <a:xfrm>
            <a:off x="8092440" y="2057400"/>
            <a:ext cx="0" cy="1005840"/>
          </a:xfrm>
          <a:prstGeom prst="line">
            <a:avLst/>
          </a:prstGeom>
          <a:ln w="19050">
            <a:solidFill>
              <a:srgbClr val="526174"/>
            </a:solidFill>
          </a:ln>
        </p:spPr>
        <p:style>
          <a:lnRef idx="1">
            <a:schemeClr val="accent1"/>
          </a:lnRef>
          <a:fillRef idx="0">
            <a:schemeClr val="accent1"/>
          </a:fillRef>
          <a:effectRef idx="0">
            <a:schemeClr val="accent1"/>
          </a:effectRef>
          <a:fontRef idx="minor">
            <a:schemeClr val="tx1"/>
          </a:fontRef>
        </p:style>
      </p:cxnSp>
      <p:cxnSp>
        <p:nvCxnSpPr>
          <p:cNvPr id="32" name="直線コネクタ 31">
            <a:extLst>
              <a:ext uri="{FF2B5EF4-FFF2-40B4-BE49-F238E27FC236}">
                <a16:creationId xmlns:a16="http://schemas.microsoft.com/office/drawing/2014/main" id="{AA29326D-3EB8-6F70-28A6-978165F7B144}"/>
              </a:ext>
            </a:extLst>
          </p:cNvPr>
          <p:cNvCxnSpPr/>
          <p:nvPr/>
        </p:nvCxnSpPr>
        <p:spPr>
          <a:xfrm>
            <a:off x="8092440" y="2560320"/>
            <a:ext cx="548640" cy="0"/>
          </a:xfrm>
          <a:prstGeom prst="line">
            <a:avLst/>
          </a:prstGeom>
          <a:ln w="19050">
            <a:solidFill>
              <a:srgbClr val="526174"/>
            </a:solidFill>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1064240" cy="685800"/>
          </a:xfrm>
          <a:prstGeom prst="rect">
            <a:avLst/>
          </a:prstGeom>
          <a:noFill/>
          <a:ln/>
        </p:spPr>
        <p:txBody>
          <a:bodyPr wrap="square" lIns="0" tIns="0" rIns="0" bIns="0" rtlCol="0" anchor="ctr"/>
          <a:lstStyle/>
          <a:p>
            <a:pPr marL="0" indent="0">
              <a:buNone/>
            </a:pPr>
            <a:r>
              <a:rPr lang="en-US" sz="3100" b="1" dirty="0">
                <a:solidFill>
                  <a:srgbClr val="13263D"/>
                </a:solidFill>
                <a:latin typeface="Yu Gothic" pitchFamily="34" charset="0"/>
                <a:ea typeface="Yu Gothic" pitchFamily="34" charset="-122"/>
                <a:cs typeface="Yu Gothic" pitchFamily="34" charset="-120"/>
              </a:rPr>
              <a:t>アスクル：認証の例外が侵入口になった</a:t>
            </a:r>
            <a:endParaRPr lang="en-US" sz="3100" dirty="0"/>
          </a:p>
        </p:txBody>
      </p:sp>
      <p:sp>
        <p:nvSpPr>
          <p:cNvPr id="3" name="Shape 1"/>
          <p:cNvSpPr/>
          <p:nvPr/>
        </p:nvSpPr>
        <p:spPr>
          <a:xfrm>
            <a:off x="548640" y="1325880"/>
            <a:ext cx="11064240" cy="0"/>
          </a:xfrm>
          <a:prstGeom prst="line">
            <a:avLst/>
          </a:prstGeom>
          <a:noFill/>
          <a:ln w="8890">
            <a:solidFill>
              <a:srgbClr val="D4DCE4"/>
            </a:solidFill>
            <a:prstDash val="solid"/>
          </a:ln>
        </p:spPr>
      </p:sp>
      <p:sp>
        <p:nvSpPr>
          <p:cNvPr id="4" name="Text 2">
            <a:hlinkClick r:id="rId3"/>
          </p:cNvPr>
          <p:cNvSpPr/>
          <p:nvPr/>
        </p:nvSpPr>
        <p:spPr>
          <a:xfrm>
            <a:off x="548640" y="6419088"/>
            <a:ext cx="10680192" cy="182880"/>
          </a:xfrm>
          <a:prstGeom prst="rect">
            <a:avLst/>
          </a:prstGeom>
          <a:noFill/>
          <a:ln/>
        </p:spPr>
        <p:txBody>
          <a:bodyPr wrap="square" lIns="0" tIns="0" rIns="0" bIns="0" rtlCol="0" anchor="ctr"/>
          <a:lstStyle/>
          <a:p>
            <a:pPr marL="0" indent="0">
              <a:buNone/>
            </a:pPr>
            <a:r>
              <a:rPr lang="en-US" sz="1000" u="sng" dirty="0">
                <a:solidFill>
                  <a:srgbClr val="526174"/>
                </a:solidFill>
                <a:latin typeface="Yu Gothic" pitchFamily="34" charset="0"/>
                <a:ea typeface="Yu Gothic" pitchFamily="34" charset="-122"/>
                <a:cs typeface="Yu Gothic" pitchFamily="34" charset="-120"/>
                <a:hlinkClick r:id="rId3">
                  <a:extLst>
                    <a:ext uri="{A12FA001-AC4F-418D-AE19-62706E023703}">
                      <ahyp:hlinkClr xmlns:ahyp="http://schemas.microsoft.com/office/drawing/2018/hyperlinkcolor" val="tx"/>
                    </a:ext>
                  </a:extLst>
                </a:hlinkClick>
              </a:rPr>
              <a:t>S05 アスクル</a:t>
            </a:r>
            <a:endParaRPr lang="en-US" sz="1000" dirty="0"/>
          </a:p>
        </p:txBody>
      </p:sp>
      <p:sp>
        <p:nvSpPr>
          <p:cNvPr id="5" name="Text 3"/>
          <p:cNvSpPr/>
          <p:nvPr/>
        </p:nvSpPr>
        <p:spPr>
          <a:xfrm>
            <a:off x="11155680" y="6419088"/>
            <a:ext cx="457200" cy="182880"/>
          </a:xfrm>
          <a:prstGeom prst="rect">
            <a:avLst/>
          </a:prstGeom>
          <a:noFill/>
          <a:ln/>
        </p:spPr>
        <p:txBody>
          <a:bodyPr wrap="square" lIns="0" tIns="0" rIns="0" bIns="0" rtlCol="0" anchor="ctr"/>
          <a:lstStyle/>
          <a:p>
            <a:pPr marL="0" indent="0" algn="r">
              <a:buNone/>
            </a:pPr>
            <a:r>
              <a:rPr lang="en-US" sz="1000" dirty="0">
                <a:solidFill>
                  <a:srgbClr val="526174"/>
                </a:solidFill>
                <a:latin typeface="Yu Gothic" pitchFamily="34" charset="0"/>
                <a:ea typeface="Yu Gothic" pitchFamily="34" charset="-122"/>
                <a:cs typeface="Yu Gothic" pitchFamily="34" charset="-120"/>
              </a:rPr>
              <a:t>04</a:t>
            </a:r>
            <a:endParaRPr lang="en-US" sz="1000" dirty="0"/>
          </a:p>
        </p:txBody>
      </p:sp>
      <p:sp>
        <p:nvSpPr>
          <p:cNvPr id="6" name="Shape 4"/>
          <p:cNvSpPr/>
          <p:nvPr/>
        </p:nvSpPr>
        <p:spPr>
          <a:xfrm>
            <a:off x="640080" y="2240280"/>
            <a:ext cx="3322320" cy="1234440"/>
          </a:xfrm>
          <a:prstGeom prst="rect">
            <a:avLst/>
          </a:prstGeom>
          <a:solidFill>
            <a:srgbClr val="F8ECEE"/>
          </a:solidFill>
          <a:ln w="12700">
            <a:solidFill>
              <a:srgbClr val="F8ECEE">
                <a:alpha val="0"/>
              </a:srgbClr>
            </a:solidFill>
            <a:prstDash val="solid"/>
          </a:ln>
        </p:spPr>
      </p:sp>
      <p:sp>
        <p:nvSpPr>
          <p:cNvPr id="7" name="Text 5"/>
          <p:cNvSpPr/>
          <p:nvPr/>
        </p:nvSpPr>
        <p:spPr>
          <a:xfrm>
            <a:off x="749808" y="2350008"/>
            <a:ext cx="3102864" cy="1014984"/>
          </a:xfrm>
          <a:prstGeom prst="rect">
            <a:avLst/>
          </a:prstGeom>
          <a:noFill/>
          <a:ln/>
        </p:spPr>
        <p:txBody>
          <a:bodyPr wrap="square" lIns="0" tIns="0" rIns="0" bIns="0" rtlCol="0" anchor="ctr"/>
          <a:lstStyle/>
          <a:p>
            <a:pPr marL="0" indent="0" algn="ctr">
              <a:buNone/>
            </a:pPr>
            <a:r>
              <a:rPr lang="en-US" sz="2600" b="1" dirty="0">
                <a:solidFill>
                  <a:srgbClr val="AE2937"/>
                </a:solidFill>
                <a:latin typeface="Yu Gothic" pitchFamily="34" charset="0"/>
                <a:ea typeface="Yu Gothic" pitchFamily="34" charset="-122"/>
                <a:cs typeface="Yu Gothic" pitchFamily="34" charset="-120"/>
              </a:rPr>
              <a:t>委託先の</a:t>
            </a:r>
            <a:endParaRPr lang="en-US" sz="2600" dirty="0"/>
          </a:p>
          <a:p>
            <a:pPr marL="0" indent="0" algn="ctr">
              <a:buNone/>
            </a:pPr>
            <a:r>
              <a:rPr lang="en-US" sz="2600" b="1" dirty="0">
                <a:solidFill>
                  <a:srgbClr val="AE2937"/>
                </a:solidFill>
                <a:latin typeface="Yu Gothic" pitchFamily="34" charset="0"/>
                <a:ea typeface="Yu Gothic" pitchFamily="34" charset="-122"/>
                <a:cs typeface="Yu Gothic" pitchFamily="34" charset="-120"/>
              </a:rPr>
              <a:t>管理者ID</a:t>
            </a:r>
            <a:endParaRPr lang="en-US" sz="2600" dirty="0"/>
          </a:p>
        </p:txBody>
      </p:sp>
      <p:sp>
        <p:nvSpPr>
          <p:cNvPr id="8" name="Text 6"/>
          <p:cNvSpPr/>
          <p:nvPr/>
        </p:nvSpPr>
        <p:spPr>
          <a:xfrm>
            <a:off x="640080" y="3794760"/>
            <a:ext cx="3322320" cy="822960"/>
          </a:xfrm>
          <a:prstGeom prst="rect">
            <a:avLst/>
          </a:prstGeom>
          <a:noFill/>
          <a:ln/>
        </p:spPr>
        <p:txBody>
          <a:bodyPr wrap="square" lIns="0" tIns="0" rIns="0" bIns="0" rtlCol="0" anchor="ctr"/>
          <a:lstStyle/>
          <a:p>
            <a:pPr marL="0" indent="0" algn="ctr">
              <a:buNone/>
            </a:pPr>
            <a:r>
              <a:rPr lang="en-US" sz="2100" dirty="0">
                <a:solidFill>
                  <a:srgbClr val="526174"/>
                </a:solidFill>
                <a:latin typeface="Yu Gothic" pitchFamily="34" charset="0"/>
                <a:ea typeface="Yu Gothic" pitchFamily="34" charset="-122"/>
                <a:cs typeface="Yu Gothic" pitchFamily="34" charset="-120"/>
              </a:rPr>
              <a:t>多要素認証が未適用</a:t>
            </a:r>
            <a:endParaRPr lang="en-US" sz="2100" dirty="0"/>
          </a:p>
        </p:txBody>
      </p:sp>
      <p:sp>
        <p:nvSpPr>
          <p:cNvPr id="9" name="Shape 7"/>
          <p:cNvSpPr/>
          <p:nvPr/>
        </p:nvSpPr>
        <p:spPr>
          <a:xfrm>
            <a:off x="4026408" y="2857500"/>
            <a:ext cx="329184" cy="0"/>
          </a:xfrm>
          <a:prstGeom prst="line">
            <a:avLst/>
          </a:prstGeom>
          <a:noFill/>
          <a:ln w="19050">
            <a:solidFill>
              <a:srgbClr val="526174"/>
            </a:solidFill>
            <a:prstDash val="solid"/>
            <a:tailEnd type="triangle"/>
          </a:ln>
        </p:spPr>
      </p:sp>
      <p:sp>
        <p:nvSpPr>
          <p:cNvPr id="10" name="Shape 8"/>
          <p:cNvSpPr/>
          <p:nvPr/>
        </p:nvSpPr>
        <p:spPr>
          <a:xfrm>
            <a:off x="4419600" y="2240280"/>
            <a:ext cx="3322320" cy="1234440"/>
          </a:xfrm>
          <a:prstGeom prst="rect">
            <a:avLst/>
          </a:prstGeom>
          <a:solidFill>
            <a:srgbClr val="EDF3F6"/>
          </a:solidFill>
          <a:ln w="12700">
            <a:solidFill>
              <a:srgbClr val="EDF3F6">
                <a:alpha val="0"/>
              </a:srgbClr>
            </a:solidFill>
            <a:prstDash val="solid"/>
          </a:ln>
        </p:spPr>
      </p:sp>
      <p:sp>
        <p:nvSpPr>
          <p:cNvPr id="11" name="Text 9"/>
          <p:cNvSpPr/>
          <p:nvPr/>
        </p:nvSpPr>
        <p:spPr>
          <a:xfrm>
            <a:off x="4529328" y="2350008"/>
            <a:ext cx="3102864" cy="1014984"/>
          </a:xfrm>
          <a:prstGeom prst="rect">
            <a:avLst/>
          </a:prstGeom>
          <a:noFill/>
          <a:ln/>
        </p:spPr>
        <p:txBody>
          <a:bodyPr wrap="square" lIns="0" tIns="0" rIns="0" bIns="0" rtlCol="0" anchor="ctr"/>
          <a:lstStyle/>
          <a:p>
            <a:pPr marL="0" indent="0" algn="ctr">
              <a:buNone/>
            </a:pPr>
            <a:r>
              <a:rPr lang="en-US" sz="2600" b="1" dirty="0">
                <a:solidFill>
                  <a:srgbClr val="13263D"/>
                </a:solidFill>
                <a:latin typeface="Yu Gothic" pitchFamily="34" charset="0"/>
                <a:ea typeface="Yu Gothic" pitchFamily="34" charset="-122"/>
                <a:cs typeface="Yu Gothic" pitchFamily="34" charset="-120"/>
              </a:rPr>
              <a:t>社内へ</a:t>
            </a:r>
            <a:endParaRPr lang="en-US" sz="2600" dirty="0"/>
          </a:p>
          <a:p>
            <a:pPr marL="0" indent="0" algn="ctr">
              <a:buNone/>
            </a:pPr>
            <a:r>
              <a:rPr lang="en-US" sz="2600" b="1" dirty="0">
                <a:solidFill>
                  <a:srgbClr val="13263D"/>
                </a:solidFill>
                <a:latin typeface="Yu Gothic" pitchFamily="34" charset="0"/>
                <a:ea typeface="Yu Gothic" pitchFamily="34" charset="-122"/>
                <a:cs typeface="Yu Gothic" pitchFamily="34" charset="-120"/>
              </a:rPr>
              <a:t>不正アクセス</a:t>
            </a:r>
            <a:endParaRPr lang="en-US" sz="2600" dirty="0"/>
          </a:p>
        </p:txBody>
      </p:sp>
      <p:sp>
        <p:nvSpPr>
          <p:cNvPr id="12" name="Shape 10"/>
          <p:cNvSpPr/>
          <p:nvPr/>
        </p:nvSpPr>
        <p:spPr>
          <a:xfrm>
            <a:off x="7805928" y="2857500"/>
            <a:ext cx="329184" cy="0"/>
          </a:xfrm>
          <a:prstGeom prst="line">
            <a:avLst/>
          </a:prstGeom>
          <a:noFill/>
          <a:ln w="19050">
            <a:solidFill>
              <a:srgbClr val="526174"/>
            </a:solidFill>
            <a:prstDash val="solid"/>
            <a:tailEnd type="triangle"/>
          </a:ln>
        </p:spPr>
      </p:sp>
      <p:sp>
        <p:nvSpPr>
          <p:cNvPr id="13" name="Shape 11"/>
          <p:cNvSpPr/>
          <p:nvPr/>
        </p:nvSpPr>
        <p:spPr>
          <a:xfrm>
            <a:off x="8199120" y="2240280"/>
            <a:ext cx="3322320" cy="1234440"/>
          </a:xfrm>
          <a:prstGeom prst="rect">
            <a:avLst/>
          </a:prstGeom>
          <a:solidFill>
            <a:srgbClr val="EDF3F6"/>
          </a:solidFill>
          <a:ln w="12700">
            <a:solidFill>
              <a:srgbClr val="EDF3F6">
                <a:alpha val="0"/>
              </a:srgbClr>
            </a:solidFill>
            <a:prstDash val="solid"/>
          </a:ln>
        </p:spPr>
      </p:sp>
      <p:sp>
        <p:nvSpPr>
          <p:cNvPr id="14" name="Text 12"/>
          <p:cNvSpPr/>
          <p:nvPr/>
        </p:nvSpPr>
        <p:spPr>
          <a:xfrm>
            <a:off x="8308848" y="2350008"/>
            <a:ext cx="3102864" cy="1014984"/>
          </a:xfrm>
          <a:prstGeom prst="rect">
            <a:avLst/>
          </a:prstGeom>
          <a:noFill/>
          <a:ln/>
        </p:spPr>
        <p:txBody>
          <a:bodyPr wrap="square" lIns="0" tIns="0" rIns="0" bIns="0" rtlCol="0" anchor="ctr"/>
          <a:lstStyle/>
          <a:p>
            <a:pPr marL="0" indent="0" algn="ctr">
              <a:buNone/>
            </a:pPr>
            <a:r>
              <a:rPr lang="en-US" sz="2600" b="1" dirty="0">
                <a:solidFill>
                  <a:srgbClr val="13263D"/>
                </a:solidFill>
                <a:latin typeface="Yu Gothic" pitchFamily="34" charset="0"/>
                <a:ea typeface="Yu Gothic" pitchFamily="34" charset="-122"/>
                <a:cs typeface="Yu Gothic" pitchFamily="34" charset="-120"/>
              </a:rPr>
              <a:t>物流システム</a:t>
            </a:r>
            <a:endParaRPr lang="en-US" sz="2600" dirty="0"/>
          </a:p>
          <a:p>
            <a:pPr marL="0" indent="0" algn="ctr">
              <a:buNone/>
            </a:pPr>
            <a:r>
              <a:rPr lang="en-US" sz="2600" b="1" dirty="0">
                <a:solidFill>
                  <a:srgbClr val="13263D"/>
                </a:solidFill>
                <a:latin typeface="Yu Gothic" pitchFamily="34" charset="0"/>
                <a:ea typeface="Yu Gothic" pitchFamily="34" charset="-122"/>
                <a:cs typeface="Yu Gothic" pitchFamily="34" charset="-120"/>
              </a:rPr>
              <a:t>被害</a:t>
            </a:r>
            <a:endParaRPr lang="en-US" sz="2600" dirty="0"/>
          </a:p>
        </p:txBody>
      </p:sp>
      <p:sp>
        <p:nvSpPr>
          <p:cNvPr id="15" name="Text 13"/>
          <p:cNvSpPr/>
          <p:nvPr/>
        </p:nvSpPr>
        <p:spPr>
          <a:xfrm>
            <a:off x="640080" y="5029200"/>
            <a:ext cx="10881360" cy="594360"/>
          </a:xfrm>
          <a:prstGeom prst="rect">
            <a:avLst/>
          </a:prstGeom>
          <a:noFill/>
          <a:ln/>
        </p:spPr>
        <p:txBody>
          <a:bodyPr wrap="square" lIns="0" tIns="0" rIns="0" bIns="0" rtlCol="0" anchor="ctr"/>
          <a:lstStyle/>
          <a:p>
            <a:pPr marL="0" indent="0" algn="ctr">
              <a:buNone/>
            </a:pPr>
            <a:r>
              <a:rPr lang="en-US" sz="3000" b="1" dirty="0">
                <a:solidFill>
                  <a:srgbClr val="006B68"/>
                </a:solidFill>
                <a:latin typeface="Yu Gothic" pitchFamily="34" charset="0"/>
                <a:ea typeface="Yu Gothic" pitchFamily="34" charset="-122"/>
                <a:cs typeface="Yu Gothic" pitchFamily="34" charset="-120"/>
              </a:rPr>
              <a:t>委託先を含め、認証の例外を残さない</a:t>
            </a:r>
            <a:endParaRPr lang="en-US" sz="3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1064240" cy="685800"/>
          </a:xfrm>
          <a:prstGeom prst="rect">
            <a:avLst/>
          </a:prstGeom>
          <a:noFill/>
          <a:ln/>
        </p:spPr>
        <p:txBody>
          <a:bodyPr wrap="square" lIns="0" tIns="0" rIns="0" bIns="0" rtlCol="0" anchor="ctr"/>
          <a:lstStyle/>
          <a:p>
            <a:pPr marL="0" indent="0">
              <a:buNone/>
            </a:pPr>
            <a:r>
              <a:rPr lang="en-US" sz="3100" b="1" dirty="0">
                <a:solidFill>
                  <a:srgbClr val="13263D"/>
                </a:solidFill>
                <a:latin typeface="Yu Gothic" pitchFamily="34" charset="0"/>
                <a:ea typeface="Yu Gothic" pitchFamily="34" charset="-122"/>
                <a:cs typeface="Yu Gothic" pitchFamily="34" charset="-120"/>
              </a:rPr>
              <a:t>段階的に再開しても、復旧は長期化する</a:t>
            </a:r>
            <a:endParaRPr lang="en-US" sz="3100" dirty="0"/>
          </a:p>
        </p:txBody>
      </p:sp>
      <p:sp>
        <p:nvSpPr>
          <p:cNvPr id="3" name="Shape 1"/>
          <p:cNvSpPr/>
          <p:nvPr/>
        </p:nvSpPr>
        <p:spPr>
          <a:xfrm>
            <a:off x="548640" y="1325880"/>
            <a:ext cx="11064240" cy="0"/>
          </a:xfrm>
          <a:prstGeom prst="line">
            <a:avLst/>
          </a:prstGeom>
          <a:noFill/>
          <a:ln w="8890">
            <a:solidFill>
              <a:srgbClr val="D4DCE4"/>
            </a:solidFill>
            <a:prstDash val="solid"/>
          </a:ln>
        </p:spPr>
      </p:sp>
      <p:sp>
        <p:nvSpPr>
          <p:cNvPr id="4" name="Text 2">
            <a:hlinkClick r:id="rId3"/>
          </p:cNvPr>
          <p:cNvSpPr/>
          <p:nvPr/>
        </p:nvSpPr>
        <p:spPr>
          <a:xfrm>
            <a:off x="548640" y="6419088"/>
            <a:ext cx="5285232" cy="182880"/>
          </a:xfrm>
          <a:prstGeom prst="rect">
            <a:avLst/>
          </a:prstGeom>
          <a:noFill/>
          <a:ln/>
        </p:spPr>
        <p:txBody>
          <a:bodyPr wrap="square" lIns="0" tIns="0" rIns="0" bIns="0" rtlCol="0" anchor="ctr"/>
          <a:lstStyle/>
          <a:p>
            <a:pPr marL="0" indent="0">
              <a:buNone/>
            </a:pPr>
            <a:r>
              <a:rPr lang="en-US" sz="1000" u="sng" dirty="0">
                <a:solidFill>
                  <a:srgbClr val="526174"/>
                </a:solidFill>
                <a:latin typeface="Yu Gothic" pitchFamily="34" charset="0"/>
                <a:ea typeface="Yu Gothic" pitchFamily="34" charset="-122"/>
                <a:cs typeface="Yu Gothic" pitchFamily="34" charset="-120"/>
                <a:hlinkClick r:id="rId3">
                  <a:extLst>
                    <a:ext uri="{A12FA001-AC4F-418D-AE19-62706E023703}">
                      <ahyp:hlinkClr xmlns:ahyp="http://schemas.microsoft.com/office/drawing/2018/hyperlinkcolor" val="tx"/>
                    </a:ext>
                  </a:extLst>
                </a:hlinkClick>
              </a:rPr>
              <a:t>S05 アスクル</a:t>
            </a:r>
            <a:endParaRPr lang="en-US" sz="1000" dirty="0"/>
          </a:p>
        </p:txBody>
      </p:sp>
      <p:sp>
        <p:nvSpPr>
          <p:cNvPr id="5" name="Text 3">
            <a:hlinkClick r:id="rId4"/>
          </p:cNvPr>
          <p:cNvSpPr/>
          <p:nvPr/>
        </p:nvSpPr>
        <p:spPr>
          <a:xfrm>
            <a:off x="5943600" y="6419088"/>
            <a:ext cx="5285232" cy="182880"/>
          </a:xfrm>
          <a:prstGeom prst="rect">
            <a:avLst/>
          </a:prstGeom>
          <a:noFill/>
          <a:ln/>
        </p:spPr>
        <p:txBody>
          <a:bodyPr wrap="square" lIns="0" tIns="0" rIns="0" bIns="0" rtlCol="0" anchor="ctr"/>
          <a:lstStyle/>
          <a:p>
            <a:pPr marL="0" indent="0">
              <a:buNone/>
            </a:pPr>
            <a:r>
              <a:rPr lang="en-US" sz="1000" u="sng" dirty="0">
                <a:solidFill>
                  <a:srgbClr val="526174"/>
                </a:solidFill>
                <a:latin typeface="Yu Gothic" pitchFamily="34" charset="0"/>
                <a:ea typeface="Yu Gothic" pitchFamily="34" charset="-122"/>
                <a:cs typeface="Yu Gothic" pitchFamily="34" charset="-120"/>
                <a:hlinkClick r:id="rId4">
                  <a:extLst>
                    <a:ext uri="{A12FA001-AC4F-418D-AE19-62706E023703}">
                      <ahyp:hlinkClr xmlns:ahyp="http://schemas.microsoft.com/office/drawing/2018/hyperlinkcolor" val="tx"/>
                    </a:ext>
                  </a:extLst>
                </a:hlinkClick>
              </a:rPr>
              <a:t>S06 アスクル</a:t>
            </a:r>
            <a:endParaRPr lang="en-US" sz="1000" dirty="0"/>
          </a:p>
        </p:txBody>
      </p:sp>
      <p:sp>
        <p:nvSpPr>
          <p:cNvPr id="6" name="Text 4"/>
          <p:cNvSpPr/>
          <p:nvPr/>
        </p:nvSpPr>
        <p:spPr>
          <a:xfrm>
            <a:off x="11155680" y="6419088"/>
            <a:ext cx="457200" cy="182880"/>
          </a:xfrm>
          <a:prstGeom prst="rect">
            <a:avLst/>
          </a:prstGeom>
          <a:noFill/>
          <a:ln/>
        </p:spPr>
        <p:txBody>
          <a:bodyPr wrap="square" lIns="0" tIns="0" rIns="0" bIns="0" rtlCol="0" anchor="ctr"/>
          <a:lstStyle/>
          <a:p>
            <a:pPr marL="0" indent="0" algn="r">
              <a:buNone/>
            </a:pPr>
            <a:r>
              <a:rPr lang="en-US" sz="1000" dirty="0">
                <a:solidFill>
                  <a:srgbClr val="526174"/>
                </a:solidFill>
                <a:latin typeface="Yu Gothic" pitchFamily="34" charset="0"/>
                <a:ea typeface="Yu Gothic" pitchFamily="34" charset="-122"/>
                <a:cs typeface="Yu Gothic" pitchFamily="34" charset="-120"/>
              </a:rPr>
              <a:t>05</a:t>
            </a:r>
            <a:endParaRPr lang="en-US" sz="1000" dirty="0"/>
          </a:p>
        </p:txBody>
      </p:sp>
      <p:sp>
        <p:nvSpPr>
          <p:cNvPr id="7" name="Text 5"/>
          <p:cNvSpPr/>
          <p:nvPr/>
        </p:nvSpPr>
        <p:spPr>
          <a:xfrm>
            <a:off x="685800" y="1691640"/>
            <a:ext cx="10789920" cy="1005840"/>
          </a:xfrm>
          <a:prstGeom prst="rect">
            <a:avLst/>
          </a:prstGeom>
          <a:noFill/>
          <a:ln/>
        </p:spPr>
        <p:txBody>
          <a:bodyPr wrap="square" lIns="0" tIns="0" rIns="0" bIns="0" rtlCol="0" anchor="ctr"/>
          <a:lstStyle/>
          <a:p>
            <a:pPr marL="0" indent="0" algn="ctr">
              <a:buNone/>
            </a:pPr>
            <a:r>
              <a:rPr lang="en-US" sz="6400" b="1" dirty="0">
                <a:solidFill>
                  <a:srgbClr val="AE2937"/>
                </a:solidFill>
                <a:latin typeface="Yu Gothic" pitchFamily="34" charset="0"/>
                <a:ea typeface="Yu Gothic" pitchFamily="34" charset="-122"/>
                <a:cs typeface="Yu Gothic" pitchFamily="34" charset="-120"/>
              </a:rPr>
              <a:t>108日</a:t>
            </a:r>
            <a:endParaRPr lang="en-US" sz="6400" dirty="0"/>
          </a:p>
        </p:txBody>
      </p:sp>
      <p:sp>
        <p:nvSpPr>
          <p:cNvPr id="8" name="Text 6"/>
          <p:cNvSpPr/>
          <p:nvPr/>
        </p:nvSpPr>
        <p:spPr>
          <a:xfrm>
            <a:off x="685800" y="2743200"/>
            <a:ext cx="10789920" cy="457200"/>
          </a:xfrm>
          <a:prstGeom prst="rect">
            <a:avLst/>
          </a:prstGeom>
          <a:noFill/>
          <a:ln/>
        </p:spPr>
        <p:txBody>
          <a:bodyPr wrap="square" lIns="0" tIns="0" rIns="0" bIns="0" rtlCol="0" anchor="ctr"/>
          <a:lstStyle/>
          <a:p>
            <a:pPr marL="0" indent="0" algn="ctr">
              <a:buNone/>
            </a:pPr>
            <a:r>
              <a:rPr lang="en-US" sz="2300" dirty="0">
                <a:solidFill>
                  <a:srgbClr val="526174"/>
                </a:solidFill>
                <a:latin typeface="Yu Gothic" pitchFamily="34" charset="0"/>
                <a:ea typeface="Yu Gothic" pitchFamily="34" charset="-122"/>
                <a:cs typeface="Yu Gothic" pitchFamily="34" charset="-120"/>
              </a:rPr>
              <a:t>全物流拠点の出荷再開までの日付差</a:t>
            </a:r>
            <a:endParaRPr lang="en-US" sz="2300" dirty="0"/>
          </a:p>
        </p:txBody>
      </p:sp>
      <p:sp>
        <p:nvSpPr>
          <p:cNvPr id="9" name="Shape 7"/>
          <p:cNvSpPr/>
          <p:nvPr/>
        </p:nvSpPr>
        <p:spPr>
          <a:xfrm>
            <a:off x="640080" y="3703320"/>
            <a:ext cx="3322320" cy="1051560"/>
          </a:xfrm>
          <a:prstGeom prst="rect">
            <a:avLst/>
          </a:prstGeom>
          <a:solidFill>
            <a:srgbClr val="EDF3F6"/>
          </a:solidFill>
          <a:ln w="12700">
            <a:solidFill>
              <a:srgbClr val="EDF3F6">
                <a:alpha val="0"/>
              </a:srgbClr>
            </a:solidFill>
            <a:prstDash val="solid"/>
          </a:ln>
        </p:spPr>
      </p:sp>
      <p:sp>
        <p:nvSpPr>
          <p:cNvPr id="10" name="Text 8"/>
          <p:cNvSpPr/>
          <p:nvPr/>
        </p:nvSpPr>
        <p:spPr>
          <a:xfrm>
            <a:off x="749808" y="3813048"/>
            <a:ext cx="3102864" cy="832104"/>
          </a:xfrm>
          <a:prstGeom prst="rect">
            <a:avLst/>
          </a:prstGeom>
          <a:noFill/>
          <a:ln/>
        </p:spPr>
        <p:txBody>
          <a:bodyPr wrap="square" lIns="0" tIns="0" rIns="0" bIns="0" rtlCol="0" anchor="ctr"/>
          <a:lstStyle/>
          <a:p>
            <a:pPr marL="0" indent="0" algn="ctr">
              <a:buNone/>
            </a:pPr>
            <a:r>
              <a:rPr lang="en-US" sz="2300" b="1" dirty="0">
                <a:solidFill>
                  <a:srgbClr val="13263D"/>
                </a:solidFill>
                <a:latin typeface="Yu Gothic" pitchFamily="34" charset="0"/>
                <a:ea typeface="Yu Gothic" pitchFamily="34" charset="-122"/>
                <a:cs typeface="Yu Gothic" pitchFamily="34" charset="-120"/>
              </a:rPr>
              <a:t>10/19</a:t>
            </a:r>
            <a:endParaRPr lang="en-US" sz="2300" dirty="0"/>
          </a:p>
          <a:p>
            <a:pPr marL="0" indent="0" algn="ctr">
              <a:buNone/>
            </a:pPr>
            <a:r>
              <a:rPr lang="en-US" sz="2300" b="1" dirty="0">
                <a:solidFill>
                  <a:srgbClr val="13263D"/>
                </a:solidFill>
                <a:latin typeface="Yu Gothic" pitchFamily="34" charset="0"/>
                <a:ea typeface="Yu Gothic" pitchFamily="34" charset="-122"/>
                <a:cs typeface="Yu Gothic" pitchFamily="34" charset="-120"/>
              </a:rPr>
              <a:t>受注・出荷停止</a:t>
            </a:r>
            <a:endParaRPr lang="en-US" sz="2300" dirty="0"/>
          </a:p>
        </p:txBody>
      </p:sp>
      <p:sp>
        <p:nvSpPr>
          <p:cNvPr id="11" name="Text 9"/>
          <p:cNvSpPr/>
          <p:nvPr/>
        </p:nvSpPr>
        <p:spPr>
          <a:xfrm>
            <a:off x="640080" y="5074920"/>
            <a:ext cx="3322320" cy="822960"/>
          </a:xfrm>
          <a:prstGeom prst="rect">
            <a:avLst/>
          </a:prstGeom>
          <a:noFill/>
          <a:ln/>
        </p:spPr>
        <p:txBody>
          <a:bodyPr wrap="square" lIns="0" tIns="0" rIns="0" bIns="0" rtlCol="0" anchor="ctr"/>
          <a:lstStyle/>
          <a:p>
            <a:pPr marL="0" indent="0" algn="ctr">
              <a:buNone/>
            </a:pPr>
            <a:r>
              <a:rPr lang="en-US" sz="2100" dirty="0">
                <a:solidFill>
                  <a:srgbClr val="526174"/>
                </a:solidFill>
                <a:latin typeface="Yu Gothic" pitchFamily="34" charset="0"/>
                <a:ea typeface="Yu Gothic" pitchFamily="34" charset="-122"/>
                <a:cs typeface="Yu Gothic" pitchFamily="34" charset="-120"/>
              </a:rPr>
              <a:t>2025年</a:t>
            </a:r>
            <a:endParaRPr lang="en-US" sz="2100" dirty="0"/>
          </a:p>
        </p:txBody>
      </p:sp>
      <p:sp>
        <p:nvSpPr>
          <p:cNvPr id="12" name="Shape 10"/>
          <p:cNvSpPr/>
          <p:nvPr/>
        </p:nvSpPr>
        <p:spPr>
          <a:xfrm>
            <a:off x="4026408" y="4229100"/>
            <a:ext cx="329184" cy="0"/>
          </a:xfrm>
          <a:prstGeom prst="line">
            <a:avLst/>
          </a:prstGeom>
          <a:noFill/>
          <a:ln w="19050">
            <a:solidFill>
              <a:srgbClr val="526174"/>
            </a:solidFill>
            <a:prstDash val="solid"/>
            <a:tailEnd type="triangle"/>
          </a:ln>
        </p:spPr>
      </p:sp>
      <p:sp>
        <p:nvSpPr>
          <p:cNvPr id="13" name="Shape 11"/>
          <p:cNvSpPr/>
          <p:nvPr/>
        </p:nvSpPr>
        <p:spPr>
          <a:xfrm>
            <a:off x="4419600" y="3703320"/>
            <a:ext cx="3322320" cy="1051560"/>
          </a:xfrm>
          <a:prstGeom prst="rect">
            <a:avLst/>
          </a:prstGeom>
          <a:solidFill>
            <a:srgbClr val="EDF3F6"/>
          </a:solidFill>
          <a:ln w="12700">
            <a:solidFill>
              <a:srgbClr val="EDF3F6">
                <a:alpha val="0"/>
              </a:srgbClr>
            </a:solidFill>
            <a:prstDash val="solid"/>
          </a:ln>
        </p:spPr>
      </p:sp>
      <p:sp>
        <p:nvSpPr>
          <p:cNvPr id="14" name="Text 12"/>
          <p:cNvSpPr/>
          <p:nvPr/>
        </p:nvSpPr>
        <p:spPr>
          <a:xfrm>
            <a:off x="4529328" y="3813048"/>
            <a:ext cx="3102864" cy="832104"/>
          </a:xfrm>
          <a:prstGeom prst="rect">
            <a:avLst/>
          </a:prstGeom>
          <a:noFill/>
          <a:ln/>
        </p:spPr>
        <p:txBody>
          <a:bodyPr wrap="square" lIns="0" tIns="0" rIns="0" bIns="0" rtlCol="0" anchor="ctr"/>
          <a:lstStyle/>
          <a:p>
            <a:pPr marL="0" indent="0" algn="ctr">
              <a:buNone/>
            </a:pPr>
            <a:r>
              <a:rPr lang="en-US" sz="2300" b="1" dirty="0">
                <a:solidFill>
                  <a:srgbClr val="13263D"/>
                </a:solidFill>
                <a:latin typeface="Yu Gothic" pitchFamily="34" charset="0"/>
                <a:ea typeface="Yu Gothic" pitchFamily="34" charset="-122"/>
                <a:cs typeface="Yu Gothic" pitchFamily="34" charset="-120"/>
              </a:rPr>
              <a:t>10/29</a:t>
            </a:r>
            <a:endParaRPr lang="en-US" sz="2300" dirty="0"/>
          </a:p>
          <a:p>
            <a:pPr marL="0" indent="0" algn="ctr">
              <a:buNone/>
            </a:pPr>
            <a:r>
              <a:rPr lang="en-US" sz="2300" b="1" dirty="0">
                <a:solidFill>
                  <a:srgbClr val="13263D"/>
                </a:solidFill>
                <a:latin typeface="Yu Gothic" pitchFamily="34" charset="0"/>
                <a:ea typeface="Yu Gothic" pitchFamily="34" charset="-122"/>
                <a:cs typeface="Yu Gothic" pitchFamily="34" charset="-120"/>
              </a:rPr>
              <a:t>出荷トライアル</a:t>
            </a:r>
            <a:endParaRPr lang="en-US" sz="2300" dirty="0"/>
          </a:p>
        </p:txBody>
      </p:sp>
      <p:sp>
        <p:nvSpPr>
          <p:cNvPr id="15" name="Shape 13"/>
          <p:cNvSpPr/>
          <p:nvPr/>
        </p:nvSpPr>
        <p:spPr>
          <a:xfrm>
            <a:off x="7805928" y="4229100"/>
            <a:ext cx="329184" cy="0"/>
          </a:xfrm>
          <a:prstGeom prst="line">
            <a:avLst/>
          </a:prstGeom>
          <a:noFill/>
          <a:ln w="19050">
            <a:solidFill>
              <a:srgbClr val="526174"/>
            </a:solidFill>
            <a:prstDash val="solid"/>
            <a:tailEnd type="triangle"/>
          </a:ln>
        </p:spPr>
      </p:sp>
      <p:sp>
        <p:nvSpPr>
          <p:cNvPr id="16" name="Shape 14"/>
          <p:cNvSpPr/>
          <p:nvPr/>
        </p:nvSpPr>
        <p:spPr>
          <a:xfrm>
            <a:off x="8199120" y="3703320"/>
            <a:ext cx="3322320" cy="1051560"/>
          </a:xfrm>
          <a:prstGeom prst="rect">
            <a:avLst/>
          </a:prstGeom>
          <a:solidFill>
            <a:srgbClr val="EDF3F6"/>
          </a:solidFill>
          <a:ln w="12700">
            <a:solidFill>
              <a:srgbClr val="EDF3F6">
                <a:alpha val="0"/>
              </a:srgbClr>
            </a:solidFill>
            <a:prstDash val="solid"/>
          </a:ln>
        </p:spPr>
      </p:sp>
      <p:sp>
        <p:nvSpPr>
          <p:cNvPr id="17" name="Text 15"/>
          <p:cNvSpPr/>
          <p:nvPr/>
        </p:nvSpPr>
        <p:spPr>
          <a:xfrm>
            <a:off x="8308848" y="3813048"/>
            <a:ext cx="3102864" cy="832104"/>
          </a:xfrm>
          <a:prstGeom prst="rect">
            <a:avLst/>
          </a:prstGeom>
          <a:noFill/>
          <a:ln/>
        </p:spPr>
        <p:txBody>
          <a:bodyPr wrap="square" lIns="0" tIns="0" rIns="0" bIns="0" rtlCol="0" anchor="ctr"/>
          <a:lstStyle/>
          <a:p>
            <a:pPr marL="0" indent="0" algn="ctr">
              <a:buNone/>
            </a:pPr>
            <a:r>
              <a:rPr lang="en-US" sz="2300" b="1" dirty="0">
                <a:solidFill>
                  <a:srgbClr val="13263D"/>
                </a:solidFill>
                <a:latin typeface="Yu Gothic" pitchFamily="34" charset="0"/>
                <a:ea typeface="Yu Gothic" pitchFamily="34" charset="-122"/>
                <a:cs typeface="Yu Gothic" pitchFamily="34" charset="-120"/>
              </a:rPr>
              <a:t>2/4</a:t>
            </a:r>
            <a:endParaRPr lang="en-US" sz="2300" dirty="0"/>
          </a:p>
          <a:p>
            <a:pPr marL="0" indent="0" algn="ctr">
              <a:buNone/>
            </a:pPr>
            <a:r>
              <a:rPr lang="en-US" sz="2300" b="1" dirty="0">
                <a:solidFill>
                  <a:srgbClr val="13263D"/>
                </a:solidFill>
                <a:latin typeface="Yu Gothic" pitchFamily="34" charset="0"/>
                <a:ea typeface="Yu Gothic" pitchFamily="34" charset="-122"/>
                <a:cs typeface="Yu Gothic" pitchFamily="34" charset="-120"/>
              </a:rPr>
              <a:t>全拠点で出荷再開</a:t>
            </a:r>
            <a:endParaRPr lang="en-US" sz="2300" dirty="0"/>
          </a:p>
        </p:txBody>
      </p:sp>
      <p:sp>
        <p:nvSpPr>
          <p:cNvPr id="18" name="Text 16"/>
          <p:cNvSpPr/>
          <p:nvPr/>
        </p:nvSpPr>
        <p:spPr>
          <a:xfrm>
            <a:off x="8199120" y="5074920"/>
            <a:ext cx="3322320" cy="822960"/>
          </a:xfrm>
          <a:prstGeom prst="rect">
            <a:avLst/>
          </a:prstGeom>
          <a:noFill/>
          <a:ln/>
        </p:spPr>
        <p:txBody>
          <a:bodyPr wrap="square" lIns="0" tIns="0" rIns="0" bIns="0" rtlCol="0" anchor="ctr"/>
          <a:lstStyle/>
          <a:p>
            <a:pPr marL="0" indent="0" algn="ctr">
              <a:buNone/>
            </a:pPr>
            <a:r>
              <a:rPr lang="en-US" sz="2100" dirty="0">
                <a:solidFill>
                  <a:srgbClr val="526174"/>
                </a:solidFill>
                <a:latin typeface="Yu Gothic" pitchFamily="34" charset="0"/>
                <a:ea typeface="Yu Gothic" pitchFamily="34" charset="-122"/>
                <a:cs typeface="Yu Gothic" pitchFamily="34" charset="-120"/>
              </a:rPr>
              <a:t>2026年</a:t>
            </a:r>
            <a:endParaRPr lang="en-US" sz="2100" dirty="0"/>
          </a:p>
        </p:txBody>
      </p:sp>
      <p:sp>
        <p:nvSpPr>
          <p:cNvPr id="19" name="Text 17"/>
          <p:cNvSpPr/>
          <p:nvPr/>
        </p:nvSpPr>
        <p:spPr>
          <a:xfrm>
            <a:off x="658368" y="5897880"/>
            <a:ext cx="10881360" cy="320040"/>
          </a:xfrm>
          <a:prstGeom prst="rect">
            <a:avLst/>
          </a:prstGeom>
          <a:noFill/>
          <a:ln/>
        </p:spPr>
        <p:txBody>
          <a:bodyPr wrap="square" lIns="0" tIns="0" rIns="0" bIns="0" rtlCol="0" anchor="ctr"/>
          <a:lstStyle/>
          <a:p>
            <a:pPr marL="0" indent="0">
              <a:buNone/>
            </a:pPr>
            <a:r>
              <a:rPr lang="en-US" sz="1300" dirty="0">
                <a:solidFill>
                  <a:srgbClr val="526174"/>
                </a:solidFill>
                <a:latin typeface="Yu Gothic" pitchFamily="34" charset="0"/>
                <a:ea typeface="Yu Gothic" pitchFamily="34" charset="-122"/>
                <a:cs typeface="Yu Gothic" pitchFamily="34" charset="-120"/>
              </a:rPr>
              <a:t>アスクルの公表日から計算。108日間の全面停止ではない。間隔は日数に比例しない。</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1064240" cy="685800"/>
          </a:xfrm>
          <a:prstGeom prst="rect">
            <a:avLst/>
          </a:prstGeom>
          <a:noFill/>
          <a:ln/>
        </p:spPr>
        <p:txBody>
          <a:bodyPr wrap="square" lIns="0" tIns="0" rIns="0" bIns="0" rtlCol="0" anchor="ctr"/>
          <a:lstStyle/>
          <a:p>
            <a:pPr marL="0" indent="0">
              <a:buNone/>
            </a:pPr>
            <a:r>
              <a:rPr lang="en-US" sz="3100" b="1" dirty="0">
                <a:solidFill>
                  <a:srgbClr val="13263D"/>
                </a:solidFill>
                <a:latin typeface="Yu Gothic" pitchFamily="34" charset="0"/>
                <a:ea typeface="Yu Gothic" pitchFamily="34" charset="-122"/>
                <a:cs typeface="Yu Gothic" pitchFamily="34" charset="-120"/>
              </a:rPr>
              <a:t>被害は、事業利益の減少と追加費用に及ぶ</a:t>
            </a:r>
            <a:endParaRPr lang="en-US" sz="3100" dirty="0"/>
          </a:p>
        </p:txBody>
      </p:sp>
      <p:sp>
        <p:nvSpPr>
          <p:cNvPr id="3" name="Shape 1"/>
          <p:cNvSpPr/>
          <p:nvPr/>
        </p:nvSpPr>
        <p:spPr>
          <a:xfrm>
            <a:off x="548640" y="1325880"/>
            <a:ext cx="11064240" cy="0"/>
          </a:xfrm>
          <a:prstGeom prst="line">
            <a:avLst/>
          </a:prstGeom>
          <a:noFill/>
          <a:ln w="8890">
            <a:solidFill>
              <a:srgbClr val="D4DCE4"/>
            </a:solidFill>
            <a:prstDash val="solid"/>
          </a:ln>
        </p:spPr>
      </p:sp>
      <p:sp>
        <p:nvSpPr>
          <p:cNvPr id="4" name="Text 2">
            <a:hlinkClick r:id="rId3"/>
          </p:cNvPr>
          <p:cNvSpPr/>
          <p:nvPr/>
        </p:nvSpPr>
        <p:spPr>
          <a:xfrm>
            <a:off x="548640" y="6419088"/>
            <a:ext cx="10680192" cy="182880"/>
          </a:xfrm>
          <a:prstGeom prst="rect">
            <a:avLst/>
          </a:prstGeom>
          <a:noFill/>
          <a:ln/>
        </p:spPr>
        <p:txBody>
          <a:bodyPr wrap="square" lIns="0" tIns="0" rIns="0" bIns="0" rtlCol="0" anchor="ctr"/>
          <a:lstStyle/>
          <a:p>
            <a:pPr marL="0" indent="0">
              <a:buNone/>
            </a:pPr>
            <a:r>
              <a:rPr lang="en-US" sz="1000" u="sng" dirty="0">
                <a:solidFill>
                  <a:srgbClr val="526174"/>
                </a:solidFill>
                <a:latin typeface="Yu Gothic" pitchFamily="34" charset="0"/>
                <a:ea typeface="Yu Gothic" pitchFamily="34" charset="-122"/>
                <a:cs typeface="Yu Gothic" pitchFamily="34" charset="-120"/>
                <a:hlinkClick r:id="rId3">
                  <a:extLst>
                    <a:ext uri="{A12FA001-AC4F-418D-AE19-62706E023703}">
                      <ahyp:hlinkClr xmlns:ahyp="http://schemas.microsoft.com/office/drawing/2018/hyperlinkcolor" val="tx"/>
                    </a:ext>
                  </a:extLst>
                </a:hlinkClick>
              </a:rPr>
              <a:t>S09 アサヒグループHD</a:t>
            </a:r>
            <a:endParaRPr lang="en-US" sz="1000" dirty="0"/>
          </a:p>
        </p:txBody>
      </p:sp>
      <p:sp>
        <p:nvSpPr>
          <p:cNvPr id="5" name="Text 3"/>
          <p:cNvSpPr/>
          <p:nvPr/>
        </p:nvSpPr>
        <p:spPr>
          <a:xfrm>
            <a:off x="11155680" y="6419088"/>
            <a:ext cx="457200" cy="182880"/>
          </a:xfrm>
          <a:prstGeom prst="rect">
            <a:avLst/>
          </a:prstGeom>
          <a:noFill/>
          <a:ln/>
        </p:spPr>
        <p:txBody>
          <a:bodyPr wrap="square" lIns="0" tIns="0" rIns="0" bIns="0" rtlCol="0" anchor="ctr"/>
          <a:lstStyle/>
          <a:p>
            <a:pPr marL="0" indent="0" algn="r">
              <a:buNone/>
            </a:pPr>
            <a:r>
              <a:rPr lang="en-US" sz="1000" dirty="0">
                <a:solidFill>
                  <a:srgbClr val="526174"/>
                </a:solidFill>
                <a:latin typeface="Yu Gothic" pitchFamily="34" charset="0"/>
                <a:ea typeface="Yu Gothic" pitchFamily="34" charset="-122"/>
                <a:cs typeface="Yu Gothic" pitchFamily="34" charset="-120"/>
              </a:rPr>
              <a:t>06</a:t>
            </a:r>
            <a:endParaRPr lang="en-US" sz="1000" dirty="0"/>
          </a:p>
        </p:txBody>
      </p:sp>
      <p:sp>
        <p:nvSpPr>
          <p:cNvPr id="6" name="Text 4"/>
          <p:cNvSpPr/>
          <p:nvPr/>
        </p:nvSpPr>
        <p:spPr>
          <a:xfrm>
            <a:off x="640080" y="1691640"/>
            <a:ext cx="10881360" cy="411480"/>
          </a:xfrm>
          <a:prstGeom prst="rect">
            <a:avLst/>
          </a:prstGeom>
          <a:noFill/>
          <a:ln/>
        </p:spPr>
        <p:txBody>
          <a:bodyPr wrap="square" lIns="0" tIns="0" rIns="0" bIns="0" rtlCol="0" anchor="ctr"/>
          <a:lstStyle/>
          <a:p>
            <a:pPr marL="0" indent="0" algn="ctr">
              <a:buNone/>
            </a:pPr>
            <a:r>
              <a:rPr lang="en-US" sz="2400" b="1" dirty="0">
                <a:solidFill>
                  <a:srgbClr val="13263D"/>
                </a:solidFill>
                <a:latin typeface="Yu Gothic" pitchFamily="34" charset="0"/>
                <a:ea typeface="Yu Gothic" pitchFamily="34" charset="-122"/>
                <a:cs typeface="Yu Gothic" pitchFamily="34" charset="-120"/>
              </a:rPr>
              <a:t>アサヒグループ</a:t>
            </a:r>
            <a:endParaRPr lang="en-US" sz="2400" dirty="0"/>
          </a:p>
        </p:txBody>
      </p:sp>
      <p:sp>
        <p:nvSpPr>
          <p:cNvPr id="7" name="Text 5"/>
          <p:cNvSpPr/>
          <p:nvPr/>
        </p:nvSpPr>
        <p:spPr>
          <a:xfrm>
            <a:off x="640080" y="2331720"/>
            <a:ext cx="10881360" cy="1097280"/>
          </a:xfrm>
          <a:prstGeom prst="rect">
            <a:avLst/>
          </a:prstGeom>
          <a:noFill/>
          <a:ln/>
        </p:spPr>
        <p:txBody>
          <a:bodyPr wrap="square" lIns="0" tIns="0" rIns="0" bIns="0" rtlCol="0" anchor="ctr"/>
          <a:lstStyle/>
          <a:p>
            <a:pPr marL="0" indent="0" algn="ctr">
              <a:buNone/>
            </a:pPr>
            <a:r>
              <a:rPr lang="en-US" sz="6600" b="1" dirty="0">
                <a:solidFill>
                  <a:srgbClr val="AE2937"/>
                </a:solidFill>
                <a:latin typeface="Yu Gothic" pitchFamily="34" charset="0"/>
                <a:ea typeface="Yu Gothic" pitchFamily="34" charset="-122"/>
                <a:cs typeface="Yu Gothic" pitchFamily="34" charset="-120"/>
              </a:rPr>
              <a:t>約400億円</a:t>
            </a:r>
            <a:endParaRPr lang="en-US" sz="6600" dirty="0"/>
          </a:p>
        </p:txBody>
      </p:sp>
      <p:sp>
        <p:nvSpPr>
          <p:cNvPr id="8" name="Text 6"/>
          <p:cNvSpPr/>
          <p:nvPr/>
        </p:nvSpPr>
        <p:spPr>
          <a:xfrm>
            <a:off x="640080" y="3593592"/>
            <a:ext cx="10881360" cy="411480"/>
          </a:xfrm>
          <a:prstGeom prst="rect">
            <a:avLst/>
          </a:prstGeom>
          <a:noFill/>
          <a:ln/>
        </p:spPr>
        <p:txBody>
          <a:bodyPr wrap="square" lIns="0" tIns="0" rIns="0" bIns="0" rtlCol="0" anchor="ctr"/>
          <a:lstStyle/>
          <a:p>
            <a:pPr marL="0" indent="0" algn="ctr">
              <a:buNone/>
            </a:pPr>
            <a:r>
              <a:rPr lang="en-US" sz="2300" dirty="0">
                <a:solidFill>
                  <a:srgbClr val="526174"/>
                </a:solidFill>
                <a:latin typeface="Yu Gothic" pitchFamily="34" charset="0"/>
                <a:ea typeface="Yu Gothic" pitchFamily="34" charset="-122"/>
                <a:cs typeface="Yu Gothic" pitchFamily="34" charset="-120"/>
              </a:rPr>
              <a:t>2025年の業績影響（会社算定）</a:t>
            </a:r>
            <a:endParaRPr lang="en-US" sz="2300" dirty="0"/>
          </a:p>
        </p:txBody>
      </p:sp>
      <p:sp>
        <p:nvSpPr>
          <p:cNvPr id="9" name="Shape 7"/>
          <p:cNvSpPr/>
          <p:nvPr/>
        </p:nvSpPr>
        <p:spPr>
          <a:xfrm>
            <a:off x="6080760" y="4251960"/>
            <a:ext cx="0" cy="365760"/>
          </a:xfrm>
          <a:prstGeom prst="line">
            <a:avLst/>
          </a:prstGeom>
          <a:noFill/>
          <a:ln w="19050">
            <a:solidFill>
              <a:srgbClr val="526174"/>
            </a:solidFill>
            <a:prstDash val="solid"/>
          </a:ln>
        </p:spPr>
      </p:sp>
      <p:sp>
        <p:nvSpPr>
          <p:cNvPr id="10" name="Shape 8"/>
          <p:cNvSpPr/>
          <p:nvPr/>
        </p:nvSpPr>
        <p:spPr>
          <a:xfrm>
            <a:off x="2926080" y="4617720"/>
            <a:ext cx="6327648" cy="0"/>
          </a:xfrm>
          <a:prstGeom prst="line">
            <a:avLst/>
          </a:prstGeom>
          <a:noFill/>
          <a:ln w="19050">
            <a:solidFill>
              <a:srgbClr val="526174"/>
            </a:solidFill>
            <a:prstDash val="solid"/>
          </a:ln>
        </p:spPr>
      </p:sp>
      <p:sp>
        <p:nvSpPr>
          <p:cNvPr id="11" name="Shape 9"/>
          <p:cNvSpPr/>
          <p:nvPr/>
        </p:nvSpPr>
        <p:spPr>
          <a:xfrm>
            <a:off x="2926080" y="4617720"/>
            <a:ext cx="0" cy="301752"/>
          </a:xfrm>
          <a:prstGeom prst="line">
            <a:avLst/>
          </a:prstGeom>
          <a:noFill/>
          <a:ln w="19050">
            <a:solidFill>
              <a:srgbClr val="526174"/>
            </a:solidFill>
            <a:prstDash val="solid"/>
          </a:ln>
        </p:spPr>
      </p:sp>
      <p:sp>
        <p:nvSpPr>
          <p:cNvPr id="12" name="Shape 10"/>
          <p:cNvSpPr/>
          <p:nvPr/>
        </p:nvSpPr>
        <p:spPr>
          <a:xfrm>
            <a:off x="9253728" y="4617720"/>
            <a:ext cx="0" cy="301752"/>
          </a:xfrm>
          <a:prstGeom prst="line">
            <a:avLst/>
          </a:prstGeom>
          <a:noFill/>
          <a:ln w="19050">
            <a:solidFill>
              <a:srgbClr val="526174"/>
            </a:solidFill>
            <a:prstDash val="solid"/>
          </a:ln>
        </p:spPr>
      </p:sp>
      <p:sp>
        <p:nvSpPr>
          <p:cNvPr id="13" name="Text 11"/>
          <p:cNvSpPr/>
          <p:nvPr/>
        </p:nvSpPr>
        <p:spPr>
          <a:xfrm>
            <a:off x="640080" y="5074920"/>
            <a:ext cx="4572000" cy="502920"/>
          </a:xfrm>
          <a:prstGeom prst="rect">
            <a:avLst/>
          </a:prstGeom>
          <a:noFill/>
          <a:ln/>
        </p:spPr>
        <p:txBody>
          <a:bodyPr wrap="square" lIns="0" tIns="0" rIns="0" bIns="0" rtlCol="0" anchor="ctr"/>
          <a:lstStyle/>
          <a:p>
            <a:pPr marL="0" indent="0" algn="ctr">
              <a:buNone/>
            </a:pPr>
            <a:r>
              <a:rPr lang="en-US" sz="2800" b="1" dirty="0">
                <a:solidFill>
                  <a:srgbClr val="13263D"/>
                </a:solidFill>
                <a:latin typeface="Yu Gothic" pitchFamily="34" charset="0"/>
                <a:ea typeface="Yu Gothic" pitchFamily="34" charset="-122"/>
                <a:cs typeface="Yu Gothic" pitchFamily="34" charset="-120"/>
              </a:rPr>
              <a:t>事業利益の減少</a:t>
            </a:r>
            <a:endParaRPr lang="en-US" sz="2800" dirty="0"/>
          </a:p>
        </p:txBody>
      </p:sp>
      <p:sp>
        <p:nvSpPr>
          <p:cNvPr id="14" name="Text 12"/>
          <p:cNvSpPr/>
          <p:nvPr/>
        </p:nvSpPr>
        <p:spPr>
          <a:xfrm>
            <a:off x="6903720" y="5074920"/>
            <a:ext cx="4572000" cy="502920"/>
          </a:xfrm>
          <a:prstGeom prst="rect">
            <a:avLst/>
          </a:prstGeom>
          <a:noFill/>
          <a:ln/>
        </p:spPr>
        <p:txBody>
          <a:bodyPr wrap="square" lIns="0" tIns="0" rIns="0" bIns="0" rtlCol="0" anchor="ctr"/>
          <a:lstStyle/>
          <a:p>
            <a:pPr marL="0" indent="0" algn="ctr">
              <a:buNone/>
            </a:pPr>
            <a:r>
              <a:rPr lang="en-US" sz="2800" b="1" dirty="0">
                <a:solidFill>
                  <a:srgbClr val="13263D"/>
                </a:solidFill>
                <a:latin typeface="Yu Gothic" pitchFamily="34" charset="0"/>
                <a:ea typeface="Yu Gothic" pitchFamily="34" charset="-122"/>
                <a:cs typeface="Yu Gothic" pitchFamily="34" charset="-120"/>
              </a:rPr>
              <a:t>「その他」の費用</a:t>
            </a:r>
            <a:endParaRPr lang="en-US" sz="2800" dirty="0"/>
          </a:p>
        </p:txBody>
      </p:sp>
      <p:sp>
        <p:nvSpPr>
          <p:cNvPr id="15" name="Text 13"/>
          <p:cNvSpPr/>
          <p:nvPr/>
        </p:nvSpPr>
        <p:spPr>
          <a:xfrm>
            <a:off x="658368" y="5943600"/>
            <a:ext cx="10881360" cy="274320"/>
          </a:xfrm>
          <a:prstGeom prst="rect">
            <a:avLst/>
          </a:prstGeom>
          <a:noFill/>
          <a:ln/>
        </p:spPr>
        <p:txBody>
          <a:bodyPr wrap="square" lIns="0" tIns="0" rIns="0" bIns="0" rtlCol="0" anchor="ctr"/>
          <a:lstStyle/>
          <a:p>
            <a:pPr marL="0" indent="0">
              <a:buNone/>
            </a:pPr>
            <a:r>
              <a:rPr lang="en-US" sz="1300" dirty="0">
                <a:solidFill>
                  <a:srgbClr val="526174"/>
                </a:solidFill>
                <a:latin typeface="Yu Gothic" pitchFamily="34" charset="0"/>
                <a:ea typeface="Yu Gothic" pitchFamily="34" charset="-122"/>
                <a:cs typeface="Yu Gothic" pitchFamily="34" charset="-120"/>
              </a:rPr>
              <a:t>被害総額・特別損失の額ではない。図の幅は金額の割合を表さない。</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1064240" cy="685800"/>
          </a:xfrm>
          <a:prstGeom prst="rect">
            <a:avLst/>
          </a:prstGeom>
          <a:noFill/>
          <a:ln/>
        </p:spPr>
        <p:txBody>
          <a:bodyPr wrap="square" lIns="0" tIns="0" rIns="0" bIns="0" rtlCol="0" anchor="ctr"/>
          <a:lstStyle/>
          <a:p>
            <a:pPr marL="0" indent="0">
              <a:buNone/>
            </a:pPr>
            <a:r>
              <a:rPr lang="ja-JP" altLang="en-US" sz="3100" b="1" dirty="0">
                <a:solidFill>
                  <a:srgbClr val="13263D"/>
                </a:solidFill>
                <a:latin typeface="Yu Gothic" pitchFamily="34" charset="0"/>
                <a:ea typeface="Yu Gothic" pitchFamily="34" charset="-122"/>
                <a:cs typeface="Yu Gothic" pitchFamily="34" charset="-120"/>
              </a:rPr>
              <a:t>投資する場合の</a:t>
            </a:r>
            <a:r>
              <a:rPr lang="en-US" sz="3100" b="1" dirty="0" err="1">
                <a:solidFill>
                  <a:srgbClr val="13263D"/>
                </a:solidFill>
                <a:latin typeface="Yu Gothic" pitchFamily="34" charset="0"/>
                <a:ea typeface="Yu Gothic" pitchFamily="34" charset="-122"/>
                <a:cs typeface="Yu Gothic" pitchFamily="34" charset="-120"/>
              </a:rPr>
              <a:t>予算は、抑える損失と実装費を照合して決める</a:t>
            </a:r>
            <a:endParaRPr lang="en-US" sz="3100" dirty="0"/>
          </a:p>
        </p:txBody>
      </p:sp>
      <p:sp>
        <p:nvSpPr>
          <p:cNvPr id="3" name="Shape 1"/>
          <p:cNvSpPr/>
          <p:nvPr/>
        </p:nvSpPr>
        <p:spPr>
          <a:xfrm>
            <a:off x="548640" y="1325880"/>
            <a:ext cx="11064240" cy="0"/>
          </a:xfrm>
          <a:prstGeom prst="line">
            <a:avLst/>
          </a:prstGeom>
          <a:noFill/>
          <a:ln w="8890">
            <a:solidFill>
              <a:srgbClr val="D4DCE4"/>
            </a:solidFill>
            <a:prstDash val="solid"/>
          </a:ln>
        </p:spPr>
      </p:sp>
      <p:sp>
        <p:nvSpPr>
          <p:cNvPr id="4" name="Text 2"/>
          <p:cNvSpPr/>
          <p:nvPr/>
        </p:nvSpPr>
        <p:spPr>
          <a:xfrm>
            <a:off x="548640" y="6419088"/>
            <a:ext cx="10607040" cy="182880"/>
          </a:xfrm>
          <a:prstGeom prst="rect">
            <a:avLst/>
          </a:prstGeom>
          <a:noFill/>
          <a:ln/>
        </p:spPr>
        <p:txBody>
          <a:bodyPr wrap="square" lIns="0" tIns="0" rIns="0" bIns="0" rtlCol="0" anchor="ctr"/>
          <a:lstStyle/>
          <a:p>
            <a:pPr marL="0" indent="0">
              <a:buNone/>
            </a:pPr>
            <a:r>
              <a:rPr lang="en-US" sz="1000" dirty="0">
                <a:solidFill>
                  <a:srgbClr val="526174"/>
                </a:solidFill>
                <a:latin typeface="Yu Gothic" pitchFamily="34" charset="0"/>
                <a:ea typeface="Yu Gothic" pitchFamily="34" charset="-122"/>
                <a:cs typeface="Yu Gothic" pitchFamily="34" charset="-120"/>
              </a:rPr>
              <a:t>予算額・発生確率・ROIは未算定</a:t>
            </a:r>
            <a:endParaRPr lang="en-US" sz="1000" dirty="0"/>
          </a:p>
        </p:txBody>
      </p:sp>
      <p:sp>
        <p:nvSpPr>
          <p:cNvPr id="5" name="Text 3"/>
          <p:cNvSpPr/>
          <p:nvPr/>
        </p:nvSpPr>
        <p:spPr>
          <a:xfrm>
            <a:off x="11155680" y="6419088"/>
            <a:ext cx="457200" cy="182880"/>
          </a:xfrm>
          <a:prstGeom prst="rect">
            <a:avLst/>
          </a:prstGeom>
          <a:noFill/>
          <a:ln/>
        </p:spPr>
        <p:txBody>
          <a:bodyPr wrap="square" lIns="0" tIns="0" rIns="0" bIns="0" rtlCol="0" anchor="ctr"/>
          <a:lstStyle/>
          <a:p>
            <a:pPr marL="0" indent="0" algn="r">
              <a:buNone/>
            </a:pPr>
            <a:r>
              <a:rPr lang="en-US" sz="1000" dirty="0">
                <a:solidFill>
                  <a:srgbClr val="526174"/>
                </a:solidFill>
                <a:latin typeface="Yu Gothic" pitchFamily="34" charset="0"/>
                <a:ea typeface="Yu Gothic" pitchFamily="34" charset="-122"/>
                <a:cs typeface="Yu Gothic" pitchFamily="34" charset="-120"/>
              </a:rPr>
              <a:t>11</a:t>
            </a:r>
            <a:endParaRPr lang="en-US" sz="1000" dirty="0"/>
          </a:p>
        </p:txBody>
      </p:sp>
      <p:sp>
        <p:nvSpPr>
          <p:cNvPr id="6" name="Text 4"/>
          <p:cNvSpPr/>
          <p:nvPr/>
        </p:nvSpPr>
        <p:spPr>
          <a:xfrm>
            <a:off x="640080" y="1828800"/>
            <a:ext cx="4800600" cy="548640"/>
          </a:xfrm>
          <a:prstGeom prst="rect">
            <a:avLst/>
          </a:prstGeom>
          <a:noFill/>
          <a:ln/>
        </p:spPr>
        <p:txBody>
          <a:bodyPr wrap="square" lIns="0" tIns="0" rIns="0" bIns="0" rtlCol="0" anchor="ctr"/>
          <a:lstStyle/>
          <a:p>
            <a:pPr marL="0" indent="0" algn="ctr">
              <a:buNone/>
            </a:pPr>
            <a:r>
              <a:rPr lang="en-US" sz="2800" b="1" dirty="0">
                <a:solidFill>
                  <a:srgbClr val="AE2937"/>
                </a:solidFill>
                <a:latin typeface="Yu Gothic" pitchFamily="34" charset="0"/>
                <a:ea typeface="Yu Gothic" pitchFamily="34" charset="-122"/>
                <a:cs typeface="Yu Gothic" pitchFamily="34" charset="-120"/>
              </a:rPr>
              <a:t>止まったときの損失</a:t>
            </a:r>
            <a:endParaRPr lang="en-US" sz="2800" dirty="0"/>
          </a:p>
        </p:txBody>
      </p:sp>
      <p:sp>
        <p:nvSpPr>
          <p:cNvPr id="7" name="Text 5"/>
          <p:cNvSpPr/>
          <p:nvPr/>
        </p:nvSpPr>
        <p:spPr>
          <a:xfrm>
            <a:off x="731520" y="2788920"/>
            <a:ext cx="4617720" cy="1783080"/>
          </a:xfrm>
          <a:prstGeom prst="rect">
            <a:avLst/>
          </a:prstGeom>
          <a:noFill/>
          <a:ln/>
        </p:spPr>
        <p:txBody>
          <a:bodyPr wrap="square" lIns="0" tIns="0" rIns="0" bIns="0" rtlCol="0" anchor="ctr"/>
          <a:lstStyle/>
          <a:p>
            <a:pPr marL="0" indent="0" algn="ctr">
              <a:buNone/>
            </a:pPr>
            <a:r>
              <a:rPr lang="en-US" sz="2900" dirty="0">
                <a:solidFill>
                  <a:srgbClr val="13263D"/>
                </a:solidFill>
                <a:latin typeface="Yu Gothic" pitchFamily="34" charset="0"/>
                <a:ea typeface="Yu Gothic" pitchFamily="34" charset="-122"/>
                <a:cs typeface="Yu Gothic" pitchFamily="34" charset="-120"/>
              </a:rPr>
              <a:t>失う限界利益</a:t>
            </a:r>
            <a:endParaRPr lang="en-US" sz="2900" dirty="0"/>
          </a:p>
          <a:p>
            <a:pPr marL="0" indent="0" algn="ctr">
              <a:buNone/>
            </a:pPr>
            <a:r>
              <a:rPr lang="en-US" sz="2900" dirty="0">
                <a:solidFill>
                  <a:srgbClr val="13263D"/>
                </a:solidFill>
                <a:latin typeface="Yu Gothic" pitchFamily="34" charset="0"/>
                <a:ea typeface="Yu Gothic" pitchFamily="34" charset="-122"/>
                <a:cs typeface="Yu Gothic" pitchFamily="34" charset="-120"/>
              </a:rPr>
              <a:t>＋追加の対応費</a:t>
            </a:r>
            <a:endParaRPr lang="en-US" sz="2900" dirty="0"/>
          </a:p>
          <a:p>
            <a:pPr marL="0" indent="0" algn="ctr">
              <a:buNone/>
            </a:pPr>
            <a:r>
              <a:rPr lang="en-US" sz="2900" dirty="0">
                <a:solidFill>
                  <a:srgbClr val="13263D"/>
                </a:solidFill>
                <a:latin typeface="Yu Gothic" pitchFamily="34" charset="0"/>
                <a:ea typeface="Yu Gothic" pitchFamily="34" charset="-122"/>
                <a:cs typeface="Yu Gothic" pitchFamily="34" charset="-120"/>
              </a:rPr>
              <a:t>－重複・回収の調整</a:t>
            </a:r>
            <a:endParaRPr lang="en-US" sz="2900" dirty="0"/>
          </a:p>
        </p:txBody>
      </p:sp>
      <p:sp>
        <p:nvSpPr>
          <p:cNvPr id="8" name="Text 6"/>
          <p:cNvSpPr/>
          <p:nvPr/>
        </p:nvSpPr>
        <p:spPr>
          <a:xfrm>
            <a:off x="6748272" y="1828800"/>
            <a:ext cx="4800600" cy="548640"/>
          </a:xfrm>
          <a:prstGeom prst="rect">
            <a:avLst/>
          </a:prstGeom>
          <a:noFill/>
          <a:ln/>
        </p:spPr>
        <p:txBody>
          <a:bodyPr wrap="square" lIns="0" tIns="0" rIns="0" bIns="0" rtlCol="0" anchor="ctr"/>
          <a:lstStyle/>
          <a:p>
            <a:pPr marL="0" indent="0" algn="ctr">
              <a:buNone/>
            </a:pPr>
            <a:r>
              <a:rPr lang="en-US" sz="2800" b="1" dirty="0">
                <a:solidFill>
                  <a:srgbClr val="006B68"/>
                </a:solidFill>
                <a:latin typeface="Yu Gothic" pitchFamily="34" charset="0"/>
                <a:ea typeface="Yu Gothic" pitchFamily="34" charset="-122"/>
                <a:cs typeface="Yu Gothic" pitchFamily="34" charset="-120"/>
              </a:rPr>
              <a:t>対策を続ける費用</a:t>
            </a:r>
            <a:endParaRPr lang="en-US" sz="2800" dirty="0"/>
          </a:p>
        </p:txBody>
      </p:sp>
      <p:sp>
        <p:nvSpPr>
          <p:cNvPr id="9" name="Text 7"/>
          <p:cNvSpPr/>
          <p:nvPr/>
        </p:nvSpPr>
        <p:spPr>
          <a:xfrm>
            <a:off x="6839712" y="3017520"/>
            <a:ext cx="4617720" cy="1325880"/>
          </a:xfrm>
          <a:prstGeom prst="rect">
            <a:avLst/>
          </a:prstGeom>
          <a:noFill/>
          <a:ln/>
        </p:spPr>
        <p:txBody>
          <a:bodyPr wrap="square" lIns="0" tIns="0" rIns="0" bIns="0" rtlCol="0" anchor="ctr"/>
          <a:lstStyle/>
          <a:p>
            <a:pPr marL="0" indent="0" algn="ctr">
              <a:buNone/>
            </a:pPr>
            <a:r>
              <a:rPr lang="en-US" sz="2900" dirty="0">
                <a:solidFill>
                  <a:srgbClr val="13263D"/>
                </a:solidFill>
                <a:latin typeface="Yu Gothic" pitchFamily="34" charset="0"/>
                <a:ea typeface="Yu Gothic" pitchFamily="34" charset="-122"/>
                <a:cs typeface="Yu Gothic" pitchFamily="34" charset="-120"/>
              </a:rPr>
              <a:t>初期費用</a:t>
            </a:r>
            <a:endParaRPr lang="en-US" sz="2900" dirty="0"/>
          </a:p>
          <a:p>
            <a:pPr marL="0" indent="0" algn="ctr">
              <a:buNone/>
            </a:pPr>
            <a:r>
              <a:rPr lang="en-US" sz="2900" dirty="0">
                <a:solidFill>
                  <a:srgbClr val="13263D"/>
                </a:solidFill>
                <a:latin typeface="Yu Gothic" pitchFamily="34" charset="0"/>
                <a:ea typeface="Yu Gothic" pitchFamily="34" charset="-122"/>
                <a:cs typeface="Yu Gothic" pitchFamily="34" charset="-120"/>
              </a:rPr>
              <a:t>＋運用費・社内工数</a:t>
            </a:r>
            <a:endParaRPr lang="en-US" sz="2900" dirty="0"/>
          </a:p>
        </p:txBody>
      </p:sp>
      <p:sp>
        <p:nvSpPr>
          <p:cNvPr id="10" name="Shape 8"/>
          <p:cNvSpPr/>
          <p:nvPr/>
        </p:nvSpPr>
        <p:spPr>
          <a:xfrm>
            <a:off x="6099048" y="1874520"/>
            <a:ext cx="0" cy="2697480"/>
          </a:xfrm>
          <a:prstGeom prst="line">
            <a:avLst/>
          </a:prstGeom>
          <a:noFill/>
          <a:ln w="19050">
            <a:solidFill>
              <a:srgbClr val="D4DCE4"/>
            </a:solidFill>
            <a:prstDash val="solid"/>
          </a:ln>
        </p:spPr>
      </p:sp>
      <p:sp>
        <p:nvSpPr>
          <p:cNvPr id="11" name="Shape 9"/>
          <p:cNvSpPr/>
          <p:nvPr/>
        </p:nvSpPr>
        <p:spPr>
          <a:xfrm>
            <a:off x="3017520" y="4892040"/>
            <a:ext cx="0" cy="274320"/>
          </a:xfrm>
          <a:prstGeom prst="line">
            <a:avLst/>
          </a:prstGeom>
          <a:noFill/>
          <a:ln w="19050">
            <a:solidFill>
              <a:srgbClr val="526174"/>
            </a:solidFill>
            <a:prstDash val="solid"/>
          </a:ln>
        </p:spPr>
      </p:sp>
      <p:sp>
        <p:nvSpPr>
          <p:cNvPr id="12" name="Shape 10"/>
          <p:cNvSpPr/>
          <p:nvPr/>
        </p:nvSpPr>
        <p:spPr>
          <a:xfrm>
            <a:off x="9144000" y="4892040"/>
            <a:ext cx="0" cy="274320"/>
          </a:xfrm>
          <a:prstGeom prst="line">
            <a:avLst/>
          </a:prstGeom>
          <a:noFill/>
          <a:ln w="19050">
            <a:solidFill>
              <a:srgbClr val="526174"/>
            </a:solidFill>
            <a:prstDash val="solid"/>
          </a:ln>
        </p:spPr>
      </p:sp>
      <p:sp>
        <p:nvSpPr>
          <p:cNvPr id="13" name="Shape 11"/>
          <p:cNvSpPr/>
          <p:nvPr/>
        </p:nvSpPr>
        <p:spPr>
          <a:xfrm>
            <a:off x="3017520" y="5166360"/>
            <a:ext cx="6126480" cy="0"/>
          </a:xfrm>
          <a:prstGeom prst="line">
            <a:avLst/>
          </a:prstGeom>
          <a:noFill/>
          <a:ln w="19050">
            <a:solidFill>
              <a:srgbClr val="526174"/>
            </a:solidFill>
            <a:prstDash val="solid"/>
          </a:ln>
        </p:spPr>
      </p:sp>
      <p:sp>
        <p:nvSpPr>
          <p:cNvPr id="14" name="Text 12"/>
          <p:cNvSpPr/>
          <p:nvPr/>
        </p:nvSpPr>
        <p:spPr>
          <a:xfrm>
            <a:off x="685800" y="5486400"/>
            <a:ext cx="10789920" cy="548640"/>
          </a:xfrm>
          <a:prstGeom prst="rect">
            <a:avLst/>
          </a:prstGeom>
          <a:noFill/>
          <a:ln/>
        </p:spPr>
        <p:txBody>
          <a:bodyPr wrap="square" lIns="0" tIns="0" rIns="0" bIns="0" rtlCol="0" anchor="ctr"/>
          <a:lstStyle/>
          <a:p>
            <a:pPr marL="0" indent="0" algn="ctr">
              <a:buNone/>
            </a:pPr>
            <a:r>
              <a:rPr lang="en-US" sz="2800" b="1" dirty="0" err="1">
                <a:solidFill>
                  <a:srgbClr val="13263D"/>
                </a:solidFill>
                <a:latin typeface="Yu Gothic" pitchFamily="34" charset="0"/>
                <a:ea typeface="Yu Gothic" pitchFamily="34" charset="-122"/>
                <a:cs typeface="Yu Gothic" pitchFamily="34" charset="-120"/>
              </a:rPr>
              <a:t>自社の業務・見積で</a:t>
            </a:r>
            <a:r>
              <a:rPr lang="ja-JP" altLang="en-US" sz="2800" b="1" dirty="0">
                <a:solidFill>
                  <a:srgbClr val="13263D"/>
                </a:solidFill>
                <a:latin typeface="Yu Gothic" pitchFamily="34" charset="0"/>
                <a:ea typeface="Yu Gothic" pitchFamily="34" charset="-122"/>
                <a:cs typeface="Yu Gothic" pitchFamily="34" charset="-120"/>
              </a:rPr>
              <a:t>検討</a:t>
            </a:r>
            <a:endParaRPr lang="en-US" sz="2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1064240" cy="685800"/>
          </a:xfrm>
          <a:prstGeom prst="rect">
            <a:avLst/>
          </a:prstGeom>
          <a:noFill/>
          <a:ln/>
        </p:spPr>
        <p:txBody>
          <a:bodyPr wrap="square" lIns="0" tIns="0" rIns="0" bIns="0" rtlCol="0" anchor="ctr"/>
          <a:lstStyle/>
          <a:p>
            <a:pPr marL="0" indent="0">
              <a:buNone/>
            </a:pPr>
            <a:r>
              <a:rPr lang="en-US" sz="3100" b="1" dirty="0">
                <a:solidFill>
                  <a:srgbClr val="13263D"/>
                </a:solidFill>
                <a:latin typeface="Yu Gothic" pitchFamily="34" charset="0"/>
                <a:ea typeface="Yu Gothic" pitchFamily="34" charset="-122"/>
                <a:cs typeface="Yu Gothic" pitchFamily="34" charset="-120"/>
              </a:rPr>
              <a:t>投資は、重要業務から段階的に広げる</a:t>
            </a:r>
            <a:endParaRPr lang="en-US" sz="3100" dirty="0"/>
          </a:p>
        </p:txBody>
      </p:sp>
      <p:sp>
        <p:nvSpPr>
          <p:cNvPr id="3" name="Shape 1"/>
          <p:cNvSpPr/>
          <p:nvPr/>
        </p:nvSpPr>
        <p:spPr>
          <a:xfrm>
            <a:off x="548640" y="1325880"/>
            <a:ext cx="11064240" cy="0"/>
          </a:xfrm>
          <a:prstGeom prst="line">
            <a:avLst/>
          </a:prstGeom>
          <a:noFill/>
          <a:ln w="8890">
            <a:solidFill>
              <a:srgbClr val="D4DCE4"/>
            </a:solidFill>
            <a:prstDash val="solid"/>
          </a:ln>
        </p:spPr>
      </p:sp>
      <p:sp>
        <p:nvSpPr>
          <p:cNvPr id="4" name="Text 2"/>
          <p:cNvSpPr/>
          <p:nvPr/>
        </p:nvSpPr>
        <p:spPr>
          <a:xfrm>
            <a:off x="548640" y="6419088"/>
            <a:ext cx="10607040" cy="182880"/>
          </a:xfrm>
          <a:prstGeom prst="rect">
            <a:avLst/>
          </a:prstGeom>
          <a:noFill/>
          <a:ln/>
        </p:spPr>
        <p:txBody>
          <a:bodyPr wrap="square" lIns="0" tIns="0" rIns="0" bIns="0" rtlCol="0" anchor="ctr"/>
          <a:lstStyle/>
          <a:p>
            <a:pPr marL="0" indent="0">
              <a:buNone/>
            </a:pPr>
            <a:r>
              <a:rPr lang="en-US" sz="1000" dirty="0">
                <a:solidFill>
                  <a:srgbClr val="526174"/>
                </a:solidFill>
                <a:latin typeface="Yu Gothic" pitchFamily="34" charset="0"/>
                <a:ea typeface="Yu Gothic" pitchFamily="34" charset="-122"/>
                <a:cs typeface="Yu Gothic" pitchFamily="34" charset="-120"/>
              </a:rPr>
              <a:t>投資の優先順位は提案。自社の現状確認後に確定</a:t>
            </a:r>
            <a:endParaRPr lang="en-US" sz="1000" dirty="0"/>
          </a:p>
        </p:txBody>
      </p:sp>
      <p:sp>
        <p:nvSpPr>
          <p:cNvPr id="5" name="Text 3"/>
          <p:cNvSpPr/>
          <p:nvPr/>
        </p:nvSpPr>
        <p:spPr>
          <a:xfrm>
            <a:off x="11155680" y="6419088"/>
            <a:ext cx="457200" cy="182880"/>
          </a:xfrm>
          <a:prstGeom prst="rect">
            <a:avLst/>
          </a:prstGeom>
          <a:noFill/>
          <a:ln/>
        </p:spPr>
        <p:txBody>
          <a:bodyPr wrap="square" lIns="0" tIns="0" rIns="0" bIns="0" rtlCol="0" anchor="ctr"/>
          <a:lstStyle/>
          <a:p>
            <a:pPr marL="0" indent="0" algn="r">
              <a:buNone/>
            </a:pPr>
            <a:r>
              <a:rPr lang="en-US" sz="1000" dirty="0">
                <a:solidFill>
                  <a:srgbClr val="526174"/>
                </a:solidFill>
                <a:latin typeface="Yu Gothic" pitchFamily="34" charset="0"/>
                <a:ea typeface="Yu Gothic" pitchFamily="34" charset="-122"/>
                <a:cs typeface="Yu Gothic" pitchFamily="34" charset="-120"/>
              </a:rPr>
              <a:t>10</a:t>
            </a:r>
            <a:endParaRPr lang="en-US" sz="1000" dirty="0"/>
          </a:p>
        </p:txBody>
      </p:sp>
      <p:sp>
        <p:nvSpPr>
          <p:cNvPr id="6" name="Shape 4"/>
          <p:cNvSpPr/>
          <p:nvPr/>
        </p:nvSpPr>
        <p:spPr>
          <a:xfrm>
            <a:off x="685800" y="3840480"/>
            <a:ext cx="3108960" cy="1051560"/>
          </a:xfrm>
          <a:prstGeom prst="rect">
            <a:avLst/>
          </a:prstGeom>
          <a:solidFill>
            <a:srgbClr val="EDF3F6"/>
          </a:solidFill>
          <a:ln w="12700">
            <a:solidFill>
              <a:srgbClr val="EDF3F6">
                <a:alpha val="0"/>
              </a:srgbClr>
            </a:solidFill>
            <a:prstDash val="solid"/>
          </a:ln>
        </p:spPr>
      </p:sp>
      <p:sp>
        <p:nvSpPr>
          <p:cNvPr id="7" name="Text 5"/>
          <p:cNvSpPr/>
          <p:nvPr/>
        </p:nvSpPr>
        <p:spPr>
          <a:xfrm>
            <a:off x="822960" y="3977640"/>
            <a:ext cx="2834640" cy="685800"/>
          </a:xfrm>
          <a:prstGeom prst="rect">
            <a:avLst/>
          </a:prstGeom>
          <a:noFill/>
          <a:ln/>
        </p:spPr>
        <p:txBody>
          <a:bodyPr wrap="square" lIns="0" tIns="0" rIns="0" bIns="0" rtlCol="0" anchor="ctr"/>
          <a:lstStyle/>
          <a:p>
            <a:pPr marL="0" indent="0" algn="ctr">
              <a:buNone/>
            </a:pPr>
            <a:r>
              <a:rPr lang="en-US" sz="2900" b="1" dirty="0">
                <a:solidFill>
                  <a:srgbClr val="13263D"/>
                </a:solidFill>
                <a:latin typeface="Yu Gothic" pitchFamily="34" charset="0"/>
                <a:ea typeface="Yu Gothic" pitchFamily="34" charset="-122"/>
                <a:cs typeface="Yu Gothic" pitchFamily="34" charset="-120"/>
              </a:rPr>
              <a:t>緊急是正</a:t>
            </a:r>
            <a:endParaRPr lang="en-US" sz="2900" dirty="0"/>
          </a:p>
        </p:txBody>
      </p:sp>
      <p:sp>
        <p:nvSpPr>
          <p:cNvPr id="8" name="Text 6"/>
          <p:cNvSpPr/>
          <p:nvPr/>
        </p:nvSpPr>
        <p:spPr>
          <a:xfrm>
            <a:off x="685800" y="5138928"/>
            <a:ext cx="3108960" cy="438912"/>
          </a:xfrm>
          <a:prstGeom prst="rect">
            <a:avLst/>
          </a:prstGeom>
          <a:noFill/>
          <a:ln/>
        </p:spPr>
        <p:txBody>
          <a:bodyPr wrap="square" lIns="0" tIns="0" rIns="0" bIns="0" rtlCol="0" anchor="ctr"/>
          <a:lstStyle/>
          <a:p>
            <a:pPr marL="0" indent="0" algn="ctr">
              <a:buNone/>
            </a:pPr>
            <a:r>
              <a:rPr lang="en-US" sz="2100" dirty="0">
                <a:solidFill>
                  <a:srgbClr val="526174"/>
                </a:solidFill>
                <a:latin typeface="Yu Gothic" pitchFamily="34" charset="0"/>
                <a:ea typeface="Yu Gothic" pitchFamily="34" charset="-122"/>
                <a:cs typeface="Yu Gothic" pitchFamily="34" charset="-120"/>
              </a:rPr>
              <a:t>公開資産・認証</a:t>
            </a:r>
            <a:endParaRPr lang="en-US" sz="2100" dirty="0"/>
          </a:p>
        </p:txBody>
      </p:sp>
      <p:sp>
        <p:nvSpPr>
          <p:cNvPr id="10" name="Shape 8"/>
          <p:cNvSpPr/>
          <p:nvPr/>
        </p:nvSpPr>
        <p:spPr>
          <a:xfrm>
            <a:off x="4526280" y="2926080"/>
            <a:ext cx="3108960" cy="1051560"/>
          </a:xfrm>
          <a:prstGeom prst="rect">
            <a:avLst/>
          </a:prstGeom>
          <a:solidFill>
            <a:srgbClr val="E7F2F0"/>
          </a:solidFill>
          <a:ln w="12700">
            <a:solidFill>
              <a:srgbClr val="E7F2F0">
                <a:alpha val="0"/>
              </a:srgbClr>
            </a:solidFill>
            <a:prstDash val="solid"/>
          </a:ln>
        </p:spPr>
      </p:sp>
      <p:sp>
        <p:nvSpPr>
          <p:cNvPr id="11" name="Text 9"/>
          <p:cNvSpPr/>
          <p:nvPr/>
        </p:nvSpPr>
        <p:spPr>
          <a:xfrm>
            <a:off x="4663440" y="3063240"/>
            <a:ext cx="2834640" cy="685800"/>
          </a:xfrm>
          <a:prstGeom prst="rect">
            <a:avLst/>
          </a:prstGeom>
          <a:noFill/>
          <a:ln/>
        </p:spPr>
        <p:txBody>
          <a:bodyPr wrap="square" lIns="0" tIns="0" rIns="0" bIns="0" rtlCol="0" anchor="ctr"/>
          <a:lstStyle/>
          <a:p>
            <a:pPr marL="0" indent="0" algn="ctr">
              <a:buNone/>
            </a:pPr>
            <a:r>
              <a:rPr lang="en-US" sz="2900" b="1" dirty="0">
                <a:solidFill>
                  <a:srgbClr val="006B68"/>
                </a:solidFill>
                <a:latin typeface="Yu Gothic" pitchFamily="34" charset="0"/>
                <a:ea typeface="Yu Gothic" pitchFamily="34" charset="-122"/>
                <a:cs typeface="Yu Gothic" pitchFamily="34" charset="-120"/>
              </a:rPr>
              <a:t>検知・復旧</a:t>
            </a:r>
            <a:endParaRPr lang="en-US" sz="2900" dirty="0"/>
          </a:p>
        </p:txBody>
      </p:sp>
      <p:sp>
        <p:nvSpPr>
          <p:cNvPr id="12" name="Text 10"/>
          <p:cNvSpPr/>
          <p:nvPr/>
        </p:nvSpPr>
        <p:spPr>
          <a:xfrm>
            <a:off x="4526280" y="4224528"/>
            <a:ext cx="3108960" cy="438912"/>
          </a:xfrm>
          <a:prstGeom prst="rect">
            <a:avLst/>
          </a:prstGeom>
          <a:noFill/>
          <a:ln/>
        </p:spPr>
        <p:txBody>
          <a:bodyPr wrap="square" lIns="0" tIns="0" rIns="0" bIns="0" rtlCol="0" anchor="ctr"/>
          <a:lstStyle/>
          <a:p>
            <a:pPr marL="0" indent="0" algn="ctr">
              <a:buNone/>
            </a:pPr>
            <a:r>
              <a:rPr lang="en-US" sz="2100" dirty="0">
                <a:solidFill>
                  <a:srgbClr val="526174"/>
                </a:solidFill>
                <a:latin typeface="Yu Gothic" pitchFamily="34" charset="0"/>
                <a:ea typeface="Yu Gothic" pitchFamily="34" charset="-122"/>
                <a:cs typeface="Yu Gothic" pitchFamily="34" charset="-120"/>
              </a:rPr>
              <a:t>重要業務を対象</a:t>
            </a:r>
            <a:endParaRPr lang="en-US" sz="2100" dirty="0"/>
          </a:p>
        </p:txBody>
      </p:sp>
      <p:sp>
        <p:nvSpPr>
          <p:cNvPr id="14" name="Shape 12"/>
          <p:cNvSpPr/>
          <p:nvPr/>
        </p:nvSpPr>
        <p:spPr>
          <a:xfrm>
            <a:off x="8366760" y="2011680"/>
            <a:ext cx="3108960" cy="1051560"/>
          </a:xfrm>
          <a:prstGeom prst="rect">
            <a:avLst/>
          </a:prstGeom>
          <a:solidFill>
            <a:srgbClr val="EDF3F6"/>
          </a:solidFill>
          <a:ln w="12700">
            <a:solidFill>
              <a:srgbClr val="EDF3F6">
                <a:alpha val="0"/>
              </a:srgbClr>
            </a:solidFill>
            <a:prstDash val="solid"/>
          </a:ln>
        </p:spPr>
      </p:sp>
      <p:sp>
        <p:nvSpPr>
          <p:cNvPr id="15" name="Text 13"/>
          <p:cNvSpPr/>
          <p:nvPr/>
        </p:nvSpPr>
        <p:spPr>
          <a:xfrm>
            <a:off x="8503920" y="2148840"/>
            <a:ext cx="2834640" cy="685800"/>
          </a:xfrm>
          <a:prstGeom prst="rect">
            <a:avLst/>
          </a:prstGeom>
          <a:noFill/>
          <a:ln/>
        </p:spPr>
        <p:txBody>
          <a:bodyPr wrap="square" lIns="0" tIns="0" rIns="0" bIns="0" rtlCol="0" anchor="ctr"/>
          <a:lstStyle/>
          <a:p>
            <a:pPr marL="0" indent="0" algn="ctr">
              <a:buNone/>
            </a:pPr>
            <a:r>
              <a:rPr lang="en-US" sz="2900" b="1" dirty="0">
                <a:solidFill>
                  <a:srgbClr val="13263D"/>
                </a:solidFill>
                <a:latin typeface="Yu Gothic" pitchFamily="34" charset="0"/>
                <a:ea typeface="Yu Gothic" pitchFamily="34" charset="-122"/>
                <a:cs typeface="Yu Gothic" pitchFamily="34" charset="-120"/>
              </a:rPr>
              <a:t>全社へ拡張</a:t>
            </a:r>
            <a:endParaRPr lang="en-US" sz="2900" dirty="0"/>
          </a:p>
        </p:txBody>
      </p:sp>
      <p:sp>
        <p:nvSpPr>
          <p:cNvPr id="16" name="Text 14"/>
          <p:cNvSpPr/>
          <p:nvPr/>
        </p:nvSpPr>
        <p:spPr>
          <a:xfrm>
            <a:off x="8366760" y="3310128"/>
            <a:ext cx="3108960" cy="438912"/>
          </a:xfrm>
          <a:prstGeom prst="rect">
            <a:avLst/>
          </a:prstGeom>
          <a:noFill/>
          <a:ln/>
        </p:spPr>
        <p:txBody>
          <a:bodyPr wrap="square" lIns="0" tIns="0" rIns="0" bIns="0" rtlCol="0" anchor="ctr"/>
          <a:lstStyle/>
          <a:p>
            <a:pPr marL="0" indent="0" algn="ctr">
              <a:buNone/>
            </a:pPr>
            <a:r>
              <a:rPr lang="en-US" sz="2100" dirty="0">
                <a:solidFill>
                  <a:srgbClr val="526174"/>
                </a:solidFill>
                <a:latin typeface="Yu Gothic" pitchFamily="34" charset="0"/>
                <a:ea typeface="Yu Gothic" pitchFamily="34" charset="-122"/>
                <a:cs typeface="Yu Gothic" pitchFamily="34" charset="-120"/>
              </a:rPr>
              <a:t>委託先も含む</a:t>
            </a:r>
            <a:endParaRPr lang="en-US" sz="2100" dirty="0"/>
          </a:p>
        </p:txBody>
      </p:sp>
      <p:cxnSp>
        <p:nvCxnSpPr>
          <p:cNvPr id="17" name="直線コネクタ 16">
            <a:extLst>
              <a:ext uri="{FF2B5EF4-FFF2-40B4-BE49-F238E27FC236}">
                <a16:creationId xmlns:a16="http://schemas.microsoft.com/office/drawing/2014/main" id="{BF54E74F-C0A9-E757-550B-0BAC4643EC90}"/>
              </a:ext>
            </a:extLst>
          </p:cNvPr>
          <p:cNvCxnSpPr/>
          <p:nvPr/>
        </p:nvCxnSpPr>
        <p:spPr>
          <a:xfrm>
            <a:off x="3840480" y="4366260"/>
            <a:ext cx="320040" cy="0"/>
          </a:xfrm>
          <a:prstGeom prst="line">
            <a:avLst/>
          </a:prstGeom>
          <a:ln w="19050">
            <a:solidFill>
              <a:srgbClr val="526174"/>
            </a:solidFill>
          </a:ln>
        </p:spPr>
        <p:style>
          <a:lnRef idx="1">
            <a:schemeClr val="accent1"/>
          </a:lnRef>
          <a:fillRef idx="0">
            <a:schemeClr val="accent1"/>
          </a:fillRef>
          <a:effectRef idx="0">
            <a:schemeClr val="accent1"/>
          </a:effectRef>
          <a:fontRef idx="minor">
            <a:schemeClr val="tx1"/>
          </a:fontRef>
        </p:style>
      </p:cxnSp>
      <p:cxnSp>
        <p:nvCxnSpPr>
          <p:cNvPr id="18" name="直線コネクタ 17">
            <a:extLst>
              <a:ext uri="{FF2B5EF4-FFF2-40B4-BE49-F238E27FC236}">
                <a16:creationId xmlns:a16="http://schemas.microsoft.com/office/drawing/2014/main" id="{010B6355-2B5D-359A-AA3B-B8D13A39DEB8}"/>
              </a:ext>
            </a:extLst>
          </p:cNvPr>
          <p:cNvCxnSpPr/>
          <p:nvPr/>
        </p:nvCxnSpPr>
        <p:spPr>
          <a:xfrm flipV="1">
            <a:off x="4160520" y="3451860"/>
            <a:ext cx="0" cy="914400"/>
          </a:xfrm>
          <a:prstGeom prst="line">
            <a:avLst/>
          </a:prstGeom>
          <a:ln w="19050">
            <a:solidFill>
              <a:srgbClr val="526174"/>
            </a:solidFill>
          </a:ln>
        </p:spPr>
        <p:style>
          <a:lnRef idx="1">
            <a:schemeClr val="accent1"/>
          </a:lnRef>
          <a:fillRef idx="0">
            <a:schemeClr val="accent1"/>
          </a:fillRef>
          <a:effectRef idx="0">
            <a:schemeClr val="accent1"/>
          </a:effectRef>
          <a:fontRef idx="minor">
            <a:schemeClr val="tx1"/>
          </a:fontRef>
        </p:style>
      </p:cxnSp>
      <p:cxnSp>
        <p:nvCxnSpPr>
          <p:cNvPr id="19" name="直線コネクタ 18">
            <a:extLst>
              <a:ext uri="{FF2B5EF4-FFF2-40B4-BE49-F238E27FC236}">
                <a16:creationId xmlns:a16="http://schemas.microsoft.com/office/drawing/2014/main" id="{7926769D-A0E6-16D2-5ADB-E08E6FAE4FA9}"/>
              </a:ext>
            </a:extLst>
          </p:cNvPr>
          <p:cNvCxnSpPr/>
          <p:nvPr/>
        </p:nvCxnSpPr>
        <p:spPr>
          <a:xfrm>
            <a:off x="4160520" y="3451860"/>
            <a:ext cx="320040" cy="0"/>
          </a:xfrm>
          <a:prstGeom prst="line">
            <a:avLst/>
          </a:prstGeom>
          <a:ln w="19050">
            <a:solidFill>
              <a:srgbClr val="526174"/>
            </a:solidFill>
            <a:tailEnd type="triangle"/>
          </a:ln>
        </p:spPr>
        <p:style>
          <a:lnRef idx="1">
            <a:schemeClr val="accent1"/>
          </a:lnRef>
          <a:fillRef idx="0">
            <a:schemeClr val="accent1"/>
          </a:fillRef>
          <a:effectRef idx="0">
            <a:schemeClr val="accent1"/>
          </a:effectRef>
          <a:fontRef idx="minor">
            <a:schemeClr val="tx1"/>
          </a:fontRef>
        </p:style>
      </p:cxnSp>
      <p:cxnSp>
        <p:nvCxnSpPr>
          <p:cNvPr id="20" name="直線コネクタ 19">
            <a:extLst>
              <a:ext uri="{FF2B5EF4-FFF2-40B4-BE49-F238E27FC236}">
                <a16:creationId xmlns:a16="http://schemas.microsoft.com/office/drawing/2014/main" id="{6D29B25A-354F-1CB7-3BB0-A006C7CB535B}"/>
              </a:ext>
            </a:extLst>
          </p:cNvPr>
          <p:cNvCxnSpPr/>
          <p:nvPr/>
        </p:nvCxnSpPr>
        <p:spPr>
          <a:xfrm>
            <a:off x="7680960" y="3451860"/>
            <a:ext cx="320040" cy="0"/>
          </a:xfrm>
          <a:prstGeom prst="line">
            <a:avLst/>
          </a:prstGeom>
          <a:ln w="19050">
            <a:solidFill>
              <a:srgbClr val="526174"/>
            </a:solidFill>
          </a:ln>
        </p:spPr>
        <p:style>
          <a:lnRef idx="1">
            <a:schemeClr val="accent1"/>
          </a:lnRef>
          <a:fillRef idx="0">
            <a:schemeClr val="accent1"/>
          </a:fillRef>
          <a:effectRef idx="0">
            <a:schemeClr val="accent1"/>
          </a:effectRef>
          <a:fontRef idx="minor">
            <a:schemeClr val="tx1"/>
          </a:fontRef>
        </p:style>
      </p:cxnSp>
      <p:cxnSp>
        <p:nvCxnSpPr>
          <p:cNvPr id="21" name="直線コネクタ 20">
            <a:extLst>
              <a:ext uri="{FF2B5EF4-FFF2-40B4-BE49-F238E27FC236}">
                <a16:creationId xmlns:a16="http://schemas.microsoft.com/office/drawing/2014/main" id="{6C21256B-E7E2-D9D9-5702-91C9F804A566}"/>
              </a:ext>
            </a:extLst>
          </p:cNvPr>
          <p:cNvCxnSpPr/>
          <p:nvPr/>
        </p:nvCxnSpPr>
        <p:spPr>
          <a:xfrm flipV="1">
            <a:off x="8001000" y="2537460"/>
            <a:ext cx="0" cy="914400"/>
          </a:xfrm>
          <a:prstGeom prst="line">
            <a:avLst/>
          </a:prstGeom>
          <a:ln w="19050">
            <a:solidFill>
              <a:srgbClr val="526174"/>
            </a:solidFill>
          </a:ln>
        </p:spPr>
        <p:style>
          <a:lnRef idx="1">
            <a:schemeClr val="accent1"/>
          </a:lnRef>
          <a:fillRef idx="0">
            <a:schemeClr val="accent1"/>
          </a:fillRef>
          <a:effectRef idx="0">
            <a:schemeClr val="accent1"/>
          </a:effectRef>
          <a:fontRef idx="minor">
            <a:schemeClr val="tx1"/>
          </a:fontRef>
        </p:style>
      </p:cxnSp>
      <p:cxnSp>
        <p:nvCxnSpPr>
          <p:cNvPr id="22" name="直線コネクタ 21">
            <a:extLst>
              <a:ext uri="{FF2B5EF4-FFF2-40B4-BE49-F238E27FC236}">
                <a16:creationId xmlns:a16="http://schemas.microsoft.com/office/drawing/2014/main" id="{1D6AEB5E-0A6E-7B7E-041F-B1082F2FCAF6}"/>
              </a:ext>
            </a:extLst>
          </p:cNvPr>
          <p:cNvCxnSpPr/>
          <p:nvPr/>
        </p:nvCxnSpPr>
        <p:spPr>
          <a:xfrm>
            <a:off x="8001000" y="2537460"/>
            <a:ext cx="320040" cy="0"/>
          </a:xfrm>
          <a:prstGeom prst="line">
            <a:avLst/>
          </a:prstGeom>
          <a:ln w="19050">
            <a:solidFill>
              <a:srgbClr val="526174"/>
            </a:solidFill>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1064240" cy="685800"/>
          </a:xfrm>
          <a:prstGeom prst="rect">
            <a:avLst/>
          </a:prstGeom>
          <a:noFill/>
          <a:ln/>
        </p:spPr>
        <p:txBody>
          <a:bodyPr wrap="square" lIns="0" tIns="0" rIns="0" bIns="0" rtlCol="0" anchor="ctr"/>
          <a:lstStyle/>
          <a:p>
            <a:pPr marL="0" indent="0">
              <a:buNone/>
            </a:pPr>
            <a:r>
              <a:rPr lang="en-US" sz="3100" b="1" dirty="0">
                <a:solidFill>
                  <a:srgbClr val="13263D"/>
                </a:solidFill>
                <a:latin typeface="Yu Gothic" pitchFamily="34" charset="0"/>
                <a:ea typeface="Yu Gothic" pitchFamily="34" charset="-122"/>
                <a:cs typeface="Yu Gothic" pitchFamily="34" charset="-120"/>
              </a:rPr>
              <a:t>出典 1／4</a:t>
            </a:r>
            <a:endParaRPr lang="en-US" sz="3100" dirty="0"/>
          </a:p>
        </p:txBody>
      </p:sp>
      <p:sp>
        <p:nvSpPr>
          <p:cNvPr id="3" name="Shape 1"/>
          <p:cNvSpPr/>
          <p:nvPr/>
        </p:nvSpPr>
        <p:spPr>
          <a:xfrm>
            <a:off x="548640" y="1325880"/>
            <a:ext cx="11064240" cy="0"/>
          </a:xfrm>
          <a:prstGeom prst="line">
            <a:avLst/>
          </a:prstGeom>
          <a:noFill/>
          <a:ln w="8890">
            <a:solidFill>
              <a:srgbClr val="D4DCE4"/>
            </a:solidFill>
            <a:prstDash val="solid"/>
          </a:ln>
        </p:spPr>
      </p:sp>
      <p:sp>
        <p:nvSpPr>
          <p:cNvPr id="4" name="Text 2"/>
          <p:cNvSpPr/>
          <p:nvPr/>
        </p:nvSpPr>
        <p:spPr>
          <a:xfrm>
            <a:off x="548640" y="6419088"/>
            <a:ext cx="10607040" cy="182880"/>
          </a:xfrm>
          <a:prstGeom prst="rect">
            <a:avLst/>
          </a:prstGeom>
          <a:noFill/>
          <a:ln/>
        </p:spPr>
        <p:txBody>
          <a:bodyPr wrap="square" lIns="0" tIns="0" rIns="0" bIns="0" rtlCol="0" anchor="ctr"/>
          <a:lstStyle/>
          <a:p>
            <a:pPr marL="0" indent="0">
              <a:buNone/>
            </a:pPr>
            <a:r>
              <a:rPr lang="en-US" sz="1000" dirty="0">
                <a:solidFill>
                  <a:srgbClr val="526174"/>
                </a:solidFill>
                <a:latin typeface="Yu Gothic" pitchFamily="34" charset="0"/>
                <a:ea typeface="Yu Gothic" pitchFamily="34" charset="-122"/>
                <a:cs typeface="Yu Gothic" pitchFamily="34" charset="-120"/>
              </a:rPr>
              <a:t>完全URLは該当ページのノートにも記載</a:t>
            </a:r>
            <a:endParaRPr lang="en-US" sz="1000" dirty="0"/>
          </a:p>
        </p:txBody>
      </p:sp>
      <p:sp>
        <p:nvSpPr>
          <p:cNvPr id="5" name="Text 3"/>
          <p:cNvSpPr/>
          <p:nvPr/>
        </p:nvSpPr>
        <p:spPr>
          <a:xfrm>
            <a:off x="11155680" y="6419088"/>
            <a:ext cx="457200" cy="182880"/>
          </a:xfrm>
          <a:prstGeom prst="rect">
            <a:avLst/>
          </a:prstGeom>
          <a:noFill/>
          <a:ln/>
        </p:spPr>
        <p:txBody>
          <a:bodyPr wrap="square" lIns="0" tIns="0" rIns="0" bIns="0" rtlCol="0" anchor="ctr"/>
          <a:lstStyle/>
          <a:p>
            <a:pPr marL="0" indent="0" algn="r">
              <a:buNone/>
            </a:pPr>
            <a:r>
              <a:rPr lang="en-US" sz="1000" dirty="0">
                <a:solidFill>
                  <a:srgbClr val="526174"/>
                </a:solidFill>
                <a:latin typeface="Yu Gothic" pitchFamily="34" charset="0"/>
                <a:ea typeface="Yu Gothic" pitchFamily="34" charset="-122"/>
                <a:cs typeface="Yu Gothic" pitchFamily="34" charset="-120"/>
              </a:rPr>
              <a:t>15</a:t>
            </a:r>
            <a:endParaRPr lang="en-US" sz="1000" dirty="0"/>
          </a:p>
        </p:txBody>
      </p:sp>
      <p:sp>
        <p:nvSpPr>
          <p:cNvPr id="6" name="Text 4"/>
          <p:cNvSpPr/>
          <p:nvPr/>
        </p:nvSpPr>
        <p:spPr>
          <a:xfrm>
            <a:off x="621792" y="1691640"/>
            <a:ext cx="10972800" cy="228600"/>
          </a:xfrm>
          <a:prstGeom prst="rect">
            <a:avLst/>
          </a:prstGeom>
          <a:noFill/>
          <a:ln/>
        </p:spPr>
        <p:txBody>
          <a:bodyPr wrap="square" lIns="0" tIns="0" rIns="0" bIns="0" rtlCol="0" anchor="ctr"/>
          <a:lstStyle/>
          <a:p>
            <a:pPr marL="0" indent="0">
              <a:buNone/>
            </a:pPr>
            <a:r>
              <a:rPr lang="en-US" sz="1300" b="1" dirty="0">
                <a:solidFill>
                  <a:srgbClr val="13263D"/>
                </a:solidFill>
                <a:latin typeface="Yu Gothic" pitchFamily="34" charset="0"/>
                <a:ea typeface="Yu Gothic" pitchFamily="34" charset="-122"/>
                <a:cs typeface="Yu Gothic" pitchFamily="34" charset="-120"/>
              </a:rPr>
              <a:t>S01  警察庁</a:t>
            </a:r>
            <a:endParaRPr lang="en-US" sz="1300" dirty="0"/>
          </a:p>
        </p:txBody>
      </p:sp>
      <p:sp>
        <p:nvSpPr>
          <p:cNvPr id="7" name="Text 5"/>
          <p:cNvSpPr/>
          <p:nvPr/>
        </p:nvSpPr>
        <p:spPr>
          <a:xfrm>
            <a:off x="621792" y="1993392"/>
            <a:ext cx="10972800" cy="301752"/>
          </a:xfrm>
          <a:prstGeom prst="rect">
            <a:avLst/>
          </a:prstGeom>
          <a:noFill/>
          <a:ln/>
        </p:spPr>
        <p:txBody>
          <a:bodyPr wrap="square" lIns="0" tIns="0" rIns="0" bIns="0" rtlCol="0" anchor="ctr"/>
          <a:lstStyle/>
          <a:p>
            <a:pPr marL="0" indent="0">
              <a:buNone/>
            </a:pPr>
            <a:r>
              <a:rPr lang="en-US" sz="1250" b="1" dirty="0">
                <a:solidFill>
                  <a:srgbClr val="13263D"/>
                </a:solidFill>
                <a:latin typeface="Yu Gothic" pitchFamily="34" charset="0"/>
                <a:ea typeface="Yu Gothic" pitchFamily="34" charset="-122"/>
                <a:cs typeface="Yu Gothic" pitchFamily="34" charset="-120"/>
              </a:rPr>
              <a:t>令和8年上半期におけるサイバー空間をめぐる脅威の情勢等について</a:t>
            </a:r>
            <a:endParaRPr lang="en-US" sz="1250" dirty="0"/>
          </a:p>
        </p:txBody>
      </p:sp>
      <p:sp>
        <p:nvSpPr>
          <p:cNvPr id="8" name="Text 6"/>
          <p:cNvSpPr/>
          <p:nvPr/>
        </p:nvSpPr>
        <p:spPr>
          <a:xfrm>
            <a:off x="621792" y="2386584"/>
            <a:ext cx="10972800" cy="210312"/>
          </a:xfrm>
          <a:prstGeom prst="rect">
            <a:avLst/>
          </a:prstGeom>
          <a:noFill/>
          <a:ln/>
        </p:spPr>
        <p:txBody>
          <a:bodyPr wrap="square" lIns="0" tIns="0" rIns="0" bIns="0" rtlCol="0" anchor="ctr"/>
          <a:lstStyle/>
          <a:p>
            <a:pPr marL="0" indent="0">
              <a:buNone/>
            </a:pPr>
            <a:r>
              <a:rPr lang="en-US" sz="1000" dirty="0">
                <a:solidFill>
                  <a:srgbClr val="526174"/>
                </a:solidFill>
                <a:latin typeface="Yu Gothic" pitchFamily="34" charset="0"/>
                <a:ea typeface="Yu Gothic" pitchFamily="34" charset="-122"/>
                <a:cs typeface="Yu Gothic" pitchFamily="34" charset="-120"/>
              </a:rPr>
              <a:t>2026年9月 ／ 本文9頁・図表4（PDF18頁）、本文10頁</a:t>
            </a:r>
            <a:endParaRPr lang="en-US" sz="1000" dirty="0"/>
          </a:p>
        </p:txBody>
      </p:sp>
      <p:sp>
        <p:nvSpPr>
          <p:cNvPr id="9" name="Text 7">
            <a:hlinkClick r:id="rId3"/>
          </p:cNvPr>
          <p:cNvSpPr/>
          <p:nvPr/>
        </p:nvSpPr>
        <p:spPr>
          <a:xfrm>
            <a:off x="621792" y="2624328"/>
            <a:ext cx="10972800" cy="173736"/>
          </a:xfrm>
          <a:prstGeom prst="rect">
            <a:avLst/>
          </a:prstGeom>
          <a:noFill/>
          <a:ln/>
        </p:spPr>
        <p:txBody>
          <a:bodyPr wrap="square" lIns="0" tIns="0" rIns="0" bIns="0" rtlCol="0" anchor="ctr"/>
          <a:lstStyle/>
          <a:p>
            <a:pPr marL="0" indent="0">
              <a:buNone/>
            </a:pPr>
            <a:r>
              <a:rPr lang="en-US" sz="950" u="sng" dirty="0">
                <a:solidFill>
                  <a:srgbClr val="006B68"/>
                </a:solidFill>
                <a:latin typeface="Yu Gothic" pitchFamily="34" charset="0"/>
                <a:ea typeface="Yu Gothic" pitchFamily="34" charset="-122"/>
                <a:cs typeface="Yu Gothic" pitchFamily="34" charset="-120"/>
                <a:hlinkClick r:id="rId3">
                  <a:extLst>
                    <a:ext uri="{A12FA001-AC4F-418D-AE19-62706E023703}">
                      <ahyp:hlinkClr xmlns:ahyp="http://schemas.microsoft.com/office/drawing/2018/hyperlinkcolor" val="tx"/>
                    </a:ext>
                  </a:extLst>
                </a:hlinkClick>
              </a:rPr>
              <a:t>https://www.npa.go.jp/publications/statistics/cybersecurity/data/R8kami/R08_kami_cyber_jousei.pdf</a:t>
            </a:r>
            <a:endParaRPr lang="en-US" sz="950" dirty="0"/>
          </a:p>
        </p:txBody>
      </p:sp>
      <p:sp>
        <p:nvSpPr>
          <p:cNvPr id="10" name="Text 8"/>
          <p:cNvSpPr/>
          <p:nvPr/>
        </p:nvSpPr>
        <p:spPr>
          <a:xfrm>
            <a:off x="621792" y="2816352"/>
            <a:ext cx="10972800" cy="228600"/>
          </a:xfrm>
          <a:prstGeom prst="rect">
            <a:avLst/>
          </a:prstGeom>
          <a:noFill/>
          <a:ln/>
        </p:spPr>
        <p:txBody>
          <a:bodyPr wrap="square" lIns="0" tIns="0" rIns="0" bIns="0" rtlCol="0" anchor="ctr"/>
          <a:lstStyle/>
          <a:p>
            <a:pPr marL="0" indent="0">
              <a:buNone/>
            </a:pPr>
            <a:r>
              <a:rPr lang="en-US" sz="1300" b="1" dirty="0">
                <a:solidFill>
                  <a:srgbClr val="13263D"/>
                </a:solidFill>
                <a:latin typeface="Yu Gothic" pitchFamily="34" charset="0"/>
                <a:ea typeface="Yu Gothic" pitchFamily="34" charset="-122"/>
                <a:cs typeface="Yu Gothic" pitchFamily="34" charset="-120"/>
              </a:rPr>
              <a:t>S02  KADOKAWA</a:t>
            </a:r>
            <a:endParaRPr lang="en-US" sz="1300" dirty="0"/>
          </a:p>
        </p:txBody>
      </p:sp>
      <p:sp>
        <p:nvSpPr>
          <p:cNvPr id="11" name="Text 9"/>
          <p:cNvSpPr/>
          <p:nvPr/>
        </p:nvSpPr>
        <p:spPr>
          <a:xfrm>
            <a:off x="621792" y="3118104"/>
            <a:ext cx="10972800" cy="301752"/>
          </a:xfrm>
          <a:prstGeom prst="rect">
            <a:avLst/>
          </a:prstGeom>
          <a:noFill/>
          <a:ln/>
        </p:spPr>
        <p:txBody>
          <a:bodyPr wrap="square" lIns="0" tIns="0" rIns="0" bIns="0" rtlCol="0" anchor="ctr"/>
          <a:lstStyle/>
          <a:p>
            <a:pPr marL="0" indent="0">
              <a:buNone/>
            </a:pPr>
            <a:r>
              <a:rPr lang="en-US" sz="1250" b="1" dirty="0">
                <a:solidFill>
                  <a:srgbClr val="13263D"/>
                </a:solidFill>
                <a:latin typeface="Yu Gothic" pitchFamily="34" charset="0"/>
                <a:ea typeface="Yu Gothic" pitchFamily="34" charset="-122"/>
                <a:cs typeface="Yu Gothic" pitchFamily="34" charset="-120"/>
              </a:rPr>
              <a:t>2025年3月期 通期決算を発表</a:t>
            </a:r>
            <a:endParaRPr lang="en-US" sz="1250" dirty="0"/>
          </a:p>
        </p:txBody>
      </p:sp>
      <p:sp>
        <p:nvSpPr>
          <p:cNvPr id="12" name="Text 10"/>
          <p:cNvSpPr/>
          <p:nvPr/>
        </p:nvSpPr>
        <p:spPr>
          <a:xfrm>
            <a:off x="621792" y="3511296"/>
            <a:ext cx="10972800" cy="210312"/>
          </a:xfrm>
          <a:prstGeom prst="rect">
            <a:avLst/>
          </a:prstGeom>
          <a:noFill/>
          <a:ln/>
        </p:spPr>
        <p:txBody>
          <a:bodyPr wrap="square" lIns="0" tIns="0" rIns="0" bIns="0" rtlCol="0" anchor="ctr"/>
          <a:lstStyle/>
          <a:p>
            <a:pPr marL="0" indent="0">
              <a:buNone/>
            </a:pPr>
            <a:r>
              <a:rPr lang="en-US" sz="1000" dirty="0">
                <a:solidFill>
                  <a:srgbClr val="526174"/>
                </a:solidFill>
                <a:latin typeface="Yu Gothic" pitchFamily="34" charset="0"/>
                <a:ea typeface="Yu Gothic" pitchFamily="34" charset="-122"/>
                <a:cs typeface="Yu Gothic" pitchFamily="34" charset="-120"/>
              </a:rPr>
              <a:t>2025-05-08 ／ 通期連結決算サマリ・純利益に関する説明</a:t>
            </a:r>
            <a:endParaRPr lang="en-US" sz="1000" dirty="0"/>
          </a:p>
        </p:txBody>
      </p:sp>
      <p:sp>
        <p:nvSpPr>
          <p:cNvPr id="13" name="Text 11">
            <a:hlinkClick r:id="rId4"/>
          </p:cNvPr>
          <p:cNvSpPr/>
          <p:nvPr/>
        </p:nvSpPr>
        <p:spPr>
          <a:xfrm>
            <a:off x="621792" y="3749040"/>
            <a:ext cx="10972800" cy="173736"/>
          </a:xfrm>
          <a:prstGeom prst="rect">
            <a:avLst/>
          </a:prstGeom>
          <a:noFill/>
          <a:ln/>
        </p:spPr>
        <p:txBody>
          <a:bodyPr wrap="square" lIns="0" tIns="0" rIns="0" bIns="0" rtlCol="0" anchor="ctr"/>
          <a:lstStyle/>
          <a:p>
            <a:pPr marL="0" indent="0">
              <a:buNone/>
            </a:pPr>
            <a:r>
              <a:rPr lang="en-US" sz="950" u="sng" dirty="0">
                <a:solidFill>
                  <a:srgbClr val="006B68"/>
                </a:solidFill>
                <a:latin typeface="Yu Gothic" pitchFamily="34" charset="0"/>
                <a:ea typeface="Yu Gothic" pitchFamily="34" charset="-122"/>
                <a:cs typeface="Yu Gothic" pitchFamily="34" charset="-120"/>
                <a:hlinkClick r:id="rId4">
                  <a:extLst>
                    <a:ext uri="{A12FA001-AC4F-418D-AE19-62706E023703}">
                      <ahyp:hlinkClr xmlns:ahyp="http://schemas.microsoft.com/office/drawing/2018/hyperlinkcolor" val="tx"/>
                    </a:ext>
                  </a:extLst>
                </a:hlinkClick>
              </a:rPr>
              <a:t>https://www.kadokawa.co.jp/topics/13832/</a:t>
            </a:r>
            <a:endParaRPr lang="en-US" sz="950" dirty="0"/>
          </a:p>
        </p:txBody>
      </p:sp>
      <p:sp>
        <p:nvSpPr>
          <p:cNvPr id="14" name="Text 12"/>
          <p:cNvSpPr/>
          <p:nvPr/>
        </p:nvSpPr>
        <p:spPr>
          <a:xfrm>
            <a:off x="621792" y="3941064"/>
            <a:ext cx="10972800" cy="228600"/>
          </a:xfrm>
          <a:prstGeom prst="rect">
            <a:avLst/>
          </a:prstGeom>
          <a:noFill/>
          <a:ln/>
        </p:spPr>
        <p:txBody>
          <a:bodyPr wrap="square" lIns="0" tIns="0" rIns="0" bIns="0" rtlCol="0" anchor="ctr"/>
          <a:lstStyle/>
          <a:p>
            <a:pPr marL="0" indent="0">
              <a:buNone/>
            </a:pPr>
            <a:r>
              <a:rPr lang="en-US" sz="1300" b="1" dirty="0">
                <a:solidFill>
                  <a:srgbClr val="13263D"/>
                </a:solidFill>
                <a:latin typeface="Yu Gothic" pitchFamily="34" charset="0"/>
                <a:ea typeface="Yu Gothic" pitchFamily="34" charset="-122"/>
                <a:cs typeface="Yu Gothic" pitchFamily="34" charset="-120"/>
              </a:rPr>
              <a:t>S03  ドワンゴ</a:t>
            </a:r>
            <a:endParaRPr lang="en-US" sz="1300" dirty="0"/>
          </a:p>
        </p:txBody>
      </p:sp>
      <p:sp>
        <p:nvSpPr>
          <p:cNvPr id="15" name="Text 13"/>
          <p:cNvSpPr/>
          <p:nvPr/>
        </p:nvSpPr>
        <p:spPr>
          <a:xfrm>
            <a:off x="621792" y="4242816"/>
            <a:ext cx="10972800" cy="301752"/>
          </a:xfrm>
          <a:prstGeom prst="rect">
            <a:avLst/>
          </a:prstGeom>
          <a:noFill/>
          <a:ln/>
        </p:spPr>
        <p:txBody>
          <a:bodyPr wrap="square" lIns="0" tIns="0" rIns="0" bIns="0" rtlCol="0" anchor="ctr"/>
          <a:lstStyle/>
          <a:p>
            <a:pPr marL="0" indent="0">
              <a:buNone/>
            </a:pPr>
            <a:r>
              <a:rPr lang="en-US" sz="1250" b="1" dirty="0">
                <a:solidFill>
                  <a:srgbClr val="13263D"/>
                </a:solidFill>
                <a:latin typeface="Yu Gothic" pitchFamily="34" charset="0"/>
                <a:ea typeface="Yu Gothic" pitchFamily="34" charset="-122"/>
                <a:cs typeface="Yu Gothic" pitchFamily="34" charset="-120"/>
              </a:rPr>
              <a:t>8月5日15時、ニコニコが再開</a:t>
            </a:r>
            <a:endParaRPr lang="en-US" sz="1250" dirty="0"/>
          </a:p>
        </p:txBody>
      </p:sp>
      <p:sp>
        <p:nvSpPr>
          <p:cNvPr id="16" name="Text 14"/>
          <p:cNvSpPr/>
          <p:nvPr/>
        </p:nvSpPr>
        <p:spPr>
          <a:xfrm>
            <a:off x="621792" y="4636008"/>
            <a:ext cx="10972800" cy="210312"/>
          </a:xfrm>
          <a:prstGeom prst="rect">
            <a:avLst/>
          </a:prstGeom>
          <a:noFill/>
          <a:ln/>
        </p:spPr>
        <p:txBody>
          <a:bodyPr wrap="square" lIns="0" tIns="0" rIns="0" bIns="0" rtlCol="0" anchor="ctr"/>
          <a:lstStyle/>
          <a:p>
            <a:pPr marL="0" indent="0">
              <a:buNone/>
            </a:pPr>
            <a:r>
              <a:rPr lang="en-US" sz="1000" dirty="0">
                <a:solidFill>
                  <a:srgbClr val="526174"/>
                </a:solidFill>
                <a:latin typeface="Yu Gothic" pitchFamily="34" charset="0"/>
                <a:ea typeface="Yu Gothic" pitchFamily="34" charset="-122"/>
                <a:cs typeface="Yu Gothic" pitchFamily="34" charset="-120"/>
              </a:rPr>
              <a:t>2024-08-05 ／ 1頁 冒頭</a:t>
            </a:r>
            <a:endParaRPr lang="en-US" sz="1000" dirty="0"/>
          </a:p>
        </p:txBody>
      </p:sp>
      <p:sp>
        <p:nvSpPr>
          <p:cNvPr id="17" name="Text 15">
            <a:hlinkClick r:id="rId5"/>
          </p:cNvPr>
          <p:cNvSpPr/>
          <p:nvPr/>
        </p:nvSpPr>
        <p:spPr>
          <a:xfrm>
            <a:off x="621792" y="4873752"/>
            <a:ext cx="10972800" cy="173736"/>
          </a:xfrm>
          <a:prstGeom prst="rect">
            <a:avLst/>
          </a:prstGeom>
          <a:noFill/>
          <a:ln/>
        </p:spPr>
        <p:txBody>
          <a:bodyPr wrap="square" lIns="0" tIns="0" rIns="0" bIns="0" rtlCol="0" anchor="ctr"/>
          <a:lstStyle/>
          <a:p>
            <a:pPr marL="0" indent="0">
              <a:buNone/>
            </a:pPr>
            <a:r>
              <a:rPr lang="en-US" sz="950" u="sng" dirty="0">
                <a:solidFill>
                  <a:srgbClr val="006B68"/>
                </a:solidFill>
                <a:latin typeface="Yu Gothic" pitchFamily="34" charset="0"/>
                <a:ea typeface="Yu Gothic" pitchFamily="34" charset="-122"/>
                <a:cs typeface="Yu Gothic" pitchFamily="34" charset="-120"/>
                <a:hlinkClick r:id="rId5">
                  <a:extLst>
                    <a:ext uri="{A12FA001-AC4F-418D-AE19-62706E023703}">
                      <ahyp:hlinkClr xmlns:ahyp="http://schemas.microsoft.com/office/drawing/2018/hyperlinkcolor" val="tx"/>
                    </a:ext>
                  </a:extLst>
                </a:hlinkClick>
              </a:rPr>
              <a:t>https://group.kadokawa.co.jp/information/media-download/1369/7062b6eb47fd83b7/</a:t>
            </a:r>
            <a:endParaRPr lang="en-US" sz="950" dirty="0"/>
          </a:p>
        </p:txBody>
      </p:sp>
      <p:sp>
        <p:nvSpPr>
          <p:cNvPr id="18" name="Text 16"/>
          <p:cNvSpPr/>
          <p:nvPr/>
        </p:nvSpPr>
        <p:spPr>
          <a:xfrm>
            <a:off x="621792" y="5065776"/>
            <a:ext cx="10972800" cy="228600"/>
          </a:xfrm>
          <a:prstGeom prst="rect">
            <a:avLst/>
          </a:prstGeom>
          <a:noFill/>
          <a:ln/>
        </p:spPr>
        <p:txBody>
          <a:bodyPr wrap="square" lIns="0" tIns="0" rIns="0" bIns="0" rtlCol="0" anchor="ctr"/>
          <a:lstStyle/>
          <a:p>
            <a:pPr marL="0" indent="0">
              <a:buNone/>
            </a:pPr>
            <a:r>
              <a:rPr lang="en-US" sz="1300" b="1" dirty="0">
                <a:solidFill>
                  <a:srgbClr val="13263D"/>
                </a:solidFill>
                <a:latin typeface="Yu Gothic" pitchFamily="34" charset="0"/>
                <a:ea typeface="Yu Gothic" pitchFamily="34" charset="-122"/>
                <a:cs typeface="Yu Gothic" pitchFamily="34" charset="-120"/>
              </a:rPr>
              <a:t>S04  ドワンゴ</a:t>
            </a:r>
            <a:endParaRPr lang="en-US" sz="1300" dirty="0"/>
          </a:p>
        </p:txBody>
      </p:sp>
      <p:sp>
        <p:nvSpPr>
          <p:cNvPr id="19" name="Text 17"/>
          <p:cNvSpPr/>
          <p:nvPr/>
        </p:nvSpPr>
        <p:spPr>
          <a:xfrm>
            <a:off x="621792" y="5367528"/>
            <a:ext cx="10972800" cy="301752"/>
          </a:xfrm>
          <a:prstGeom prst="rect">
            <a:avLst/>
          </a:prstGeom>
          <a:noFill/>
          <a:ln/>
        </p:spPr>
        <p:txBody>
          <a:bodyPr wrap="square" lIns="0" tIns="0" rIns="0" bIns="0" rtlCol="0" anchor="ctr"/>
          <a:lstStyle/>
          <a:p>
            <a:pPr marL="0" indent="0">
              <a:buNone/>
            </a:pPr>
            <a:r>
              <a:rPr lang="en-US" sz="1250" b="1" dirty="0">
                <a:solidFill>
                  <a:srgbClr val="13263D"/>
                </a:solidFill>
                <a:latin typeface="Yu Gothic" pitchFamily="34" charset="0"/>
                <a:ea typeface="Yu Gothic" pitchFamily="34" charset="-122"/>
                <a:cs typeface="Yu Gothic" pitchFamily="34" charset="-120"/>
              </a:rPr>
              <a:t>ランサムウェア攻撃による情報漏洩に関するお知らせ</a:t>
            </a:r>
            <a:endParaRPr lang="en-US" sz="1250" dirty="0"/>
          </a:p>
        </p:txBody>
      </p:sp>
      <p:sp>
        <p:nvSpPr>
          <p:cNvPr id="20" name="Text 18"/>
          <p:cNvSpPr/>
          <p:nvPr/>
        </p:nvSpPr>
        <p:spPr>
          <a:xfrm>
            <a:off x="621792" y="5760720"/>
            <a:ext cx="10972800" cy="210312"/>
          </a:xfrm>
          <a:prstGeom prst="rect">
            <a:avLst/>
          </a:prstGeom>
          <a:noFill/>
          <a:ln/>
        </p:spPr>
        <p:txBody>
          <a:bodyPr wrap="square" lIns="0" tIns="0" rIns="0" bIns="0" rtlCol="0" anchor="ctr"/>
          <a:lstStyle/>
          <a:p>
            <a:pPr marL="0" indent="0">
              <a:buNone/>
            </a:pPr>
            <a:r>
              <a:rPr lang="en-US" sz="1000" dirty="0">
                <a:solidFill>
                  <a:srgbClr val="526174"/>
                </a:solidFill>
                <a:latin typeface="Yu Gothic" pitchFamily="34" charset="0"/>
                <a:ea typeface="Yu Gothic" pitchFamily="34" charset="-122"/>
                <a:cs typeface="Yu Gothic" pitchFamily="34" charset="-120"/>
              </a:rPr>
              <a:t>2024-08-05 ／ 1頁 個人情報、2～3頁 原因と対策</a:t>
            </a:r>
            <a:endParaRPr lang="en-US" sz="1000" dirty="0"/>
          </a:p>
        </p:txBody>
      </p:sp>
      <p:sp>
        <p:nvSpPr>
          <p:cNvPr id="21" name="Text 19">
            <a:hlinkClick r:id="rId6"/>
          </p:cNvPr>
          <p:cNvSpPr/>
          <p:nvPr/>
        </p:nvSpPr>
        <p:spPr>
          <a:xfrm>
            <a:off x="621792" y="5998464"/>
            <a:ext cx="10972800" cy="173736"/>
          </a:xfrm>
          <a:prstGeom prst="rect">
            <a:avLst/>
          </a:prstGeom>
          <a:noFill/>
          <a:ln/>
        </p:spPr>
        <p:txBody>
          <a:bodyPr wrap="square" lIns="0" tIns="0" rIns="0" bIns="0" rtlCol="0" anchor="ctr"/>
          <a:lstStyle/>
          <a:p>
            <a:pPr marL="0" indent="0">
              <a:buNone/>
            </a:pPr>
            <a:r>
              <a:rPr lang="en-US" sz="950" u="sng" dirty="0">
                <a:solidFill>
                  <a:srgbClr val="006B68"/>
                </a:solidFill>
                <a:latin typeface="Yu Gothic" pitchFamily="34" charset="0"/>
                <a:ea typeface="Yu Gothic" pitchFamily="34" charset="-122"/>
                <a:cs typeface="Yu Gothic" pitchFamily="34" charset="-120"/>
                <a:hlinkClick r:id="rId6">
                  <a:extLst>
                    <a:ext uri="{A12FA001-AC4F-418D-AE19-62706E023703}">
                      <ahyp:hlinkClr xmlns:ahyp="http://schemas.microsoft.com/office/drawing/2018/hyperlinkcolor" val="tx"/>
                    </a:ext>
                  </a:extLst>
                </a:hlinkClick>
              </a:rPr>
              <a:t>https://group.kadokawa.co.jp/information/media-download/1368/88e61ab4836989de/</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1064240" cy="685800"/>
          </a:xfrm>
          <a:prstGeom prst="rect">
            <a:avLst/>
          </a:prstGeom>
          <a:noFill/>
          <a:ln/>
        </p:spPr>
        <p:txBody>
          <a:bodyPr wrap="square" lIns="0" tIns="0" rIns="0" bIns="0" rtlCol="0" anchor="ctr"/>
          <a:lstStyle/>
          <a:p>
            <a:pPr marL="0" indent="0">
              <a:buNone/>
            </a:pPr>
            <a:r>
              <a:rPr lang="en-US" sz="3100" b="1" dirty="0">
                <a:solidFill>
                  <a:srgbClr val="13263D"/>
                </a:solidFill>
                <a:latin typeface="Yu Gothic" pitchFamily="34" charset="0"/>
                <a:ea typeface="Yu Gothic" pitchFamily="34" charset="-122"/>
                <a:cs typeface="Yu Gothic" pitchFamily="34" charset="-120"/>
              </a:rPr>
              <a:t>出典 2／4</a:t>
            </a:r>
            <a:endParaRPr lang="en-US" sz="3100" dirty="0"/>
          </a:p>
        </p:txBody>
      </p:sp>
      <p:sp>
        <p:nvSpPr>
          <p:cNvPr id="3" name="Shape 1"/>
          <p:cNvSpPr/>
          <p:nvPr/>
        </p:nvSpPr>
        <p:spPr>
          <a:xfrm>
            <a:off x="548640" y="1325880"/>
            <a:ext cx="11064240" cy="0"/>
          </a:xfrm>
          <a:prstGeom prst="line">
            <a:avLst/>
          </a:prstGeom>
          <a:noFill/>
          <a:ln w="8890">
            <a:solidFill>
              <a:srgbClr val="D4DCE4"/>
            </a:solidFill>
            <a:prstDash val="solid"/>
          </a:ln>
        </p:spPr>
      </p:sp>
      <p:sp>
        <p:nvSpPr>
          <p:cNvPr id="4" name="Text 2"/>
          <p:cNvSpPr/>
          <p:nvPr/>
        </p:nvSpPr>
        <p:spPr>
          <a:xfrm>
            <a:off x="548640" y="6419088"/>
            <a:ext cx="10607040" cy="182880"/>
          </a:xfrm>
          <a:prstGeom prst="rect">
            <a:avLst/>
          </a:prstGeom>
          <a:noFill/>
          <a:ln/>
        </p:spPr>
        <p:txBody>
          <a:bodyPr wrap="square" lIns="0" tIns="0" rIns="0" bIns="0" rtlCol="0" anchor="ctr"/>
          <a:lstStyle/>
          <a:p>
            <a:pPr marL="0" indent="0">
              <a:buNone/>
            </a:pPr>
            <a:r>
              <a:rPr lang="en-US" sz="1000" dirty="0">
                <a:solidFill>
                  <a:srgbClr val="526174"/>
                </a:solidFill>
                <a:latin typeface="Yu Gothic" pitchFamily="34" charset="0"/>
                <a:ea typeface="Yu Gothic" pitchFamily="34" charset="-122"/>
                <a:cs typeface="Yu Gothic" pitchFamily="34" charset="-120"/>
              </a:rPr>
              <a:t>完全URLは該当ページのノートにも記載</a:t>
            </a:r>
            <a:endParaRPr lang="en-US" sz="1000" dirty="0"/>
          </a:p>
        </p:txBody>
      </p:sp>
      <p:sp>
        <p:nvSpPr>
          <p:cNvPr id="5" name="Text 3"/>
          <p:cNvSpPr/>
          <p:nvPr/>
        </p:nvSpPr>
        <p:spPr>
          <a:xfrm>
            <a:off x="11155680" y="6419088"/>
            <a:ext cx="457200" cy="182880"/>
          </a:xfrm>
          <a:prstGeom prst="rect">
            <a:avLst/>
          </a:prstGeom>
          <a:noFill/>
          <a:ln/>
        </p:spPr>
        <p:txBody>
          <a:bodyPr wrap="square" lIns="0" tIns="0" rIns="0" bIns="0" rtlCol="0" anchor="ctr"/>
          <a:lstStyle/>
          <a:p>
            <a:pPr marL="0" indent="0" algn="r">
              <a:buNone/>
            </a:pPr>
            <a:r>
              <a:rPr lang="en-US" sz="1000" dirty="0">
                <a:solidFill>
                  <a:srgbClr val="526174"/>
                </a:solidFill>
                <a:latin typeface="Yu Gothic" pitchFamily="34" charset="0"/>
                <a:ea typeface="Yu Gothic" pitchFamily="34" charset="-122"/>
                <a:cs typeface="Yu Gothic" pitchFamily="34" charset="-120"/>
              </a:rPr>
              <a:t>16</a:t>
            </a:r>
            <a:endParaRPr lang="en-US" sz="1000" dirty="0"/>
          </a:p>
        </p:txBody>
      </p:sp>
      <p:sp>
        <p:nvSpPr>
          <p:cNvPr id="6" name="Text 4"/>
          <p:cNvSpPr/>
          <p:nvPr/>
        </p:nvSpPr>
        <p:spPr>
          <a:xfrm>
            <a:off x="621792" y="1691640"/>
            <a:ext cx="10972800" cy="228600"/>
          </a:xfrm>
          <a:prstGeom prst="rect">
            <a:avLst/>
          </a:prstGeom>
          <a:noFill/>
          <a:ln/>
        </p:spPr>
        <p:txBody>
          <a:bodyPr wrap="square" lIns="0" tIns="0" rIns="0" bIns="0" rtlCol="0" anchor="ctr"/>
          <a:lstStyle/>
          <a:p>
            <a:pPr marL="0" indent="0">
              <a:buNone/>
            </a:pPr>
            <a:r>
              <a:rPr lang="en-US" sz="1300" b="1" dirty="0">
                <a:solidFill>
                  <a:srgbClr val="13263D"/>
                </a:solidFill>
                <a:latin typeface="Yu Gothic" pitchFamily="34" charset="0"/>
                <a:ea typeface="Yu Gothic" pitchFamily="34" charset="-122"/>
                <a:cs typeface="Yu Gothic" pitchFamily="34" charset="-120"/>
              </a:rPr>
              <a:t>S05  アスクル</a:t>
            </a:r>
            <a:endParaRPr lang="en-US" sz="1300" dirty="0"/>
          </a:p>
        </p:txBody>
      </p:sp>
      <p:sp>
        <p:nvSpPr>
          <p:cNvPr id="7" name="Text 5"/>
          <p:cNvSpPr/>
          <p:nvPr/>
        </p:nvSpPr>
        <p:spPr>
          <a:xfrm>
            <a:off x="621792" y="1993392"/>
            <a:ext cx="10972800" cy="301752"/>
          </a:xfrm>
          <a:prstGeom prst="rect">
            <a:avLst/>
          </a:prstGeom>
          <a:noFill/>
          <a:ln/>
        </p:spPr>
        <p:txBody>
          <a:bodyPr wrap="square" lIns="0" tIns="0" rIns="0" bIns="0" rtlCol="0" anchor="ctr"/>
          <a:lstStyle/>
          <a:p>
            <a:pPr marL="0" indent="0">
              <a:buNone/>
            </a:pPr>
            <a:r>
              <a:rPr lang="en-US" sz="1250" b="1" dirty="0">
                <a:solidFill>
                  <a:srgbClr val="13263D"/>
                </a:solidFill>
                <a:latin typeface="Yu Gothic" pitchFamily="34" charset="0"/>
                <a:ea typeface="Yu Gothic" pitchFamily="34" charset="-122"/>
                <a:cs typeface="Yu Gothic" pitchFamily="34" charset="-120"/>
              </a:rPr>
              <a:t>ランサムウェア攻撃の影響調査結果および安全性強化に向けた取り組み（第13報）</a:t>
            </a:r>
            <a:endParaRPr lang="en-US" sz="1250" dirty="0"/>
          </a:p>
        </p:txBody>
      </p:sp>
      <p:sp>
        <p:nvSpPr>
          <p:cNvPr id="8" name="Text 6"/>
          <p:cNvSpPr/>
          <p:nvPr/>
        </p:nvSpPr>
        <p:spPr>
          <a:xfrm>
            <a:off x="621792" y="2386584"/>
            <a:ext cx="10972800" cy="210312"/>
          </a:xfrm>
          <a:prstGeom prst="rect">
            <a:avLst/>
          </a:prstGeom>
          <a:noFill/>
          <a:ln/>
        </p:spPr>
        <p:txBody>
          <a:bodyPr wrap="square" lIns="0" tIns="0" rIns="0" bIns="0" rtlCol="0" anchor="ctr"/>
          <a:lstStyle/>
          <a:p>
            <a:pPr marL="0" indent="0">
              <a:buNone/>
            </a:pPr>
            <a:r>
              <a:rPr lang="en-US" sz="1000" dirty="0">
                <a:solidFill>
                  <a:srgbClr val="526174"/>
                </a:solidFill>
                <a:latin typeface="Yu Gothic" pitchFamily="34" charset="0"/>
                <a:ea typeface="Yu Gothic" pitchFamily="34" charset="-122"/>
                <a:cs typeface="Yu Gothic" pitchFamily="34" charset="-120"/>
              </a:rPr>
              <a:t>2025-12-12 ／ 1～2頁 時系列、3～4頁 侵害・原因・再発防止策</a:t>
            </a:r>
            <a:endParaRPr lang="en-US" sz="1000" dirty="0"/>
          </a:p>
        </p:txBody>
      </p:sp>
      <p:sp>
        <p:nvSpPr>
          <p:cNvPr id="9" name="Text 7">
            <a:hlinkClick r:id="rId3"/>
          </p:cNvPr>
          <p:cNvSpPr/>
          <p:nvPr/>
        </p:nvSpPr>
        <p:spPr>
          <a:xfrm>
            <a:off x="621792" y="2624328"/>
            <a:ext cx="10972800" cy="173736"/>
          </a:xfrm>
          <a:prstGeom prst="rect">
            <a:avLst/>
          </a:prstGeom>
          <a:noFill/>
          <a:ln/>
        </p:spPr>
        <p:txBody>
          <a:bodyPr wrap="square" lIns="0" tIns="0" rIns="0" bIns="0" rtlCol="0" anchor="ctr"/>
          <a:lstStyle/>
          <a:p>
            <a:pPr marL="0" indent="0">
              <a:buNone/>
            </a:pPr>
            <a:r>
              <a:rPr lang="en-US" sz="950" u="sng" dirty="0">
                <a:solidFill>
                  <a:srgbClr val="006B68"/>
                </a:solidFill>
                <a:latin typeface="Yu Gothic" pitchFamily="34" charset="0"/>
                <a:ea typeface="Yu Gothic" pitchFamily="34" charset="-122"/>
                <a:cs typeface="Yu Gothic" pitchFamily="34" charset="-120"/>
                <a:hlinkClick r:id="rId3">
                  <a:extLst>
                    <a:ext uri="{A12FA001-AC4F-418D-AE19-62706E023703}">
                      <ahyp:hlinkClr xmlns:ahyp="http://schemas.microsoft.com/office/drawing/2018/hyperlinkcolor" val="tx"/>
                    </a:ext>
                  </a:extLst>
                </a:hlinkClick>
              </a:rPr>
              <a:t>https://pdf.irpocket.com/C0032/PDLX/O3bg/N4O3.pdf</a:t>
            </a:r>
            <a:endParaRPr lang="en-US" sz="950" dirty="0"/>
          </a:p>
        </p:txBody>
      </p:sp>
      <p:sp>
        <p:nvSpPr>
          <p:cNvPr id="10" name="Text 8"/>
          <p:cNvSpPr/>
          <p:nvPr/>
        </p:nvSpPr>
        <p:spPr>
          <a:xfrm>
            <a:off x="621792" y="2816352"/>
            <a:ext cx="10972800" cy="228600"/>
          </a:xfrm>
          <a:prstGeom prst="rect">
            <a:avLst/>
          </a:prstGeom>
          <a:noFill/>
          <a:ln/>
        </p:spPr>
        <p:txBody>
          <a:bodyPr wrap="square" lIns="0" tIns="0" rIns="0" bIns="0" rtlCol="0" anchor="ctr"/>
          <a:lstStyle/>
          <a:p>
            <a:pPr marL="0" indent="0">
              <a:buNone/>
            </a:pPr>
            <a:r>
              <a:rPr lang="en-US" sz="1300" b="1" dirty="0">
                <a:solidFill>
                  <a:srgbClr val="13263D"/>
                </a:solidFill>
                <a:latin typeface="Yu Gothic" pitchFamily="34" charset="0"/>
                <a:ea typeface="Yu Gothic" pitchFamily="34" charset="-122"/>
                <a:cs typeface="Yu Gothic" pitchFamily="34" charset="-120"/>
              </a:rPr>
              <a:t>S06  アスクル</a:t>
            </a:r>
            <a:endParaRPr lang="en-US" sz="1300" dirty="0"/>
          </a:p>
        </p:txBody>
      </p:sp>
      <p:sp>
        <p:nvSpPr>
          <p:cNvPr id="11" name="Text 9"/>
          <p:cNvSpPr/>
          <p:nvPr/>
        </p:nvSpPr>
        <p:spPr>
          <a:xfrm>
            <a:off x="621792" y="3118104"/>
            <a:ext cx="10972800" cy="301752"/>
          </a:xfrm>
          <a:prstGeom prst="rect">
            <a:avLst/>
          </a:prstGeom>
          <a:noFill/>
          <a:ln/>
        </p:spPr>
        <p:txBody>
          <a:bodyPr wrap="square" lIns="0" tIns="0" rIns="0" bIns="0" rtlCol="0" anchor="ctr"/>
          <a:lstStyle/>
          <a:p>
            <a:pPr marL="0" indent="0">
              <a:buNone/>
            </a:pPr>
            <a:r>
              <a:rPr lang="en-US" sz="1250" b="1" dirty="0">
                <a:solidFill>
                  <a:srgbClr val="13263D"/>
                </a:solidFill>
                <a:latin typeface="Yu Gothic" pitchFamily="34" charset="0"/>
                <a:ea typeface="Yu Gothic" pitchFamily="34" charset="-122"/>
                <a:cs typeface="Yu Gothic" pitchFamily="34" charset="-120"/>
              </a:rPr>
              <a:t>サービスの復旧状況について（第18報）</a:t>
            </a:r>
            <a:endParaRPr lang="en-US" sz="1250" dirty="0"/>
          </a:p>
        </p:txBody>
      </p:sp>
      <p:sp>
        <p:nvSpPr>
          <p:cNvPr id="12" name="Text 10"/>
          <p:cNvSpPr/>
          <p:nvPr/>
        </p:nvSpPr>
        <p:spPr>
          <a:xfrm>
            <a:off x="621792" y="3511296"/>
            <a:ext cx="10972800" cy="210312"/>
          </a:xfrm>
          <a:prstGeom prst="rect">
            <a:avLst/>
          </a:prstGeom>
          <a:noFill/>
          <a:ln/>
        </p:spPr>
        <p:txBody>
          <a:bodyPr wrap="square" lIns="0" tIns="0" rIns="0" bIns="0" rtlCol="0" anchor="ctr"/>
          <a:lstStyle/>
          <a:p>
            <a:pPr marL="0" indent="0">
              <a:buNone/>
            </a:pPr>
            <a:r>
              <a:rPr lang="en-US" sz="1000" dirty="0">
                <a:solidFill>
                  <a:srgbClr val="526174"/>
                </a:solidFill>
                <a:latin typeface="Yu Gothic" pitchFamily="34" charset="0"/>
                <a:ea typeface="Yu Gothic" pitchFamily="34" charset="-122"/>
                <a:cs typeface="Yu Gothic" pitchFamily="34" charset="-120"/>
              </a:rPr>
              <a:t>2026-02-13 ／ 1頁 サービスの本格復旧フェーズの進捗</a:t>
            </a:r>
            <a:endParaRPr lang="en-US" sz="1000" dirty="0"/>
          </a:p>
        </p:txBody>
      </p:sp>
      <p:sp>
        <p:nvSpPr>
          <p:cNvPr id="13" name="Text 11">
            <a:hlinkClick r:id="rId4"/>
          </p:cNvPr>
          <p:cNvSpPr/>
          <p:nvPr/>
        </p:nvSpPr>
        <p:spPr>
          <a:xfrm>
            <a:off x="621792" y="3749040"/>
            <a:ext cx="10972800" cy="173736"/>
          </a:xfrm>
          <a:prstGeom prst="rect">
            <a:avLst/>
          </a:prstGeom>
          <a:noFill/>
          <a:ln/>
        </p:spPr>
        <p:txBody>
          <a:bodyPr wrap="square" lIns="0" tIns="0" rIns="0" bIns="0" rtlCol="0" anchor="ctr"/>
          <a:lstStyle/>
          <a:p>
            <a:pPr marL="0" indent="0">
              <a:buNone/>
            </a:pPr>
            <a:r>
              <a:rPr lang="en-US" sz="950" u="sng" dirty="0">
                <a:solidFill>
                  <a:srgbClr val="006B68"/>
                </a:solidFill>
                <a:latin typeface="Yu Gothic" pitchFamily="34" charset="0"/>
                <a:ea typeface="Yu Gothic" pitchFamily="34" charset="-122"/>
                <a:cs typeface="Yu Gothic" pitchFamily="34" charset="-120"/>
                <a:hlinkClick r:id="rId4">
                  <a:extLst>
                    <a:ext uri="{A12FA001-AC4F-418D-AE19-62706E023703}">
                      <ahyp:hlinkClr xmlns:ahyp="http://schemas.microsoft.com/office/drawing/2018/hyperlinkcolor" val="tx"/>
                    </a:ext>
                  </a:extLst>
                </a:hlinkClick>
              </a:rPr>
              <a:t>https://pdf.irpocket.com/C0032/YpwX/YPJ9/h35G.pdf</a:t>
            </a:r>
            <a:endParaRPr lang="en-US" sz="950" dirty="0"/>
          </a:p>
        </p:txBody>
      </p:sp>
      <p:sp>
        <p:nvSpPr>
          <p:cNvPr id="14" name="Text 12"/>
          <p:cNvSpPr/>
          <p:nvPr/>
        </p:nvSpPr>
        <p:spPr>
          <a:xfrm>
            <a:off x="621792" y="3941064"/>
            <a:ext cx="10972800" cy="228600"/>
          </a:xfrm>
          <a:prstGeom prst="rect">
            <a:avLst/>
          </a:prstGeom>
          <a:noFill/>
          <a:ln/>
        </p:spPr>
        <p:txBody>
          <a:bodyPr wrap="square" lIns="0" tIns="0" rIns="0" bIns="0" rtlCol="0" anchor="ctr"/>
          <a:lstStyle/>
          <a:p>
            <a:pPr marL="0" indent="0">
              <a:buNone/>
            </a:pPr>
            <a:r>
              <a:rPr lang="en-US" sz="1300" b="1" dirty="0">
                <a:solidFill>
                  <a:srgbClr val="13263D"/>
                </a:solidFill>
                <a:latin typeface="Yu Gothic" pitchFamily="34" charset="0"/>
                <a:ea typeface="Yu Gothic" pitchFamily="34" charset="-122"/>
                <a:cs typeface="Yu Gothic" pitchFamily="34" charset="-120"/>
              </a:rPr>
              <a:t>S07  アスクル（会社開示PDF、Yahoo!配信）</a:t>
            </a:r>
            <a:endParaRPr lang="en-US" sz="1300" dirty="0"/>
          </a:p>
        </p:txBody>
      </p:sp>
      <p:sp>
        <p:nvSpPr>
          <p:cNvPr id="15" name="Text 13"/>
          <p:cNvSpPr/>
          <p:nvPr/>
        </p:nvSpPr>
        <p:spPr>
          <a:xfrm>
            <a:off x="621792" y="4242816"/>
            <a:ext cx="10972800" cy="301752"/>
          </a:xfrm>
          <a:prstGeom prst="rect">
            <a:avLst/>
          </a:prstGeom>
          <a:noFill/>
          <a:ln/>
        </p:spPr>
        <p:txBody>
          <a:bodyPr wrap="square" lIns="0" tIns="0" rIns="0" bIns="0" rtlCol="0" anchor="ctr"/>
          <a:lstStyle/>
          <a:p>
            <a:pPr marL="0" indent="0">
              <a:buNone/>
            </a:pPr>
            <a:r>
              <a:rPr lang="en-US" sz="1250" b="1" dirty="0">
                <a:solidFill>
                  <a:srgbClr val="13263D"/>
                </a:solidFill>
                <a:latin typeface="Yu Gothic" pitchFamily="34" charset="0"/>
                <a:ea typeface="Yu Gothic" pitchFamily="34" charset="-122"/>
                <a:cs typeface="Yu Gothic" pitchFamily="34" charset="-120"/>
              </a:rPr>
              <a:t>2026年5月期 決算短信〔日本基準〕（連結）</a:t>
            </a:r>
            <a:endParaRPr lang="en-US" sz="1250" dirty="0"/>
          </a:p>
        </p:txBody>
      </p:sp>
      <p:sp>
        <p:nvSpPr>
          <p:cNvPr id="16" name="Text 14"/>
          <p:cNvSpPr/>
          <p:nvPr/>
        </p:nvSpPr>
        <p:spPr>
          <a:xfrm>
            <a:off x="621792" y="4636008"/>
            <a:ext cx="10972800" cy="210312"/>
          </a:xfrm>
          <a:prstGeom prst="rect">
            <a:avLst/>
          </a:prstGeom>
          <a:noFill/>
          <a:ln/>
        </p:spPr>
        <p:txBody>
          <a:bodyPr wrap="square" lIns="0" tIns="0" rIns="0" bIns="0" rtlCol="0" anchor="ctr"/>
          <a:lstStyle/>
          <a:p>
            <a:pPr marL="0" indent="0">
              <a:buNone/>
            </a:pPr>
            <a:r>
              <a:rPr lang="en-US" sz="1000" dirty="0">
                <a:solidFill>
                  <a:srgbClr val="526174"/>
                </a:solidFill>
                <a:latin typeface="Yu Gothic" pitchFamily="34" charset="0"/>
                <a:ea typeface="Yu Gothic" pitchFamily="34" charset="-122"/>
                <a:cs typeface="Yu Gothic" pitchFamily="34" charset="-120"/>
              </a:rPr>
              <a:t>2026-07-03 ／ 添付2頁（PDF4頁）、連結損益計算書、追加情報（PDF16頁）</a:t>
            </a:r>
            <a:endParaRPr lang="en-US" sz="1000" dirty="0"/>
          </a:p>
        </p:txBody>
      </p:sp>
      <p:sp>
        <p:nvSpPr>
          <p:cNvPr id="17" name="Text 15">
            <a:hlinkClick r:id="rId5"/>
          </p:cNvPr>
          <p:cNvSpPr/>
          <p:nvPr/>
        </p:nvSpPr>
        <p:spPr>
          <a:xfrm>
            <a:off x="621792" y="4873752"/>
            <a:ext cx="10972800" cy="173736"/>
          </a:xfrm>
          <a:prstGeom prst="rect">
            <a:avLst/>
          </a:prstGeom>
          <a:noFill/>
          <a:ln/>
        </p:spPr>
        <p:txBody>
          <a:bodyPr wrap="square" lIns="0" tIns="0" rIns="0" bIns="0" rtlCol="0" anchor="ctr"/>
          <a:lstStyle/>
          <a:p>
            <a:pPr marL="0" indent="0">
              <a:buNone/>
            </a:pPr>
            <a:r>
              <a:rPr lang="en-US" sz="950" u="sng" dirty="0">
                <a:solidFill>
                  <a:srgbClr val="006B68"/>
                </a:solidFill>
                <a:latin typeface="Yu Gothic" pitchFamily="34" charset="0"/>
                <a:ea typeface="Yu Gothic" pitchFamily="34" charset="-122"/>
                <a:cs typeface="Yu Gothic" pitchFamily="34" charset="-120"/>
                <a:hlinkClick r:id="rId5">
                  <a:extLst>
                    <a:ext uri="{A12FA001-AC4F-418D-AE19-62706E023703}">
                      <ahyp:hlinkClr xmlns:ahyp="http://schemas.microsoft.com/office/drawing/2018/hyperlinkcolor" val="tx"/>
                    </a:ext>
                  </a:extLst>
                </a:hlinkClick>
              </a:rPr>
              <a:t>https://finance-frontend-pc-dist.west.edge.storage-yahoo.jp/disclosure/20260703/20260703587650.pdf</a:t>
            </a:r>
            <a:endParaRPr lang="en-US" sz="950" dirty="0"/>
          </a:p>
        </p:txBody>
      </p:sp>
      <p:sp>
        <p:nvSpPr>
          <p:cNvPr id="18" name="Text 16"/>
          <p:cNvSpPr/>
          <p:nvPr/>
        </p:nvSpPr>
        <p:spPr>
          <a:xfrm>
            <a:off x="621792" y="5065776"/>
            <a:ext cx="10972800" cy="228600"/>
          </a:xfrm>
          <a:prstGeom prst="rect">
            <a:avLst/>
          </a:prstGeom>
          <a:noFill/>
          <a:ln/>
        </p:spPr>
        <p:txBody>
          <a:bodyPr wrap="square" lIns="0" tIns="0" rIns="0" bIns="0" rtlCol="0" anchor="ctr"/>
          <a:lstStyle/>
          <a:p>
            <a:pPr marL="0" indent="0">
              <a:buNone/>
            </a:pPr>
            <a:r>
              <a:rPr lang="en-US" sz="1300" b="1" dirty="0">
                <a:solidFill>
                  <a:srgbClr val="13263D"/>
                </a:solidFill>
                <a:latin typeface="Yu Gothic" pitchFamily="34" charset="0"/>
                <a:ea typeface="Yu Gothic" pitchFamily="34" charset="-122"/>
                <a:cs typeface="Yu Gothic" pitchFamily="34" charset="-120"/>
              </a:rPr>
              <a:t>S08  アサヒグループHD</a:t>
            </a:r>
            <a:endParaRPr lang="en-US" sz="1300" dirty="0"/>
          </a:p>
        </p:txBody>
      </p:sp>
      <p:sp>
        <p:nvSpPr>
          <p:cNvPr id="19" name="Text 17"/>
          <p:cNvSpPr/>
          <p:nvPr/>
        </p:nvSpPr>
        <p:spPr>
          <a:xfrm>
            <a:off x="621792" y="5367528"/>
            <a:ext cx="10972800" cy="301752"/>
          </a:xfrm>
          <a:prstGeom prst="rect">
            <a:avLst/>
          </a:prstGeom>
          <a:noFill/>
          <a:ln/>
        </p:spPr>
        <p:txBody>
          <a:bodyPr wrap="square" lIns="0" tIns="0" rIns="0" bIns="0" rtlCol="0" anchor="ctr"/>
          <a:lstStyle/>
          <a:p>
            <a:pPr marL="0" indent="0">
              <a:buNone/>
            </a:pPr>
            <a:r>
              <a:rPr lang="en-US" sz="1250" b="1" dirty="0">
                <a:solidFill>
                  <a:srgbClr val="13263D"/>
                </a:solidFill>
                <a:latin typeface="Yu Gothic" pitchFamily="34" charset="0"/>
                <a:ea typeface="Yu Gothic" pitchFamily="34" charset="-122"/>
                <a:cs typeface="Yu Gothic" pitchFamily="34" charset="-120"/>
              </a:rPr>
              <a:t>サイバー攻撃被害の再発防止策とガバナンス体制の強化について</a:t>
            </a:r>
            <a:endParaRPr lang="en-US" sz="1250" dirty="0"/>
          </a:p>
        </p:txBody>
      </p:sp>
      <p:sp>
        <p:nvSpPr>
          <p:cNvPr id="20" name="Text 18"/>
          <p:cNvSpPr/>
          <p:nvPr/>
        </p:nvSpPr>
        <p:spPr>
          <a:xfrm>
            <a:off x="621792" y="5760720"/>
            <a:ext cx="10972800" cy="210312"/>
          </a:xfrm>
          <a:prstGeom prst="rect">
            <a:avLst/>
          </a:prstGeom>
          <a:noFill/>
          <a:ln/>
        </p:spPr>
        <p:txBody>
          <a:bodyPr wrap="square" lIns="0" tIns="0" rIns="0" bIns="0" rtlCol="0" anchor="ctr"/>
          <a:lstStyle/>
          <a:p>
            <a:pPr marL="0" indent="0">
              <a:buNone/>
            </a:pPr>
            <a:r>
              <a:rPr lang="en-US" sz="1000" dirty="0">
                <a:solidFill>
                  <a:srgbClr val="526174"/>
                </a:solidFill>
                <a:latin typeface="Yu Gothic" pitchFamily="34" charset="0"/>
                <a:ea typeface="Yu Gothic" pitchFamily="34" charset="-122"/>
                <a:cs typeface="Yu Gothic" pitchFamily="34" charset="-120"/>
              </a:rPr>
              <a:t>2026-02-18 ／ 1.事案概要、4.事業への影響と復旧状況、6.再発防止策</a:t>
            </a:r>
            <a:endParaRPr lang="en-US" sz="1000" dirty="0"/>
          </a:p>
        </p:txBody>
      </p:sp>
      <p:sp>
        <p:nvSpPr>
          <p:cNvPr id="21" name="Text 19">
            <a:hlinkClick r:id="rId6"/>
          </p:cNvPr>
          <p:cNvSpPr/>
          <p:nvPr/>
        </p:nvSpPr>
        <p:spPr>
          <a:xfrm>
            <a:off x="621792" y="5998464"/>
            <a:ext cx="10972800" cy="173736"/>
          </a:xfrm>
          <a:prstGeom prst="rect">
            <a:avLst/>
          </a:prstGeom>
          <a:noFill/>
          <a:ln/>
        </p:spPr>
        <p:txBody>
          <a:bodyPr wrap="square" lIns="0" tIns="0" rIns="0" bIns="0" rtlCol="0" anchor="ctr"/>
          <a:lstStyle/>
          <a:p>
            <a:pPr marL="0" indent="0">
              <a:buNone/>
            </a:pPr>
            <a:r>
              <a:rPr lang="en-US" sz="950" u="sng" dirty="0">
                <a:solidFill>
                  <a:srgbClr val="006B68"/>
                </a:solidFill>
                <a:latin typeface="Yu Gothic" pitchFamily="34" charset="0"/>
                <a:ea typeface="Yu Gothic" pitchFamily="34" charset="-122"/>
                <a:cs typeface="Yu Gothic" pitchFamily="34" charset="-120"/>
                <a:hlinkClick r:id="rId6">
                  <a:extLst>
                    <a:ext uri="{A12FA001-AC4F-418D-AE19-62706E023703}">
                      <ahyp:hlinkClr xmlns:ahyp="http://schemas.microsoft.com/office/drawing/2018/hyperlinkcolor" val="tx"/>
                    </a:ext>
                  </a:extLst>
                </a:hlinkClick>
              </a:rPr>
              <a:t>https://www.asahigroup-holdings.com/newsroom/detail/20260218-0101.html</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1064240" cy="685800"/>
          </a:xfrm>
          <a:prstGeom prst="rect">
            <a:avLst/>
          </a:prstGeom>
          <a:noFill/>
          <a:ln/>
        </p:spPr>
        <p:txBody>
          <a:bodyPr wrap="square" lIns="0" tIns="0" rIns="0" bIns="0" rtlCol="0" anchor="ctr"/>
          <a:lstStyle/>
          <a:p>
            <a:pPr marL="0" indent="0">
              <a:buNone/>
            </a:pPr>
            <a:r>
              <a:rPr lang="en-US" sz="3100" b="1" dirty="0">
                <a:solidFill>
                  <a:srgbClr val="13263D"/>
                </a:solidFill>
                <a:latin typeface="Yu Gothic" pitchFamily="34" charset="0"/>
                <a:ea typeface="Yu Gothic" pitchFamily="34" charset="-122"/>
                <a:cs typeface="Yu Gothic" pitchFamily="34" charset="-120"/>
              </a:rPr>
              <a:t>出典 3／4</a:t>
            </a:r>
            <a:endParaRPr lang="en-US" sz="3100" dirty="0"/>
          </a:p>
        </p:txBody>
      </p:sp>
      <p:sp>
        <p:nvSpPr>
          <p:cNvPr id="3" name="Shape 1"/>
          <p:cNvSpPr/>
          <p:nvPr/>
        </p:nvSpPr>
        <p:spPr>
          <a:xfrm>
            <a:off x="548640" y="1325880"/>
            <a:ext cx="11064240" cy="0"/>
          </a:xfrm>
          <a:prstGeom prst="line">
            <a:avLst/>
          </a:prstGeom>
          <a:noFill/>
          <a:ln w="8890">
            <a:solidFill>
              <a:srgbClr val="D4DCE4"/>
            </a:solidFill>
            <a:prstDash val="solid"/>
          </a:ln>
        </p:spPr>
      </p:sp>
      <p:sp>
        <p:nvSpPr>
          <p:cNvPr id="4" name="Text 2"/>
          <p:cNvSpPr/>
          <p:nvPr/>
        </p:nvSpPr>
        <p:spPr>
          <a:xfrm>
            <a:off x="548640" y="6419088"/>
            <a:ext cx="10607040" cy="182880"/>
          </a:xfrm>
          <a:prstGeom prst="rect">
            <a:avLst/>
          </a:prstGeom>
          <a:noFill/>
          <a:ln/>
        </p:spPr>
        <p:txBody>
          <a:bodyPr wrap="square" lIns="0" tIns="0" rIns="0" bIns="0" rtlCol="0" anchor="ctr"/>
          <a:lstStyle/>
          <a:p>
            <a:pPr marL="0" indent="0">
              <a:buNone/>
            </a:pPr>
            <a:r>
              <a:rPr lang="en-US" sz="1000" dirty="0">
                <a:solidFill>
                  <a:srgbClr val="526174"/>
                </a:solidFill>
                <a:latin typeface="Yu Gothic" pitchFamily="34" charset="0"/>
                <a:ea typeface="Yu Gothic" pitchFamily="34" charset="-122"/>
                <a:cs typeface="Yu Gothic" pitchFamily="34" charset="-120"/>
              </a:rPr>
              <a:t>完全URLは該当ページのノートにも記載</a:t>
            </a:r>
            <a:endParaRPr lang="en-US" sz="1000" dirty="0"/>
          </a:p>
        </p:txBody>
      </p:sp>
      <p:sp>
        <p:nvSpPr>
          <p:cNvPr id="5" name="Text 3"/>
          <p:cNvSpPr/>
          <p:nvPr/>
        </p:nvSpPr>
        <p:spPr>
          <a:xfrm>
            <a:off x="11155680" y="6419088"/>
            <a:ext cx="457200" cy="182880"/>
          </a:xfrm>
          <a:prstGeom prst="rect">
            <a:avLst/>
          </a:prstGeom>
          <a:noFill/>
          <a:ln/>
        </p:spPr>
        <p:txBody>
          <a:bodyPr wrap="square" lIns="0" tIns="0" rIns="0" bIns="0" rtlCol="0" anchor="ctr"/>
          <a:lstStyle/>
          <a:p>
            <a:pPr marL="0" indent="0" algn="r">
              <a:buNone/>
            </a:pPr>
            <a:r>
              <a:rPr lang="en-US" sz="1000" dirty="0">
                <a:solidFill>
                  <a:srgbClr val="526174"/>
                </a:solidFill>
                <a:latin typeface="Yu Gothic" pitchFamily="34" charset="0"/>
                <a:ea typeface="Yu Gothic" pitchFamily="34" charset="-122"/>
                <a:cs typeface="Yu Gothic" pitchFamily="34" charset="-120"/>
              </a:rPr>
              <a:t>17</a:t>
            </a:r>
            <a:endParaRPr lang="en-US" sz="1000" dirty="0"/>
          </a:p>
        </p:txBody>
      </p:sp>
      <p:sp>
        <p:nvSpPr>
          <p:cNvPr id="6" name="Text 4"/>
          <p:cNvSpPr/>
          <p:nvPr/>
        </p:nvSpPr>
        <p:spPr>
          <a:xfrm>
            <a:off x="621792" y="1691640"/>
            <a:ext cx="10972800" cy="228600"/>
          </a:xfrm>
          <a:prstGeom prst="rect">
            <a:avLst/>
          </a:prstGeom>
          <a:noFill/>
          <a:ln/>
        </p:spPr>
        <p:txBody>
          <a:bodyPr wrap="square" lIns="0" tIns="0" rIns="0" bIns="0" rtlCol="0" anchor="ctr"/>
          <a:lstStyle/>
          <a:p>
            <a:pPr marL="0" indent="0">
              <a:buNone/>
            </a:pPr>
            <a:r>
              <a:rPr lang="en-US" sz="1300" b="1" dirty="0">
                <a:solidFill>
                  <a:srgbClr val="13263D"/>
                </a:solidFill>
                <a:latin typeface="Yu Gothic" pitchFamily="34" charset="0"/>
                <a:ea typeface="Yu Gothic" pitchFamily="34" charset="-122"/>
                <a:cs typeface="Yu Gothic" pitchFamily="34" charset="-120"/>
              </a:rPr>
              <a:t>S09  アサヒグループHD</a:t>
            </a:r>
            <a:endParaRPr lang="en-US" sz="1300" dirty="0"/>
          </a:p>
        </p:txBody>
      </p:sp>
      <p:sp>
        <p:nvSpPr>
          <p:cNvPr id="7" name="Text 5"/>
          <p:cNvSpPr/>
          <p:nvPr/>
        </p:nvSpPr>
        <p:spPr>
          <a:xfrm>
            <a:off x="621792" y="1993392"/>
            <a:ext cx="10972800" cy="301752"/>
          </a:xfrm>
          <a:prstGeom prst="rect">
            <a:avLst/>
          </a:prstGeom>
          <a:noFill/>
          <a:ln/>
        </p:spPr>
        <p:txBody>
          <a:bodyPr wrap="square" lIns="0" tIns="0" rIns="0" bIns="0" rtlCol="0" anchor="ctr"/>
          <a:lstStyle/>
          <a:p>
            <a:pPr marL="0" indent="0">
              <a:buNone/>
            </a:pPr>
            <a:r>
              <a:rPr lang="en-US" sz="1250" b="1" dirty="0">
                <a:solidFill>
                  <a:srgbClr val="13263D"/>
                </a:solidFill>
                <a:latin typeface="Yu Gothic" pitchFamily="34" charset="0"/>
                <a:ea typeface="Yu Gothic" pitchFamily="34" charset="-122"/>
                <a:cs typeface="Yu Gothic" pitchFamily="34" charset="-120"/>
              </a:rPr>
              <a:t>2025年12月期 決算説明会 主な質疑応答</a:t>
            </a:r>
            <a:endParaRPr lang="en-US" sz="1250" dirty="0"/>
          </a:p>
        </p:txBody>
      </p:sp>
      <p:sp>
        <p:nvSpPr>
          <p:cNvPr id="8" name="Text 6"/>
          <p:cNvSpPr/>
          <p:nvPr/>
        </p:nvSpPr>
        <p:spPr>
          <a:xfrm>
            <a:off x="621792" y="2386584"/>
            <a:ext cx="10972800" cy="210312"/>
          </a:xfrm>
          <a:prstGeom prst="rect">
            <a:avLst/>
          </a:prstGeom>
          <a:noFill/>
          <a:ln/>
        </p:spPr>
        <p:txBody>
          <a:bodyPr wrap="square" lIns="0" tIns="0" rIns="0" bIns="0" rtlCol="0" anchor="ctr"/>
          <a:lstStyle/>
          <a:p>
            <a:pPr marL="0" indent="0">
              <a:buNone/>
            </a:pPr>
            <a:r>
              <a:rPr lang="en-US" sz="1000" dirty="0">
                <a:solidFill>
                  <a:srgbClr val="526174"/>
                </a:solidFill>
                <a:latin typeface="Yu Gothic" pitchFamily="34" charset="0"/>
                <a:ea typeface="Yu Gothic" pitchFamily="34" charset="-122"/>
                <a:cs typeface="Yu Gothic" pitchFamily="34" charset="-120"/>
              </a:rPr>
              <a:t>2025年12月期決算説明会資料（2026年公表） ／ Q4 システム障害による日本・東アジアへの業績影響</a:t>
            </a:r>
            <a:endParaRPr lang="en-US" sz="1000" dirty="0"/>
          </a:p>
        </p:txBody>
      </p:sp>
      <p:sp>
        <p:nvSpPr>
          <p:cNvPr id="9" name="Text 7">
            <a:hlinkClick r:id="rId3"/>
          </p:cNvPr>
          <p:cNvSpPr/>
          <p:nvPr/>
        </p:nvSpPr>
        <p:spPr>
          <a:xfrm>
            <a:off x="621792" y="2624328"/>
            <a:ext cx="10972800" cy="173736"/>
          </a:xfrm>
          <a:prstGeom prst="rect">
            <a:avLst/>
          </a:prstGeom>
          <a:noFill/>
          <a:ln/>
        </p:spPr>
        <p:txBody>
          <a:bodyPr wrap="square" lIns="0" tIns="0" rIns="0" bIns="0" rtlCol="0" anchor="ctr"/>
          <a:lstStyle/>
          <a:p>
            <a:pPr marL="0" indent="0">
              <a:buNone/>
            </a:pPr>
            <a:r>
              <a:rPr lang="en-US" sz="950" u="sng" dirty="0">
                <a:solidFill>
                  <a:srgbClr val="006B68"/>
                </a:solidFill>
                <a:latin typeface="Yu Gothic" pitchFamily="34" charset="0"/>
                <a:ea typeface="Yu Gothic" pitchFamily="34" charset="-122"/>
                <a:cs typeface="Yu Gothic" pitchFamily="34" charset="-120"/>
                <a:hlinkClick r:id="rId3">
                  <a:extLst>
                    <a:ext uri="{A12FA001-AC4F-418D-AE19-62706E023703}">
                      <ahyp:hlinkClr xmlns:ahyp="http://schemas.microsoft.com/office/drawing/2018/hyperlinkcolor" val="tx"/>
                    </a:ext>
                  </a:extLst>
                </a:hlinkClick>
              </a:rPr>
              <a:t>https://www.asahigroup-holdings.com/ir/event/presentation/2025/qa_yearend.html</a:t>
            </a:r>
            <a:endParaRPr lang="en-US" sz="950" dirty="0"/>
          </a:p>
        </p:txBody>
      </p:sp>
      <p:sp>
        <p:nvSpPr>
          <p:cNvPr id="10" name="Text 8"/>
          <p:cNvSpPr/>
          <p:nvPr/>
        </p:nvSpPr>
        <p:spPr>
          <a:xfrm>
            <a:off x="621792" y="3118104"/>
            <a:ext cx="10972800" cy="228600"/>
          </a:xfrm>
          <a:prstGeom prst="rect">
            <a:avLst/>
          </a:prstGeom>
          <a:noFill/>
          <a:ln/>
        </p:spPr>
        <p:txBody>
          <a:bodyPr wrap="square" lIns="0" tIns="0" rIns="0" bIns="0" rtlCol="0" anchor="ctr"/>
          <a:lstStyle/>
          <a:p>
            <a:pPr marL="0" indent="0">
              <a:buNone/>
            </a:pPr>
            <a:r>
              <a:rPr lang="en-US" sz="1300" b="1" dirty="0">
                <a:solidFill>
                  <a:srgbClr val="13263D"/>
                </a:solidFill>
                <a:latin typeface="Yu Gothic" pitchFamily="34" charset="0"/>
                <a:ea typeface="Yu Gothic" pitchFamily="34" charset="-122"/>
                <a:cs typeface="Yu Gothic" pitchFamily="34" charset="-120"/>
              </a:rPr>
              <a:t>S10  PHP開発チーム</a:t>
            </a:r>
            <a:endParaRPr lang="en-US" sz="1300" dirty="0"/>
          </a:p>
        </p:txBody>
      </p:sp>
      <p:sp>
        <p:nvSpPr>
          <p:cNvPr id="11" name="Text 9"/>
          <p:cNvSpPr/>
          <p:nvPr/>
        </p:nvSpPr>
        <p:spPr>
          <a:xfrm>
            <a:off x="621792" y="3419856"/>
            <a:ext cx="10972800" cy="301752"/>
          </a:xfrm>
          <a:prstGeom prst="rect">
            <a:avLst/>
          </a:prstGeom>
          <a:noFill/>
          <a:ln/>
        </p:spPr>
        <p:txBody>
          <a:bodyPr wrap="square" lIns="0" tIns="0" rIns="0" bIns="0" rtlCol="0" anchor="ctr"/>
          <a:lstStyle/>
          <a:p>
            <a:pPr marL="0" indent="0">
              <a:buNone/>
            </a:pPr>
            <a:r>
              <a:rPr lang="en-US" sz="1250" b="1" dirty="0">
                <a:solidFill>
                  <a:srgbClr val="13263D"/>
                </a:solidFill>
                <a:latin typeface="Yu Gothic" pitchFamily="34" charset="0"/>
                <a:ea typeface="Yu Gothic" pitchFamily="34" charset="-122"/>
                <a:cs typeface="Yu Gothic" pitchFamily="34" charset="-120"/>
              </a:rPr>
              <a:t>Security advisory: Critical remote code execution vulnerabilities, update now</a:t>
            </a:r>
            <a:endParaRPr lang="en-US" sz="1250" dirty="0"/>
          </a:p>
        </p:txBody>
      </p:sp>
      <p:sp>
        <p:nvSpPr>
          <p:cNvPr id="12" name="Text 10"/>
          <p:cNvSpPr/>
          <p:nvPr/>
        </p:nvSpPr>
        <p:spPr>
          <a:xfrm>
            <a:off x="621792" y="3813048"/>
            <a:ext cx="10972800" cy="210312"/>
          </a:xfrm>
          <a:prstGeom prst="rect">
            <a:avLst/>
          </a:prstGeom>
          <a:noFill/>
          <a:ln/>
        </p:spPr>
        <p:txBody>
          <a:bodyPr wrap="square" lIns="0" tIns="0" rIns="0" bIns="0" rtlCol="0" anchor="ctr"/>
          <a:lstStyle/>
          <a:p>
            <a:pPr marL="0" indent="0">
              <a:buNone/>
            </a:pPr>
            <a:r>
              <a:rPr lang="en-US" sz="1000" dirty="0">
                <a:solidFill>
                  <a:srgbClr val="526174"/>
                </a:solidFill>
                <a:latin typeface="Yu Gothic" pitchFamily="34" charset="0"/>
                <a:ea typeface="Yu Gothic" pitchFamily="34" charset="-122"/>
                <a:cs typeface="Yu Gothic" pitchFamily="34" charset="-120"/>
              </a:rPr>
              <a:t>2026-10-21 ／ 21 Oct 2026 脆弱性・対象・更新案内</a:t>
            </a:r>
            <a:endParaRPr lang="en-US" sz="1000" dirty="0"/>
          </a:p>
        </p:txBody>
      </p:sp>
      <p:sp>
        <p:nvSpPr>
          <p:cNvPr id="13" name="Text 11">
            <a:hlinkClick r:id="rId4"/>
          </p:cNvPr>
          <p:cNvSpPr/>
          <p:nvPr/>
        </p:nvSpPr>
        <p:spPr>
          <a:xfrm>
            <a:off x="621792" y="4050792"/>
            <a:ext cx="10972800" cy="173736"/>
          </a:xfrm>
          <a:prstGeom prst="rect">
            <a:avLst/>
          </a:prstGeom>
          <a:noFill/>
          <a:ln/>
        </p:spPr>
        <p:txBody>
          <a:bodyPr wrap="square" lIns="0" tIns="0" rIns="0" bIns="0" rtlCol="0" anchor="ctr"/>
          <a:lstStyle/>
          <a:p>
            <a:pPr marL="0" indent="0">
              <a:buNone/>
            </a:pPr>
            <a:r>
              <a:rPr lang="en-US" sz="950" u="sng" dirty="0">
                <a:solidFill>
                  <a:srgbClr val="006B68"/>
                </a:solidFill>
                <a:latin typeface="Yu Gothic" pitchFamily="34" charset="0"/>
                <a:ea typeface="Yu Gothic" pitchFamily="34" charset="-122"/>
                <a:cs typeface="Yu Gothic" pitchFamily="34" charset="-120"/>
                <a:hlinkClick r:id="rId4">
                  <a:extLst>
                    <a:ext uri="{A12FA001-AC4F-418D-AE19-62706E023703}">
                      <ahyp:hlinkClr xmlns:ahyp="http://schemas.microsoft.com/office/drawing/2018/hyperlinkcolor" val="tx"/>
                    </a:ext>
                  </a:extLst>
                </a:hlinkClick>
              </a:rPr>
              <a:t>https://www.php.net/archive/2026.php#2026-10-21-5</a:t>
            </a:r>
            <a:endParaRPr lang="en-US" sz="950" dirty="0"/>
          </a:p>
        </p:txBody>
      </p:sp>
      <p:sp>
        <p:nvSpPr>
          <p:cNvPr id="14" name="Text 12"/>
          <p:cNvSpPr/>
          <p:nvPr/>
        </p:nvSpPr>
        <p:spPr>
          <a:xfrm>
            <a:off x="621792" y="4544568"/>
            <a:ext cx="10972800" cy="228600"/>
          </a:xfrm>
          <a:prstGeom prst="rect">
            <a:avLst/>
          </a:prstGeom>
          <a:noFill/>
          <a:ln/>
        </p:spPr>
        <p:txBody>
          <a:bodyPr wrap="square" lIns="0" tIns="0" rIns="0" bIns="0" rtlCol="0" anchor="ctr"/>
          <a:lstStyle/>
          <a:p>
            <a:pPr marL="0" indent="0">
              <a:buNone/>
            </a:pPr>
            <a:r>
              <a:rPr lang="en-US" sz="1300" b="1" dirty="0">
                <a:solidFill>
                  <a:srgbClr val="13263D"/>
                </a:solidFill>
                <a:latin typeface="Yu Gothic" pitchFamily="34" charset="0"/>
                <a:ea typeface="Yu Gothic" pitchFamily="34" charset="-122"/>
                <a:cs typeface="Yu Gothic" pitchFamily="34" charset="-120"/>
              </a:rPr>
              <a:t>S11  php/php-src（開発元）</a:t>
            </a:r>
            <a:endParaRPr lang="en-US" sz="1300" dirty="0"/>
          </a:p>
        </p:txBody>
      </p:sp>
      <p:sp>
        <p:nvSpPr>
          <p:cNvPr id="15" name="Text 13"/>
          <p:cNvSpPr/>
          <p:nvPr/>
        </p:nvSpPr>
        <p:spPr>
          <a:xfrm>
            <a:off x="621792" y="4846320"/>
            <a:ext cx="10972800" cy="301752"/>
          </a:xfrm>
          <a:prstGeom prst="rect">
            <a:avLst/>
          </a:prstGeom>
          <a:noFill/>
          <a:ln/>
        </p:spPr>
        <p:txBody>
          <a:bodyPr wrap="square" lIns="0" tIns="0" rIns="0" bIns="0" rtlCol="0" anchor="ctr"/>
          <a:lstStyle/>
          <a:p>
            <a:pPr marL="0" indent="0">
              <a:buNone/>
            </a:pPr>
            <a:r>
              <a:rPr lang="en-US" sz="1250" b="1" dirty="0">
                <a:solidFill>
                  <a:srgbClr val="13263D"/>
                </a:solidFill>
                <a:latin typeface="Yu Gothic" pitchFamily="34" charset="0"/>
                <a:ea typeface="Yu Gothic" pitchFamily="34" charset="-122"/>
                <a:cs typeface="Yu Gothic" pitchFamily="34" charset="-120"/>
              </a:rPr>
              <a:t>RCE via OOM corruption / GHSA-w8hw-w9fx-j79w</a:t>
            </a:r>
            <a:endParaRPr lang="en-US" sz="1250" dirty="0"/>
          </a:p>
        </p:txBody>
      </p:sp>
      <p:sp>
        <p:nvSpPr>
          <p:cNvPr id="16" name="Text 14"/>
          <p:cNvSpPr/>
          <p:nvPr/>
        </p:nvSpPr>
        <p:spPr>
          <a:xfrm>
            <a:off x="621792" y="5239512"/>
            <a:ext cx="10972800" cy="210312"/>
          </a:xfrm>
          <a:prstGeom prst="rect">
            <a:avLst/>
          </a:prstGeom>
          <a:noFill/>
          <a:ln/>
        </p:spPr>
        <p:txBody>
          <a:bodyPr wrap="square" lIns="0" tIns="0" rIns="0" bIns="0" rtlCol="0" anchor="ctr"/>
          <a:lstStyle/>
          <a:p>
            <a:pPr marL="0" indent="0">
              <a:buNone/>
            </a:pPr>
            <a:r>
              <a:rPr lang="en-US" sz="1000" dirty="0">
                <a:solidFill>
                  <a:srgbClr val="526174"/>
                </a:solidFill>
                <a:latin typeface="Yu Gothic" pitchFamily="34" charset="0"/>
                <a:ea typeface="Yu Gothic" pitchFamily="34" charset="-122"/>
                <a:cs typeface="Yu Gothic" pitchFamily="34" charset="-120"/>
              </a:rPr>
              <a:t>2026-10-21 ／ Affected versions / Summary / Susceptibility / Mitigation</a:t>
            </a:r>
            <a:endParaRPr lang="en-US" sz="1000" dirty="0"/>
          </a:p>
        </p:txBody>
      </p:sp>
      <p:sp>
        <p:nvSpPr>
          <p:cNvPr id="17" name="Text 15">
            <a:hlinkClick r:id="rId5"/>
          </p:cNvPr>
          <p:cNvSpPr/>
          <p:nvPr/>
        </p:nvSpPr>
        <p:spPr>
          <a:xfrm>
            <a:off x="621792" y="5477256"/>
            <a:ext cx="10972800" cy="173736"/>
          </a:xfrm>
          <a:prstGeom prst="rect">
            <a:avLst/>
          </a:prstGeom>
          <a:noFill/>
          <a:ln/>
        </p:spPr>
        <p:txBody>
          <a:bodyPr wrap="square" lIns="0" tIns="0" rIns="0" bIns="0" rtlCol="0" anchor="ctr"/>
          <a:lstStyle/>
          <a:p>
            <a:pPr marL="0" indent="0">
              <a:buNone/>
            </a:pPr>
            <a:r>
              <a:rPr lang="en-US" sz="950" u="sng" dirty="0">
                <a:solidFill>
                  <a:srgbClr val="006B68"/>
                </a:solidFill>
                <a:latin typeface="Yu Gothic" pitchFamily="34" charset="0"/>
                <a:ea typeface="Yu Gothic" pitchFamily="34" charset="-122"/>
                <a:cs typeface="Yu Gothic" pitchFamily="34" charset="-120"/>
                <a:hlinkClick r:id="rId5">
                  <a:extLst>
                    <a:ext uri="{A12FA001-AC4F-418D-AE19-62706E023703}">
                      <ahyp:hlinkClr xmlns:ahyp="http://schemas.microsoft.com/office/drawing/2018/hyperlinkcolor" val="tx"/>
                    </a:ext>
                  </a:extLst>
                </a:hlinkClick>
              </a:rPr>
              <a:t>https://github.com/php/php-src/security/advisories/GHSA-w8hw-w9fx-j79w</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1064240" cy="685800"/>
          </a:xfrm>
          <a:prstGeom prst="rect">
            <a:avLst/>
          </a:prstGeom>
          <a:noFill/>
          <a:ln/>
        </p:spPr>
        <p:txBody>
          <a:bodyPr wrap="square" lIns="0" tIns="0" rIns="0" bIns="0" rtlCol="0" anchor="ctr"/>
          <a:lstStyle/>
          <a:p>
            <a:pPr marL="0" indent="0">
              <a:buNone/>
            </a:pPr>
            <a:r>
              <a:rPr lang="en-US" sz="3100" b="1" dirty="0">
                <a:solidFill>
                  <a:srgbClr val="13263D"/>
                </a:solidFill>
                <a:latin typeface="Yu Gothic" pitchFamily="34" charset="0"/>
                <a:ea typeface="Yu Gothic" pitchFamily="34" charset="-122"/>
                <a:cs typeface="Yu Gothic" pitchFamily="34" charset="-120"/>
              </a:rPr>
              <a:t>出典 4／4</a:t>
            </a:r>
            <a:endParaRPr lang="en-US" sz="3100" dirty="0"/>
          </a:p>
        </p:txBody>
      </p:sp>
      <p:sp>
        <p:nvSpPr>
          <p:cNvPr id="3" name="Shape 1"/>
          <p:cNvSpPr/>
          <p:nvPr/>
        </p:nvSpPr>
        <p:spPr>
          <a:xfrm>
            <a:off x="548640" y="1325880"/>
            <a:ext cx="11064240" cy="0"/>
          </a:xfrm>
          <a:prstGeom prst="line">
            <a:avLst/>
          </a:prstGeom>
          <a:noFill/>
          <a:ln w="8890">
            <a:solidFill>
              <a:srgbClr val="D4DCE4"/>
            </a:solidFill>
            <a:prstDash val="solid"/>
          </a:ln>
        </p:spPr>
      </p:sp>
      <p:sp>
        <p:nvSpPr>
          <p:cNvPr id="4" name="Text 2"/>
          <p:cNvSpPr/>
          <p:nvPr/>
        </p:nvSpPr>
        <p:spPr>
          <a:xfrm>
            <a:off x="548640" y="6419088"/>
            <a:ext cx="10607040" cy="182880"/>
          </a:xfrm>
          <a:prstGeom prst="rect">
            <a:avLst/>
          </a:prstGeom>
          <a:noFill/>
          <a:ln/>
        </p:spPr>
        <p:txBody>
          <a:bodyPr wrap="square" lIns="0" tIns="0" rIns="0" bIns="0" rtlCol="0" anchor="ctr"/>
          <a:lstStyle/>
          <a:p>
            <a:pPr marL="0" indent="0">
              <a:buNone/>
            </a:pPr>
            <a:r>
              <a:rPr lang="en-US" sz="1000" dirty="0">
                <a:solidFill>
                  <a:srgbClr val="526174"/>
                </a:solidFill>
                <a:latin typeface="Yu Gothic" pitchFamily="34" charset="0"/>
                <a:ea typeface="Yu Gothic" pitchFamily="34" charset="-122"/>
                <a:cs typeface="Yu Gothic" pitchFamily="34" charset="-120"/>
              </a:rPr>
              <a:t>完全URLは該当ページのノートにも記載</a:t>
            </a:r>
            <a:endParaRPr lang="en-US" sz="1000" dirty="0"/>
          </a:p>
        </p:txBody>
      </p:sp>
      <p:sp>
        <p:nvSpPr>
          <p:cNvPr id="5" name="Text 3"/>
          <p:cNvSpPr/>
          <p:nvPr/>
        </p:nvSpPr>
        <p:spPr>
          <a:xfrm>
            <a:off x="11155680" y="6419088"/>
            <a:ext cx="457200" cy="182880"/>
          </a:xfrm>
          <a:prstGeom prst="rect">
            <a:avLst/>
          </a:prstGeom>
          <a:noFill/>
          <a:ln/>
        </p:spPr>
        <p:txBody>
          <a:bodyPr wrap="square" lIns="0" tIns="0" rIns="0" bIns="0" rtlCol="0" anchor="ctr"/>
          <a:lstStyle/>
          <a:p>
            <a:pPr marL="0" indent="0" algn="r">
              <a:buNone/>
            </a:pPr>
            <a:r>
              <a:rPr lang="en-US" sz="1000" dirty="0">
                <a:solidFill>
                  <a:srgbClr val="526174"/>
                </a:solidFill>
                <a:latin typeface="Yu Gothic" pitchFamily="34" charset="0"/>
                <a:ea typeface="Yu Gothic" pitchFamily="34" charset="-122"/>
                <a:cs typeface="Yu Gothic" pitchFamily="34" charset="-120"/>
              </a:rPr>
              <a:t>18</a:t>
            </a:r>
            <a:endParaRPr lang="en-US" sz="1000" dirty="0"/>
          </a:p>
        </p:txBody>
      </p:sp>
      <p:sp>
        <p:nvSpPr>
          <p:cNvPr id="6" name="Text 4"/>
          <p:cNvSpPr/>
          <p:nvPr/>
        </p:nvSpPr>
        <p:spPr>
          <a:xfrm>
            <a:off x="621792" y="1691640"/>
            <a:ext cx="10972800" cy="228600"/>
          </a:xfrm>
          <a:prstGeom prst="rect">
            <a:avLst/>
          </a:prstGeom>
          <a:noFill/>
          <a:ln/>
        </p:spPr>
        <p:txBody>
          <a:bodyPr wrap="square" lIns="0" tIns="0" rIns="0" bIns="0" rtlCol="0" anchor="ctr"/>
          <a:lstStyle/>
          <a:p>
            <a:pPr marL="0" indent="0">
              <a:buNone/>
            </a:pPr>
            <a:r>
              <a:rPr lang="en-US" sz="1300" b="1" dirty="0">
                <a:solidFill>
                  <a:srgbClr val="13263D"/>
                </a:solidFill>
                <a:latin typeface="Yu Gothic" pitchFamily="34" charset="0"/>
                <a:ea typeface="Yu Gothic" pitchFamily="34" charset="-122"/>
                <a:cs typeface="Yu Gothic" pitchFamily="34" charset="-120"/>
              </a:rPr>
              <a:t>S12  php/php-src（開発元）</a:t>
            </a:r>
            <a:endParaRPr lang="en-US" sz="1300" dirty="0"/>
          </a:p>
        </p:txBody>
      </p:sp>
      <p:sp>
        <p:nvSpPr>
          <p:cNvPr id="7" name="Text 5"/>
          <p:cNvSpPr/>
          <p:nvPr/>
        </p:nvSpPr>
        <p:spPr>
          <a:xfrm>
            <a:off x="621792" y="1993392"/>
            <a:ext cx="10972800" cy="301752"/>
          </a:xfrm>
          <a:prstGeom prst="rect">
            <a:avLst/>
          </a:prstGeom>
          <a:noFill/>
          <a:ln/>
        </p:spPr>
        <p:txBody>
          <a:bodyPr wrap="square" lIns="0" tIns="0" rIns="0" bIns="0" rtlCol="0" anchor="ctr"/>
          <a:lstStyle/>
          <a:p>
            <a:pPr marL="0" indent="0">
              <a:buNone/>
            </a:pPr>
            <a:r>
              <a:rPr lang="en-US" sz="1250" b="1" dirty="0">
                <a:solidFill>
                  <a:srgbClr val="13263D"/>
                </a:solidFill>
                <a:latin typeface="Yu Gothic" pitchFamily="34" charset="0"/>
                <a:ea typeface="Yu Gothic" pitchFamily="34" charset="-122"/>
                <a:cs typeface="Yu Gothic" pitchFamily="34" charset="-120"/>
              </a:rPr>
              <a:t>RCE via stale global state / GHSA-6wmf-4rv5-p3rp</a:t>
            </a:r>
            <a:endParaRPr lang="en-US" sz="1250" dirty="0"/>
          </a:p>
        </p:txBody>
      </p:sp>
      <p:sp>
        <p:nvSpPr>
          <p:cNvPr id="8" name="Text 6"/>
          <p:cNvSpPr/>
          <p:nvPr/>
        </p:nvSpPr>
        <p:spPr>
          <a:xfrm>
            <a:off x="621792" y="2386584"/>
            <a:ext cx="10972800" cy="210312"/>
          </a:xfrm>
          <a:prstGeom prst="rect">
            <a:avLst/>
          </a:prstGeom>
          <a:noFill/>
          <a:ln/>
        </p:spPr>
        <p:txBody>
          <a:bodyPr wrap="square" lIns="0" tIns="0" rIns="0" bIns="0" rtlCol="0" anchor="ctr"/>
          <a:lstStyle/>
          <a:p>
            <a:pPr marL="0" indent="0">
              <a:buNone/>
            </a:pPr>
            <a:r>
              <a:rPr lang="en-US" sz="1000" dirty="0">
                <a:solidFill>
                  <a:srgbClr val="526174"/>
                </a:solidFill>
                <a:latin typeface="Yu Gothic" pitchFamily="34" charset="0"/>
                <a:ea typeface="Yu Gothic" pitchFamily="34" charset="-122"/>
                <a:cs typeface="Yu Gothic" pitchFamily="34" charset="-120"/>
              </a:rPr>
              <a:t>2026-10-21 ／ Affected versions / Concrete and candidate cases / Impact and reliability</a:t>
            </a:r>
            <a:endParaRPr lang="en-US" sz="1000" dirty="0"/>
          </a:p>
        </p:txBody>
      </p:sp>
      <p:sp>
        <p:nvSpPr>
          <p:cNvPr id="9" name="Text 7">
            <a:hlinkClick r:id="rId3"/>
          </p:cNvPr>
          <p:cNvSpPr/>
          <p:nvPr/>
        </p:nvSpPr>
        <p:spPr>
          <a:xfrm>
            <a:off x="621792" y="2624328"/>
            <a:ext cx="10972800" cy="173736"/>
          </a:xfrm>
          <a:prstGeom prst="rect">
            <a:avLst/>
          </a:prstGeom>
          <a:noFill/>
          <a:ln/>
        </p:spPr>
        <p:txBody>
          <a:bodyPr wrap="square" lIns="0" tIns="0" rIns="0" bIns="0" rtlCol="0" anchor="ctr"/>
          <a:lstStyle/>
          <a:p>
            <a:pPr marL="0" indent="0">
              <a:buNone/>
            </a:pPr>
            <a:r>
              <a:rPr lang="en-US" sz="950" u="sng" dirty="0">
                <a:solidFill>
                  <a:srgbClr val="006B68"/>
                </a:solidFill>
                <a:latin typeface="Yu Gothic" pitchFamily="34" charset="0"/>
                <a:ea typeface="Yu Gothic" pitchFamily="34" charset="-122"/>
                <a:cs typeface="Yu Gothic" pitchFamily="34" charset="-120"/>
                <a:hlinkClick r:id="rId3">
                  <a:extLst>
                    <a:ext uri="{A12FA001-AC4F-418D-AE19-62706E023703}">
                      <ahyp:hlinkClr xmlns:ahyp="http://schemas.microsoft.com/office/drawing/2018/hyperlinkcolor" val="tx"/>
                    </a:ext>
                  </a:extLst>
                </a:hlinkClick>
              </a:rPr>
              <a:t>https://github.com/php/php-src/security/advisories/GHSA-6wmf-4rv5-p3rp</a:t>
            </a:r>
            <a:endParaRPr lang="en-US" sz="950" dirty="0"/>
          </a:p>
        </p:txBody>
      </p:sp>
      <p:sp>
        <p:nvSpPr>
          <p:cNvPr id="10" name="Text 8"/>
          <p:cNvSpPr/>
          <p:nvPr/>
        </p:nvSpPr>
        <p:spPr>
          <a:xfrm>
            <a:off x="621792" y="3118104"/>
            <a:ext cx="10972800" cy="228600"/>
          </a:xfrm>
          <a:prstGeom prst="rect">
            <a:avLst/>
          </a:prstGeom>
          <a:noFill/>
          <a:ln/>
        </p:spPr>
        <p:txBody>
          <a:bodyPr wrap="square" lIns="0" tIns="0" rIns="0" bIns="0" rtlCol="0" anchor="ctr"/>
          <a:lstStyle/>
          <a:p>
            <a:pPr marL="0" indent="0">
              <a:buNone/>
            </a:pPr>
            <a:r>
              <a:rPr lang="en-US" sz="1300" b="1" dirty="0">
                <a:solidFill>
                  <a:srgbClr val="13263D"/>
                </a:solidFill>
                <a:latin typeface="Yu Gothic" pitchFamily="34" charset="0"/>
                <a:ea typeface="Yu Gothic" pitchFamily="34" charset="-122"/>
                <a:cs typeface="Yu Gothic" pitchFamily="34" charset="-120"/>
              </a:rPr>
              <a:t>S13  国家公安委員会・総務省・経済産業省</a:t>
            </a:r>
            <a:endParaRPr lang="en-US" sz="1300" dirty="0"/>
          </a:p>
        </p:txBody>
      </p:sp>
      <p:sp>
        <p:nvSpPr>
          <p:cNvPr id="11" name="Text 9"/>
          <p:cNvSpPr/>
          <p:nvPr/>
        </p:nvSpPr>
        <p:spPr>
          <a:xfrm>
            <a:off x="621792" y="3419856"/>
            <a:ext cx="10972800" cy="301752"/>
          </a:xfrm>
          <a:prstGeom prst="rect">
            <a:avLst/>
          </a:prstGeom>
          <a:noFill/>
          <a:ln/>
        </p:spPr>
        <p:txBody>
          <a:bodyPr wrap="square" lIns="0" tIns="0" rIns="0" bIns="0" rtlCol="0" anchor="ctr"/>
          <a:lstStyle/>
          <a:p>
            <a:pPr marL="0" indent="0">
              <a:buNone/>
            </a:pPr>
            <a:r>
              <a:rPr lang="en-US" sz="1250" b="1" dirty="0">
                <a:solidFill>
                  <a:srgbClr val="13263D"/>
                </a:solidFill>
                <a:latin typeface="Yu Gothic" pitchFamily="34" charset="0"/>
                <a:ea typeface="Yu Gothic" pitchFamily="34" charset="-122"/>
                <a:cs typeface="Yu Gothic" pitchFamily="34" charset="-120"/>
              </a:rPr>
              <a:t>不正アクセス行為の発生状況及びアクセス制御機能に関する技術の研究開発の状況</a:t>
            </a:r>
            <a:endParaRPr lang="en-US" sz="1250" dirty="0"/>
          </a:p>
        </p:txBody>
      </p:sp>
      <p:sp>
        <p:nvSpPr>
          <p:cNvPr id="12" name="Text 10"/>
          <p:cNvSpPr/>
          <p:nvPr/>
        </p:nvSpPr>
        <p:spPr>
          <a:xfrm>
            <a:off x="621792" y="3813048"/>
            <a:ext cx="10972800" cy="210312"/>
          </a:xfrm>
          <a:prstGeom prst="rect">
            <a:avLst/>
          </a:prstGeom>
          <a:noFill/>
          <a:ln/>
        </p:spPr>
        <p:txBody>
          <a:bodyPr wrap="square" lIns="0" tIns="0" rIns="0" bIns="0" rtlCol="0" anchor="ctr"/>
          <a:lstStyle/>
          <a:p>
            <a:pPr marL="0" indent="0">
              <a:buNone/>
            </a:pPr>
            <a:r>
              <a:rPr lang="en-US" sz="1000" dirty="0">
                <a:solidFill>
                  <a:srgbClr val="526174"/>
                </a:solidFill>
                <a:latin typeface="Yu Gothic" pitchFamily="34" charset="0"/>
                <a:ea typeface="Yu Gothic" pitchFamily="34" charset="-122"/>
                <a:cs typeface="Yu Gothic" pitchFamily="34" charset="-120"/>
              </a:rPr>
              <a:t>2026-03-12 ／ 本文1頁 図1-1（PDF2頁）</a:t>
            </a:r>
            <a:endParaRPr lang="en-US" sz="1000" dirty="0"/>
          </a:p>
        </p:txBody>
      </p:sp>
      <p:sp>
        <p:nvSpPr>
          <p:cNvPr id="13" name="Text 11">
            <a:hlinkClick r:id="rId4"/>
          </p:cNvPr>
          <p:cNvSpPr/>
          <p:nvPr/>
        </p:nvSpPr>
        <p:spPr>
          <a:xfrm>
            <a:off x="621792" y="4050792"/>
            <a:ext cx="10972800" cy="173736"/>
          </a:xfrm>
          <a:prstGeom prst="rect">
            <a:avLst/>
          </a:prstGeom>
          <a:noFill/>
          <a:ln/>
        </p:spPr>
        <p:txBody>
          <a:bodyPr wrap="square" lIns="0" tIns="0" rIns="0" bIns="0" rtlCol="0" anchor="ctr"/>
          <a:lstStyle/>
          <a:p>
            <a:pPr marL="0" indent="0">
              <a:buNone/>
            </a:pPr>
            <a:r>
              <a:rPr lang="en-US" sz="950" u="sng" dirty="0">
                <a:solidFill>
                  <a:srgbClr val="006B68"/>
                </a:solidFill>
                <a:latin typeface="Yu Gothic" pitchFamily="34" charset="0"/>
                <a:ea typeface="Yu Gothic" pitchFamily="34" charset="-122"/>
                <a:cs typeface="Yu Gothic" pitchFamily="34" charset="-120"/>
                <a:hlinkClick r:id="rId4">
                  <a:extLst>
                    <a:ext uri="{A12FA001-AC4F-418D-AE19-62706E023703}">
                      <ahyp:hlinkClr xmlns:ahyp="http://schemas.microsoft.com/office/drawing/2018/hyperlinkcolor" val="tx"/>
                    </a:ext>
                  </a:extLst>
                </a:hlinkClick>
              </a:rPr>
              <a:t>https://www.npa.go.jp/bureau/cyber/pdf/R080312_access.pdf</a:t>
            </a:r>
            <a:endParaRPr lang="en-US" sz="950" dirty="0"/>
          </a:p>
        </p:txBody>
      </p:sp>
      <p:sp>
        <p:nvSpPr>
          <p:cNvPr id="14" name="Text 12"/>
          <p:cNvSpPr/>
          <p:nvPr/>
        </p:nvSpPr>
        <p:spPr>
          <a:xfrm>
            <a:off x="621792" y="4544568"/>
            <a:ext cx="10972800" cy="228600"/>
          </a:xfrm>
          <a:prstGeom prst="rect">
            <a:avLst/>
          </a:prstGeom>
          <a:noFill/>
          <a:ln/>
        </p:spPr>
        <p:txBody>
          <a:bodyPr wrap="square" lIns="0" tIns="0" rIns="0" bIns="0" rtlCol="0" anchor="ctr"/>
          <a:lstStyle/>
          <a:p>
            <a:pPr marL="0" indent="0">
              <a:buNone/>
            </a:pPr>
            <a:r>
              <a:rPr lang="en-US" sz="1300" b="1" dirty="0">
                <a:solidFill>
                  <a:srgbClr val="13263D"/>
                </a:solidFill>
                <a:latin typeface="Yu Gothic" pitchFamily="34" charset="0"/>
                <a:ea typeface="Yu Gothic" pitchFamily="34" charset="-122"/>
                <a:cs typeface="Yu Gothic" pitchFamily="34" charset="-120"/>
              </a:rPr>
              <a:t>S14  JPCERT/CC</a:t>
            </a:r>
            <a:endParaRPr lang="en-US" sz="1300" dirty="0"/>
          </a:p>
        </p:txBody>
      </p:sp>
      <p:sp>
        <p:nvSpPr>
          <p:cNvPr id="15" name="Text 13"/>
          <p:cNvSpPr/>
          <p:nvPr/>
        </p:nvSpPr>
        <p:spPr>
          <a:xfrm>
            <a:off x="621792" y="4846320"/>
            <a:ext cx="10972800" cy="301752"/>
          </a:xfrm>
          <a:prstGeom prst="rect">
            <a:avLst/>
          </a:prstGeom>
          <a:noFill/>
          <a:ln/>
        </p:spPr>
        <p:txBody>
          <a:bodyPr wrap="square" lIns="0" tIns="0" rIns="0" bIns="0" rtlCol="0" anchor="ctr"/>
          <a:lstStyle/>
          <a:p>
            <a:pPr marL="0" indent="0">
              <a:buNone/>
            </a:pPr>
            <a:r>
              <a:rPr lang="en-US" sz="1250" b="1" dirty="0">
                <a:solidFill>
                  <a:srgbClr val="13263D"/>
                </a:solidFill>
                <a:latin typeface="Yu Gothic" pitchFamily="34" charset="0"/>
                <a:ea typeface="Yu Gothic" pitchFamily="34" charset="-122"/>
                <a:cs typeface="Yu Gothic" pitchFamily="34" charset="-120"/>
              </a:rPr>
              <a:t>四半期レポート［2026年4月1日～6月30日］</a:t>
            </a:r>
            <a:endParaRPr lang="en-US" sz="1250" dirty="0"/>
          </a:p>
        </p:txBody>
      </p:sp>
      <p:sp>
        <p:nvSpPr>
          <p:cNvPr id="16" name="Text 14"/>
          <p:cNvSpPr/>
          <p:nvPr/>
        </p:nvSpPr>
        <p:spPr>
          <a:xfrm>
            <a:off x="621792" y="5239512"/>
            <a:ext cx="10972800" cy="210312"/>
          </a:xfrm>
          <a:prstGeom prst="rect">
            <a:avLst/>
          </a:prstGeom>
          <a:noFill/>
          <a:ln/>
        </p:spPr>
        <p:txBody>
          <a:bodyPr wrap="square" lIns="0" tIns="0" rIns="0" bIns="0" rtlCol="0" anchor="ctr"/>
          <a:lstStyle/>
          <a:p>
            <a:pPr marL="0" indent="0">
              <a:buNone/>
            </a:pPr>
            <a:r>
              <a:rPr lang="en-US" sz="1000" dirty="0">
                <a:solidFill>
                  <a:srgbClr val="526174"/>
                </a:solidFill>
                <a:latin typeface="Yu Gothic" pitchFamily="34" charset="0"/>
                <a:ea typeface="Yu Gothic" pitchFamily="34" charset="-122"/>
                <a:cs typeface="Yu Gothic" pitchFamily="34" charset="-120"/>
              </a:rPr>
              <a:t>2026-07-16 ／ 本文6頁 表1.1・注2、8頁 表1.2（PDF7・9頁）</a:t>
            </a:r>
            <a:endParaRPr lang="en-US" sz="1000" dirty="0"/>
          </a:p>
        </p:txBody>
      </p:sp>
      <p:sp>
        <p:nvSpPr>
          <p:cNvPr id="17" name="Text 15">
            <a:hlinkClick r:id="rId5"/>
          </p:cNvPr>
          <p:cNvSpPr/>
          <p:nvPr/>
        </p:nvSpPr>
        <p:spPr>
          <a:xfrm>
            <a:off x="621792" y="5477256"/>
            <a:ext cx="10972800" cy="173736"/>
          </a:xfrm>
          <a:prstGeom prst="rect">
            <a:avLst/>
          </a:prstGeom>
          <a:noFill/>
          <a:ln/>
        </p:spPr>
        <p:txBody>
          <a:bodyPr wrap="square" lIns="0" tIns="0" rIns="0" bIns="0" rtlCol="0" anchor="ctr"/>
          <a:lstStyle/>
          <a:p>
            <a:pPr marL="0" indent="0">
              <a:buNone/>
            </a:pPr>
            <a:r>
              <a:rPr lang="en-US" sz="950" u="sng" dirty="0">
                <a:solidFill>
                  <a:srgbClr val="006B68"/>
                </a:solidFill>
                <a:latin typeface="Yu Gothic" pitchFamily="34" charset="0"/>
                <a:ea typeface="Yu Gothic" pitchFamily="34" charset="-122"/>
                <a:cs typeface="Yu Gothic" pitchFamily="34" charset="-120"/>
                <a:hlinkClick r:id="rId5">
                  <a:extLst>
                    <a:ext uri="{A12FA001-AC4F-418D-AE19-62706E023703}">
                      <ahyp:hlinkClr xmlns:ahyp="http://schemas.microsoft.com/office/drawing/2018/hyperlinkcolor" val="tx"/>
                    </a:ext>
                  </a:extLst>
                </a:hlinkClick>
              </a:rPr>
              <a:t>https://www.jpcert.or.jp/qr/2026/QR_FY2026-Q1.pdf</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Yu Gothi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Yu Gothi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TotalTime>
  <Words>5977</Words>
  <Application>Microsoft Office PowerPoint</Application>
  <PresentationFormat>ワイド画面</PresentationFormat>
  <Paragraphs>174</Paragraphs>
  <Slides>12</Slides>
  <Notes>12</Notes>
  <HiddenSlides>0</HiddenSlides>
  <MMClips>0</MMClips>
  <ScaleCrop>false</ScaleCrop>
  <HeadingPairs>
    <vt:vector size="6" baseType="variant">
      <vt:variant>
        <vt:lpstr>使用されているフォント</vt:lpstr>
      </vt:variant>
      <vt:variant>
        <vt:i4>2</vt:i4>
      </vt:variant>
      <vt:variant>
        <vt:lpstr>テーマ</vt:lpstr>
      </vt:variant>
      <vt:variant>
        <vt:i4>1</vt:i4>
      </vt:variant>
      <vt:variant>
        <vt:lpstr>スライド タイトル</vt:lpstr>
      </vt:variant>
      <vt:variant>
        <vt:i4>12</vt:i4>
      </vt:variant>
    </vt:vector>
  </HeadingPairs>
  <TitlesOfParts>
    <vt:vector size="15" baseType="lpstr">
      <vt:lpstr>Yu Gothic</vt:lpstr>
      <vt:lpstr>Arial</vt:lpstr>
      <vt:lpstr>Office Theme</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セキュリティインシデントと経営の備え（図解改訂版）</dc:title>
  <dc:subject>PptxGenJS Presentation</dc:subject>
  <dc:creator>経営会議資料</dc:creator>
  <cp:lastModifiedBy>良基 牛島</cp:lastModifiedBy>
  <cp:revision>4</cp:revision>
  <dcterms:created xsi:type="dcterms:W3CDTF">2026-10-21T21:38:59Z</dcterms:created>
  <dcterms:modified xsi:type="dcterms:W3CDTF">2026-10-21T22:02:41Z</dcterms:modified>
</cp:coreProperties>
</file>